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705" r:id="rId1"/>
  </p:sldMasterIdLst>
  <p:notesMasterIdLst>
    <p:notesMasterId r:id="rId25"/>
  </p:notesMasterIdLst>
  <p:handoutMasterIdLst>
    <p:handoutMasterId r:id="rId26"/>
  </p:handoutMasterIdLst>
  <p:sldIdLst>
    <p:sldId id="262" r:id="rId2"/>
    <p:sldId id="267" r:id="rId3"/>
    <p:sldId id="268" r:id="rId4"/>
    <p:sldId id="263" r:id="rId5"/>
    <p:sldId id="296" r:id="rId6"/>
    <p:sldId id="318" r:id="rId7"/>
    <p:sldId id="319" r:id="rId8"/>
    <p:sldId id="320" r:id="rId9"/>
    <p:sldId id="321" r:id="rId10"/>
    <p:sldId id="322" r:id="rId11"/>
    <p:sldId id="323" r:id="rId12"/>
    <p:sldId id="324" r:id="rId13"/>
    <p:sldId id="307" r:id="rId14"/>
    <p:sldId id="308" r:id="rId15"/>
    <p:sldId id="309" r:id="rId16"/>
    <p:sldId id="310" r:id="rId17"/>
    <p:sldId id="314" r:id="rId18"/>
    <p:sldId id="317" r:id="rId19"/>
    <p:sldId id="311" r:id="rId20"/>
    <p:sldId id="312" r:id="rId21"/>
    <p:sldId id="313" r:id="rId22"/>
    <p:sldId id="315" r:id="rId23"/>
    <p:sldId id="266" r:id="rId24"/>
  </p:sldIdLst>
  <p:sldSz cx="9144000" cy="6858000" type="screen4x3"/>
  <p:notesSz cx="6807200" cy="9939338"/>
  <p:kinsoku lang="ja-JP" invalStChars="、。，．・：；？！゛゜ヽヾゝゞ々ー’”）〕］｝〉》」』】°‰′″℃￠％ぁぃぅぇぉっゃゅょゎァィゥェォッャュョヮヵヶ!%),.:;?]}｡｣､･ｧｨｩｪｫｬｭｮｯｰﾞﾟ" invalEndChars="‘“（〔［｛〈《「『【￥＄$([\{｢￡"/>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3B87605F-6347-4350-B173-1EE1CBAA3787}">
          <p14:sldIdLst>
            <p14:sldId id="262"/>
          </p14:sldIdLst>
        </p14:section>
        <p14:section name="Brand Statement" id="{E9B22BFF-877C-4AA1-9323-19B679BF99B1}">
          <p14:sldIdLst>
            <p14:sldId id="267"/>
            <p14:sldId id="268"/>
          </p14:sldIdLst>
        </p14:section>
        <p14:section name="Table of Contents" id="{0B1E2898-31BC-42F3-A5A5-141726087CC7}">
          <p14:sldIdLst>
            <p14:sldId id="263"/>
          </p14:sldIdLst>
        </p14:section>
        <p14:section name="Body" id="{18FAE958-DF6E-4AAC-835E-E68BDECA82A9}">
          <p14:sldIdLst>
            <p14:sldId id="296"/>
            <p14:sldId id="318"/>
            <p14:sldId id="319"/>
            <p14:sldId id="320"/>
            <p14:sldId id="321"/>
            <p14:sldId id="322"/>
            <p14:sldId id="323"/>
            <p14:sldId id="324"/>
            <p14:sldId id="307"/>
            <p14:sldId id="308"/>
            <p14:sldId id="309"/>
            <p14:sldId id="310"/>
            <p14:sldId id="314"/>
            <p14:sldId id="317"/>
            <p14:sldId id="311"/>
            <p14:sldId id="312"/>
            <p14:sldId id="313"/>
            <p14:sldId id="315"/>
          </p14:sldIdLst>
        </p14:section>
        <p14:section name="Corporate Mark" id="{043BD1DC-881F-4DDA-BE71-3D4C881D9A5E}">
          <p14:sldIdLst>
            <p14:sldId id="266"/>
          </p14:sldIdLst>
        </p14:section>
      </p14:sectionLst>
    </p:ext>
    <p:ext uri="{EFAFB233-063F-42B5-8137-9DF3F51BA10A}">
      <p15:sldGuideLst xmlns:p15="http://schemas.microsoft.com/office/powerpoint/2012/main" xmlns="">
        <p15:guide id="1" orient="horz" pos="527">
          <p15:clr>
            <a:srgbClr val="A4A3A4"/>
          </p15:clr>
        </p15:guide>
        <p15:guide id="2" orient="horz" pos="73">
          <p15:clr>
            <a:srgbClr val="A4A3A4"/>
          </p15:clr>
        </p15:guide>
        <p15:guide id="3" orient="horz" pos="4064">
          <p15:clr>
            <a:srgbClr val="A4A3A4"/>
          </p15:clr>
        </p15:guide>
        <p15:guide id="4" pos="2880">
          <p15:clr>
            <a:srgbClr val="A4A3A4"/>
          </p15:clr>
        </p15:guide>
        <p15:guide id="5" pos="113">
          <p15:clr>
            <a:srgbClr val="A4A3A4"/>
          </p15:clr>
        </p15:guide>
        <p15:guide id="6" pos="5647">
          <p15:clr>
            <a:srgbClr val="A4A3A4"/>
          </p15:clr>
        </p15:guide>
      </p15:sldGuideLst>
    </p:ext>
    <p:ext uri="{2D200454-40CA-4A62-9FC3-DE9A4176ACB9}">
      <p15:notesGuideLst xmlns:p15="http://schemas.microsoft.com/office/powerpoint/2012/main" xmlns="">
        <p15:guide id="1" orient="horz" pos="3130">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7294" autoAdjust="0"/>
    <p:restoredTop sz="91553" autoAdjust="0"/>
  </p:normalViewPr>
  <p:slideViewPr>
    <p:cSldViewPr snapToGrid="0" snapToObjects="1">
      <p:cViewPr varScale="1">
        <p:scale>
          <a:sx n="78" d="100"/>
          <a:sy n="78" d="100"/>
        </p:scale>
        <p:origin x="-342" y="-96"/>
      </p:cViewPr>
      <p:guideLst>
        <p:guide orient="horz" pos="527"/>
        <p:guide orient="horz" pos="73"/>
        <p:guide orient="horz" pos="4064"/>
        <p:guide pos="2880"/>
        <p:guide pos="113"/>
        <p:guide pos="5647"/>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snapToObjects="1">
      <p:cViewPr varScale="1">
        <p:scale>
          <a:sx n="55" d="100"/>
          <a:sy n="55" d="100"/>
        </p:scale>
        <p:origin x="-3054" y="-78"/>
      </p:cViewPr>
      <p:guideLst>
        <p:guide orient="horz" pos="3130"/>
        <p:guide pos="2145"/>
      </p:guideLst>
    </p:cSldViewPr>
  </p:notes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2949787" cy="496967"/>
          </a:xfrm>
          <a:prstGeom prst="rect">
            <a:avLst/>
          </a:prstGeom>
        </p:spPr>
        <p:txBody>
          <a:bodyPr vert="horz" lIns="92221" tIns="46111" rIns="92221" bIns="46111" rtlCol="0"/>
          <a:lstStyle>
            <a:lvl1pPr algn="l">
              <a:defRPr sz="1200"/>
            </a:lvl1pPr>
          </a:lstStyle>
          <a:p>
            <a:endParaRPr kumimoji="1" lang="ja-JP" altLang="en-US" dirty="0">
              <a:ea typeface="メイリオ" panose="020B0604030504040204" pitchFamily="50" charset="-128"/>
            </a:endParaRPr>
          </a:p>
        </p:txBody>
      </p:sp>
      <p:sp>
        <p:nvSpPr>
          <p:cNvPr id="3" name="日付プレースホルダー 2"/>
          <p:cNvSpPr>
            <a:spLocks noGrp="1"/>
          </p:cNvSpPr>
          <p:nvPr>
            <p:ph type="dt" sz="quarter" idx="1"/>
          </p:nvPr>
        </p:nvSpPr>
        <p:spPr>
          <a:xfrm>
            <a:off x="3855839" y="1"/>
            <a:ext cx="2949787" cy="496967"/>
          </a:xfrm>
          <a:prstGeom prst="rect">
            <a:avLst/>
          </a:prstGeom>
        </p:spPr>
        <p:txBody>
          <a:bodyPr vert="horz" lIns="92221" tIns="46111" rIns="92221" bIns="46111" rtlCol="0"/>
          <a:lstStyle>
            <a:lvl1pPr algn="r">
              <a:defRPr sz="1200"/>
            </a:lvl1pPr>
          </a:lstStyle>
          <a:p>
            <a:fld id="{D829EBEE-5DBD-45D0-BA62-80122688BEB8}" type="datetimeFigureOut">
              <a:rPr kumimoji="1" lang="ja-JP" altLang="en-US" smtClean="0">
                <a:ea typeface="メイリオ" panose="020B0604030504040204" pitchFamily="50" charset="-128"/>
              </a:rPr>
              <a:t>2017/6/27</a:t>
            </a:fld>
            <a:endParaRPr kumimoji="1" lang="ja-JP" altLang="en-US" dirty="0">
              <a:ea typeface="メイリオ" panose="020B0604030504040204" pitchFamily="50" charset="-128"/>
            </a:endParaRPr>
          </a:p>
        </p:txBody>
      </p:sp>
      <p:sp>
        <p:nvSpPr>
          <p:cNvPr id="4" name="フッター プレースホルダー 3"/>
          <p:cNvSpPr>
            <a:spLocks noGrp="1"/>
          </p:cNvSpPr>
          <p:nvPr>
            <p:ph type="ftr" sz="quarter" idx="2"/>
          </p:nvPr>
        </p:nvSpPr>
        <p:spPr>
          <a:xfrm>
            <a:off x="2" y="9440647"/>
            <a:ext cx="2949787" cy="496967"/>
          </a:xfrm>
          <a:prstGeom prst="rect">
            <a:avLst/>
          </a:prstGeom>
        </p:spPr>
        <p:txBody>
          <a:bodyPr vert="horz" lIns="92221" tIns="46111" rIns="92221" bIns="46111" rtlCol="0" anchor="b"/>
          <a:lstStyle>
            <a:lvl1pPr algn="l">
              <a:defRPr sz="1200"/>
            </a:lvl1pPr>
          </a:lstStyle>
          <a:p>
            <a:endParaRPr kumimoji="1" lang="ja-JP" altLang="en-US" dirty="0">
              <a:ea typeface="メイリオ" panose="020B0604030504040204" pitchFamily="50" charset="-128"/>
            </a:endParaRPr>
          </a:p>
        </p:txBody>
      </p:sp>
      <p:sp>
        <p:nvSpPr>
          <p:cNvPr id="5" name="スライド番号プレースホルダー 4"/>
          <p:cNvSpPr>
            <a:spLocks noGrp="1"/>
          </p:cNvSpPr>
          <p:nvPr>
            <p:ph type="sldNum" sz="quarter" idx="3"/>
          </p:nvPr>
        </p:nvSpPr>
        <p:spPr>
          <a:xfrm>
            <a:off x="3855839" y="9440647"/>
            <a:ext cx="2949787" cy="496967"/>
          </a:xfrm>
          <a:prstGeom prst="rect">
            <a:avLst/>
          </a:prstGeom>
        </p:spPr>
        <p:txBody>
          <a:bodyPr vert="horz" lIns="92221" tIns="46111" rIns="92221" bIns="46111" rtlCol="0" anchor="b"/>
          <a:lstStyle>
            <a:lvl1pPr algn="r">
              <a:defRPr sz="1200"/>
            </a:lvl1pPr>
          </a:lstStyle>
          <a:p>
            <a:fld id="{6322DB22-2E22-491B-AA6C-F689DB200DBB}" type="slidenum">
              <a:rPr kumimoji="1" lang="ja-JP" altLang="en-US" smtClean="0">
                <a:ea typeface="メイリオ" panose="020B0604030504040204" pitchFamily="50" charset="-128"/>
              </a:rPr>
              <a:t>‹#›</a:t>
            </a:fld>
            <a:endParaRPr kumimoji="1" lang="ja-JP" altLang="en-US" dirty="0">
              <a:ea typeface="メイリオ" panose="020B0604030504040204" pitchFamily="50" charset="-128"/>
            </a:endParaRPr>
          </a:p>
        </p:txBody>
      </p:sp>
    </p:spTree>
    <p:extLst>
      <p:ext uri="{BB962C8B-B14F-4D97-AF65-F5344CB8AC3E}">
        <p14:creationId xmlns:p14="http://schemas.microsoft.com/office/powerpoint/2010/main" val="163105054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p:cNvSpPr>
            <a:spLocks noGrp="1"/>
          </p:cNvSpPr>
          <p:nvPr>
            <p:ph type="dt" idx="1"/>
          </p:nvPr>
        </p:nvSpPr>
        <p:spPr>
          <a:xfrm>
            <a:off x="3855839" y="1"/>
            <a:ext cx="2949787" cy="288000"/>
          </a:xfrm>
          <a:prstGeom prst="rect">
            <a:avLst/>
          </a:prstGeom>
        </p:spPr>
        <p:txBody>
          <a:bodyPr vert="horz" lIns="92221" tIns="46111" rIns="92221" bIns="46111" rtlCol="0"/>
          <a:lstStyle>
            <a:lvl1pPr algn="r">
              <a:defRPr sz="1000">
                <a:ea typeface="メイリオ" panose="020B0604030504040204" pitchFamily="50" charset="-128"/>
              </a:defRPr>
            </a:lvl1pPr>
          </a:lstStyle>
          <a:p>
            <a:fld id="{4B26993D-C081-44EB-B0F5-A9F467792B62}" type="datetimeFigureOut">
              <a:rPr lang="ja-JP" altLang="en-US" smtClean="0"/>
              <a:pPr/>
              <a:t>2017/6/27</a:t>
            </a:fld>
            <a:endParaRPr lang="ja-JP" altLang="en-US" dirty="0"/>
          </a:p>
        </p:txBody>
      </p:sp>
      <p:sp>
        <p:nvSpPr>
          <p:cNvPr id="7" name="スライド番号プレースホルダー 6"/>
          <p:cNvSpPr>
            <a:spLocks noGrp="1"/>
          </p:cNvSpPr>
          <p:nvPr>
            <p:ph type="sldNum" sz="quarter" idx="5"/>
          </p:nvPr>
        </p:nvSpPr>
        <p:spPr>
          <a:xfrm>
            <a:off x="3855839" y="9652150"/>
            <a:ext cx="2949787" cy="288000"/>
          </a:xfrm>
          <a:prstGeom prst="rect">
            <a:avLst/>
          </a:prstGeom>
        </p:spPr>
        <p:txBody>
          <a:bodyPr vert="horz" lIns="92221" tIns="46111" rIns="92221" bIns="46111" rtlCol="0" anchor="b"/>
          <a:lstStyle>
            <a:lvl1pPr algn="r">
              <a:defRPr sz="1000">
                <a:ea typeface="メイリオ" panose="020B0604030504040204" pitchFamily="50" charset="-128"/>
              </a:defRPr>
            </a:lvl1pPr>
          </a:lstStyle>
          <a:p>
            <a:fld id="{CFBBA293-708C-4261-9FD1-AE04041D5F79}" type="slidenum">
              <a:rPr lang="ja-JP" altLang="en-US" smtClean="0"/>
              <a:pPr/>
              <a:t>‹#›</a:t>
            </a:fld>
            <a:endParaRPr lang="ja-JP" altLang="en-US" dirty="0"/>
          </a:p>
        </p:txBody>
      </p:sp>
      <p:sp>
        <p:nvSpPr>
          <p:cNvPr id="8" name="スライド イメージ プレースホルダー 7"/>
          <p:cNvSpPr>
            <a:spLocks noGrp="1" noRot="1" noChangeAspect="1"/>
          </p:cNvSpPr>
          <p:nvPr>
            <p:ph type="sldImg" idx="2"/>
          </p:nvPr>
        </p:nvSpPr>
        <p:spPr>
          <a:xfrm>
            <a:off x="919163" y="431800"/>
            <a:ext cx="4968875" cy="3725863"/>
          </a:xfrm>
          <a:prstGeom prst="rect">
            <a:avLst/>
          </a:prstGeom>
          <a:noFill/>
          <a:ln w="12700">
            <a:solidFill>
              <a:prstClr val="black"/>
            </a:solidFill>
          </a:ln>
        </p:spPr>
        <p:txBody>
          <a:bodyPr vert="horz" lIns="91433" tIns="45716" rIns="91433" bIns="45716" rtlCol="0" anchor="ctr"/>
          <a:lstStyle/>
          <a:p>
            <a:endParaRPr lang="ja-JP" altLang="en-US" dirty="0"/>
          </a:p>
        </p:txBody>
      </p:sp>
      <p:sp>
        <p:nvSpPr>
          <p:cNvPr id="9" name="ノート プレースホルダー 8"/>
          <p:cNvSpPr>
            <a:spLocks noGrp="1"/>
          </p:cNvSpPr>
          <p:nvPr>
            <p:ph type="body" sz="quarter" idx="3"/>
          </p:nvPr>
        </p:nvSpPr>
        <p:spPr>
          <a:xfrm>
            <a:off x="91601" y="4320000"/>
            <a:ext cx="6624000" cy="5220000"/>
          </a:xfrm>
          <a:prstGeom prst="rect">
            <a:avLst/>
          </a:prstGeom>
        </p:spPr>
        <p:txBody>
          <a:bodyPr vert="horz" lIns="0" tIns="45716" rIns="0" bIns="45716" rtlCol="0"/>
          <a:lstStyle/>
          <a:p>
            <a:pPr lvl="0"/>
            <a:r>
              <a:rPr kumimoji="1" lang="ja-JP" altLang="en-US" dirty="0" smtClean="0"/>
              <a:t>マスター テキストの書式設定</a:t>
            </a:r>
          </a:p>
        </p:txBody>
      </p:sp>
    </p:spTree>
    <p:extLst>
      <p:ext uri="{BB962C8B-B14F-4D97-AF65-F5344CB8AC3E}">
        <p14:creationId xmlns:p14="http://schemas.microsoft.com/office/powerpoint/2010/main" val="45250295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100" kern="1200">
        <a:solidFill>
          <a:schemeClr val="tx1"/>
        </a:solidFill>
        <a:latin typeface="Verdana" panose="020B0604030504040204" pitchFamily="34" charset="0"/>
        <a:ea typeface="メイリオ" panose="020B0604030504040204" pitchFamily="50" charset="-128"/>
        <a:cs typeface="Verdana" panose="020B0604030504040204" pitchFamily="34" charset="0"/>
      </a:defRPr>
    </a:lvl1pPr>
    <a:lvl2pPr marL="457200" algn="l" defTabSz="914400" rtl="0" eaLnBrk="1" latinLnBrk="0" hangingPunct="1">
      <a:defRPr kumimoji="1" sz="800" kern="1200">
        <a:solidFill>
          <a:schemeClr val="tx1"/>
        </a:solidFill>
        <a:latin typeface="+mn-lt"/>
        <a:ea typeface="メイリオ" panose="020B0604030504040204" pitchFamily="50" charset="-128"/>
        <a:cs typeface="+mn-cs"/>
      </a:defRPr>
    </a:lvl2pPr>
    <a:lvl3pPr marL="914400" algn="l" defTabSz="914400" rtl="0" eaLnBrk="1" latinLnBrk="0" hangingPunct="1">
      <a:defRPr kumimoji="1" sz="800" kern="1200">
        <a:solidFill>
          <a:schemeClr val="tx1"/>
        </a:solidFill>
        <a:latin typeface="+mn-lt"/>
        <a:ea typeface="メイリオ" panose="020B0604030504040204" pitchFamily="50" charset="-128"/>
        <a:cs typeface="+mn-cs"/>
      </a:defRPr>
    </a:lvl3pPr>
    <a:lvl4pPr marL="1371600" algn="l" defTabSz="914400" rtl="0" eaLnBrk="1" latinLnBrk="0" hangingPunct="1">
      <a:defRPr kumimoji="1" sz="800" kern="1200">
        <a:solidFill>
          <a:schemeClr val="tx1"/>
        </a:solidFill>
        <a:latin typeface="+mn-lt"/>
        <a:ea typeface="メイリオ" panose="020B0604030504040204" pitchFamily="50" charset="-128"/>
        <a:cs typeface="+mn-cs"/>
      </a:defRPr>
    </a:lvl4pPr>
    <a:lvl5pPr marL="1828800" algn="l" defTabSz="914400" rtl="0" eaLnBrk="1" latinLnBrk="0" hangingPunct="1">
      <a:defRPr kumimoji="1" sz="800" kern="1200">
        <a:solidFill>
          <a:schemeClr val="tx1"/>
        </a:solidFill>
        <a:latin typeface="+mn-lt"/>
        <a:ea typeface="メイリオ" panose="020B060403050404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431800"/>
            <a:ext cx="4968875" cy="3725863"/>
          </a:xfrm>
        </p:spPr>
      </p:sp>
      <p:sp>
        <p:nvSpPr>
          <p:cNvPr id="3" name="ノート プレースホルダー 2"/>
          <p:cNvSpPr>
            <a:spLocks noGrp="1"/>
          </p:cNvSpPr>
          <p:nvPr>
            <p:ph type="body" idx="1"/>
          </p:nvPr>
        </p:nvSpPr>
        <p:spPr/>
        <p:txBody>
          <a:bodyPr/>
          <a:lstStyle/>
          <a:p>
            <a:endParaRPr kumimoji="1" lang="en-US" altLang="ja-JP" dirty="0" smtClean="0"/>
          </a:p>
          <a:p>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CFBBA293-708C-4261-9FD1-AE04041D5F79}" type="slidenum">
              <a:rPr lang="ja-JP" altLang="en-US" smtClean="0"/>
              <a:pPr/>
              <a:t>1</a:t>
            </a:fld>
            <a:endParaRPr lang="ja-JP" altLang="en-US" dirty="0"/>
          </a:p>
        </p:txBody>
      </p:sp>
    </p:spTree>
    <p:extLst>
      <p:ext uri="{BB962C8B-B14F-4D97-AF65-F5344CB8AC3E}">
        <p14:creationId xmlns:p14="http://schemas.microsoft.com/office/powerpoint/2010/main" val="884622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431800"/>
            <a:ext cx="4968875" cy="372586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CFBBA293-708C-4261-9FD1-AE04041D5F79}" type="slidenum">
              <a:rPr lang="ja-JP" altLang="en-US" smtClean="0"/>
              <a:pPr/>
              <a:t>23</a:t>
            </a:fld>
            <a:endParaRPr lang="ja-JP" altLang="en-US" dirty="0"/>
          </a:p>
        </p:txBody>
      </p:sp>
    </p:spTree>
    <p:extLst>
      <p:ext uri="{BB962C8B-B14F-4D97-AF65-F5344CB8AC3E}">
        <p14:creationId xmlns:p14="http://schemas.microsoft.com/office/powerpoint/2010/main" val="22607430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microsoft.com/office/2007/relationships/hdphoto" Target="../media/hdphoto1.wdp"/><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3" name="Background_Titl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4" name="タイトル"/>
          <p:cNvSpPr>
            <a:spLocks noGrp="1"/>
          </p:cNvSpPr>
          <p:nvPr>
            <p:ph type="title" hasCustomPrompt="1"/>
          </p:nvPr>
        </p:nvSpPr>
        <p:spPr bwMode="gray">
          <a:xfrm>
            <a:off x="179513" y="3049388"/>
            <a:ext cx="8784000" cy="584775"/>
          </a:xfrm>
        </p:spPr>
        <p:txBody>
          <a:bodyPr anchor="b" anchorCtr="0">
            <a:spAutoFit/>
          </a:bodyPr>
          <a:lstStyle>
            <a:lvl1pPr>
              <a:defRPr sz="3200">
                <a:solidFill>
                  <a:schemeClr val="accent6"/>
                </a:solidFill>
                <a:effectLst/>
                <a:latin typeface="+mj-lt"/>
                <a:cs typeface="Verdana" panose="020B0604030504040204" pitchFamily="34" charset="0"/>
              </a:defRPr>
            </a:lvl1pPr>
          </a:lstStyle>
          <a:p>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a:xfrm>
            <a:off x="179387" y="1800000"/>
            <a:ext cx="6372000" cy="360000"/>
          </a:xfrm>
        </p:spPr>
        <p:txBody>
          <a:bodyPr>
            <a:noAutofit/>
          </a:bodyPr>
          <a:lstStyle>
            <a:lvl1pPr marL="0" indent="0">
              <a:buNone/>
              <a:defRPr sz="1800" baseline="0">
                <a:latin typeface="+mj-lt"/>
                <a:cs typeface="Verdana" panose="020B0604030504040204" pitchFamily="34" charset="0"/>
              </a:defRPr>
            </a:lvl1pPr>
          </a:lstStyle>
          <a:p>
            <a:r>
              <a:rPr lang="en-US" altLang="ja-JP" dirty="0" smtClean="0"/>
              <a:t>Enter the addressee as required.</a:t>
            </a:r>
            <a:endParaRPr lang="ja-JP" altLang="en-US" dirty="0"/>
          </a:p>
        </p:txBody>
      </p:sp>
      <p:sp>
        <p:nvSpPr>
          <p:cNvPr id="5" name="テキスト プレースホルダー"/>
          <p:cNvSpPr>
            <a:spLocks noGrp="1"/>
          </p:cNvSpPr>
          <p:nvPr>
            <p:ph type="body" sz="quarter" idx="10" hasCustomPrompt="1"/>
          </p:nvPr>
        </p:nvSpPr>
        <p:spPr bwMode="invGray">
          <a:xfrm>
            <a:off x="179513" y="4032000"/>
            <a:ext cx="6552727" cy="707886"/>
          </a:xfrm>
        </p:spPr>
        <p:txBody>
          <a:bodyPr wrap="square">
            <a:spAutoFit/>
          </a:bodyPr>
          <a:lstStyle>
            <a:lvl1pPr marL="0" indent="0">
              <a:buNone/>
              <a:defRPr sz="2000" baseline="0">
                <a:solidFill>
                  <a:schemeClr val="bg1"/>
                </a:solidFill>
                <a:latin typeface="+mn-lt"/>
                <a:cs typeface="Verdana" panose="020B0604030504040204" pitchFamily="34" charset="0"/>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en-US" altLang="ja-JP" dirty="0" smtClean="0"/>
              <a:t>Date, name and affiliation of author, etc.</a:t>
            </a:r>
            <a:br>
              <a:rPr kumimoji="1" lang="en-US" altLang="ja-JP" dirty="0" smtClean="0"/>
            </a:br>
            <a:r>
              <a:rPr kumimoji="1" lang="en-US" altLang="ja-JP" dirty="0" smtClean="0"/>
              <a:t> (Start a new line as appropriate.)</a:t>
            </a:r>
            <a:endParaRPr kumimoji="1" lang="ja-JP" altLang="en-US" dirty="0"/>
          </a:p>
        </p:txBody>
      </p:sp>
    </p:spTree>
    <p:extLst>
      <p:ext uri="{BB962C8B-B14F-4D97-AF65-F5344CB8AC3E}">
        <p14:creationId xmlns:p14="http://schemas.microsoft.com/office/powerpoint/2010/main" val="298871571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blue)">
    <p:bg bwMode="ltGray">
      <p:bgPr>
        <a:solidFill>
          <a:schemeClr val="accent6"/>
        </a:solidFill>
        <a:effectLst/>
      </p:bgPr>
    </p:bg>
    <p:spTree>
      <p:nvGrpSpPr>
        <p:cNvPr id="1" name=""/>
        <p:cNvGrpSpPr/>
        <p:nvPr/>
      </p:nvGrpSpPr>
      <p:grpSpPr>
        <a:xfrm>
          <a:off x="0" y="0"/>
          <a:ext cx="0" cy="0"/>
          <a:chOff x="0" y="0"/>
          <a:chExt cx="0" cy="0"/>
        </a:xfrm>
      </p:grpSpPr>
      <p:pic>
        <p:nvPicPr>
          <p:cNvPr id="5" name="Background_TitleBlue"/>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13" name="タイトル"/>
          <p:cNvSpPr>
            <a:spLocks noGrp="1"/>
          </p:cNvSpPr>
          <p:nvPr>
            <p:ph type="title" hasCustomPrompt="1"/>
          </p:nvPr>
        </p:nvSpPr>
        <p:spPr bwMode="invGray">
          <a:xfrm>
            <a:off x="179513" y="2905844"/>
            <a:ext cx="8760432" cy="585866"/>
          </a:xfrm>
        </p:spPr>
        <p:txBody>
          <a:bodyPr vert="horz" lIns="91440" tIns="45720" rIns="91440" bIns="45720" rtlCol="0" anchor="b" anchorCtr="0">
            <a:spAutoFit/>
          </a:bodyPr>
          <a:lstStyle>
            <a:lvl1pPr>
              <a:defRPr lang="ja-JP" altLang="en-US" sz="3200" kern="0" dirty="0">
                <a:solidFill>
                  <a:schemeClr val="bg1"/>
                </a:solidFill>
                <a:effectLst/>
              </a:defRPr>
            </a:lvl1pPr>
          </a:lstStyle>
          <a:p>
            <a:pPr marL="0" lvl="0" defTabSz="914400" latinLnBrk="0"/>
            <a:r>
              <a:rPr kumimoji="1" lang="en-US" altLang="ja-JP" dirty="0" smtClean="0"/>
              <a:t>Enter the title.</a:t>
            </a:r>
            <a:endParaRPr kumimoji="1" lang="ja-JP" altLang="en-US" dirty="0"/>
          </a:p>
        </p:txBody>
      </p:sp>
      <p:sp>
        <p:nvSpPr>
          <p:cNvPr id="16" name="テキスト プレースホルダー"/>
          <p:cNvSpPr>
            <a:spLocks noGrp="1"/>
          </p:cNvSpPr>
          <p:nvPr>
            <p:ph type="body" sz="quarter" idx="10" hasCustomPrompt="1"/>
          </p:nvPr>
        </p:nvSpPr>
        <p:spPr bwMode="invGray">
          <a:xfrm>
            <a:off x="179513" y="3926256"/>
            <a:ext cx="6768975" cy="772006"/>
          </a:xfrm>
        </p:spPr>
        <p:txBody>
          <a:bodyPr wrap="square" tIns="45720">
            <a:spAutoFit/>
          </a:bodyPr>
          <a:lstStyle>
            <a:lvl1pPr marL="0" indent="0" algn="l">
              <a:buNone/>
              <a:defRPr sz="2000">
                <a:solidFill>
                  <a:schemeClr val="bg1"/>
                </a:solidFill>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en-US" altLang="ja-JP" dirty="0" smtClean="0"/>
              <a:t>Date, name and affiliation of author, etc.</a:t>
            </a:r>
          </a:p>
          <a:p>
            <a:pPr lvl="0"/>
            <a:r>
              <a:rPr kumimoji="1" lang="en-US" altLang="ja-JP" dirty="0" smtClean="0"/>
              <a:t> (Start a new line as appropriate.)</a:t>
            </a:r>
            <a:endParaRPr kumimoji="1" lang="ja-JP" altLang="en-US" dirty="0"/>
          </a:p>
        </p:txBody>
      </p:sp>
    </p:spTree>
    <p:extLst>
      <p:ext uri="{BB962C8B-B14F-4D97-AF65-F5344CB8AC3E}">
        <p14:creationId xmlns:p14="http://schemas.microsoft.com/office/powerpoint/2010/main" val="327765625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Brand Statement (move)">
    <p:spTree>
      <p:nvGrpSpPr>
        <p:cNvPr id="1" name=""/>
        <p:cNvGrpSpPr/>
        <p:nvPr/>
      </p:nvGrpSpPr>
      <p:grpSpPr>
        <a:xfrm>
          <a:off x="0" y="0"/>
          <a:ext cx="0" cy="0"/>
          <a:chOff x="0" y="0"/>
          <a:chExt cx="0" cy="0"/>
        </a:xfrm>
      </p:grpSpPr>
      <p:pic>
        <p:nvPicPr>
          <p:cNvPr id="11" name="orchest_blue_bas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gray">
          <a:xfrm>
            <a:off x="0" y="0"/>
            <a:ext cx="9144000" cy="6858000"/>
          </a:xfrm>
          <a:prstGeom prst="rect">
            <a:avLst/>
          </a:prstGeom>
        </p:spPr>
      </p:pic>
      <p:pic>
        <p:nvPicPr>
          <p:cNvPr id="12" name="逆光"/>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bwMode="gray">
          <a:xfrm>
            <a:off x="0" y="0"/>
            <a:ext cx="9144000" cy="6857999"/>
          </a:xfrm>
          <a:prstGeom prst="rect">
            <a:avLst/>
          </a:prstGeom>
        </p:spPr>
      </p:pic>
      <p:pic>
        <p:nvPicPr>
          <p:cNvPr id="13" name="縦ライン"/>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4" name="右上へ"/>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5" name="左下へ"/>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6" name="最後右へ"/>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grpSp>
        <p:nvGrpSpPr>
          <p:cNvPr id="18" name="グループ化 17"/>
          <p:cNvGrpSpPr/>
          <p:nvPr/>
        </p:nvGrpSpPr>
        <p:grpSpPr bwMode="gray">
          <a:xfrm>
            <a:off x="0" y="0"/>
            <a:ext cx="9144000" cy="6858000"/>
            <a:chOff x="0" y="0"/>
            <a:chExt cx="9144000" cy="6858000"/>
          </a:xfrm>
        </p:grpSpPr>
        <p:pic>
          <p:nvPicPr>
            <p:cNvPr id="19" name="white"/>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20" name="brighter_logo_poji"/>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96790" y="2146503"/>
              <a:ext cx="8466645" cy="993566"/>
            </a:xfrm>
            <a:prstGeom prst="rect">
              <a:avLst/>
            </a:prstGeom>
          </p:spPr>
        </p:pic>
        <p:pic>
          <p:nvPicPr>
            <p:cNvPr id="21" name="kaisetubun_3"/>
            <p:cNvPicPr>
              <a:picLocks noChangeAspect="1" noChangeArrowheads="1"/>
            </p:cNvPicPr>
            <p:nvPr userDrawn="1"/>
          </p:nvPicPr>
          <p:blipFill>
            <a:blip r:embed="rId10">
              <a:biLevel thresh="75000"/>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gray">
            <a:xfrm>
              <a:off x="1949688" y="3525123"/>
              <a:ext cx="61880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7" name="orchest_blue_base"/>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0" y="0"/>
            <a:ext cx="9144000" cy="6858000"/>
          </a:xfrm>
          <a:prstGeom prst="rect">
            <a:avLst/>
          </a:prstGeom>
        </p:spPr>
      </p:pic>
      <p:pic>
        <p:nvPicPr>
          <p:cNvPr id="22" name="逆光"/>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bwMode="gray">
          <a:xfrm>
            <a:off x="0" y="0"/>
            <a:ext cx="9144000" cy="6857999"/>
          </a:xfrm>
          <a:prstGeom prst="rect">
            <a:avLst/>
          </a:prstGeom>
        </p:spPr>
      </p:pic>
      <p:pic>
        <p:nvPicPr>
          <p:cNvPr id="23" name="縦ライン"/>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24" name="右上へ"/>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25" name="左下へ"/>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26" name="最後右へ"/>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grpSp>
        <p:nvGrpSpPr>
          <p:cNvPr id="27" name="グループ化 26"/>
          <p:cNvGrpSpPr/>
          <p:nvPr userDrawn="1"/>
        </p:nvGrpSpPr>
        <p:grpSpPr bwMode="gray">
          <a:xfrm>
            <a:off x="0" y="0"/>
            <a:ext cx="9144000" cy="6858000"/>
            <a:chOff x="0" y="0"/>
            <a:chExt cx="9144000" cy="6858000"/>
          </a:xfrm>
        </p:grpSpPr>
        <p:pic>
          <p:nvPicPr>
            <p:cNvPr id="28" name="white"/>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29" name="brighter_logo_poji"/>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96790" y="2146503"/>
              <a:ext cx="8466645" cy="993566"/>
            </a:xfrm>
            <a:prstGeom prst="rect">
              <a:avLst/>
            </a:prstGeom>
          </p:spPr>
        </p:pic>
        <p:pic>
          <p:nvPicPr>
            <p:cNvPr id="30" name="kaisetubun_3"/>
            <p:cNvPicPr>
              <a:picLocks noChangeAspect="1" noChangeArrowheads="1"/>
            </p:cNvPicPr>
            <p:nvPr userDrawn="1"/>
          </p:nvPicPr>
          <p:blipFill>
            <a:blip r:embed="rId10">
              <a:biLevel thresh="75000"/>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gray">
            <a:xfrm>
              <a:off x="1949688" y="3525123"/>
              <a:ext cx="61880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1627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80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1000"/>
                                        <p:tgtEl>
                                          <p:spTgt spid="23"/>
                                        </p:tgtEl>
                                      </p:cBhvr>
                                    </p:animEffect>
                                  </p:childTnLst>
                                </p:cTn>
                              </p:par>
                              <p:par>
                                <p:cTn id="8" presetID="22" presetClass="entr" presetSubtype="4" fill="hold" nodeType="withEffect">
                                  <p:stCondLst>
                                    <p:cond delay="190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1000"/>
                                        <p:tgtEl>
                                          <p:spTgt spid="24"/>
                                        </p:tgtEl>
                                      </p:cBhvr>
                                    </p:animEffect>
                                  </p:childTnLst>
                                </p:cTn>
                              </p:par>
                              <p:par>
                                <p:cTn id="11" presetID="22" presetClass="entr" presetSubtype="2" fill="hold" nodeType="withEffect">
                                  <p:stCondLst>
                                    <p:cond delay="2600"/>
                                  </p:stCondLst>
                                  <p:childTnLst>
                                    <p:set>
                                      <p:cBhvr>
                                        <p:cTn id="12" dur="1" fill="hold">
                                          <p:stCondLst>
                                            <p:cond delay="0"/>
                                          </p:stCondLst>
                                        </p:cTn>
                                        <p:tgtEl>
                                          <p:spTgt spid="25"/>
                                        </p:tgtEl>
                                        <p:attrNameLst>
                                          <p:attrName>style.visibility</p:attrName>
                                        </p:attrNameLst>
                                      </p:cBhvr>
                                      <p:to>
                                        <p:strVal val="visible"/>
                                      </p:to>
                                    </p:set>
                                    <p:animEffect transition="in" filter="wipe(right)">
                                      <p:cBhvr>
                                        <p:cTn id="13" dur="1000"/>
                                        <p:tgtEl>
                                          <p:spTgt spid="25"/>
                                        </p:tgtEl>
                                      </p:cBhvr>
                                    </p:animEffect>
                                  </p:childTnLst>
                                </p:cTn>
                              </p:par>
                              <p:par>
                                <p:cTn id="14" presetID="22" presetClass="entr" presetSubtype="8" fill="hold" nodeType="withEffect">
                                  <p:stCondLst>
                                    <p:cond delay="350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1000"/>
                                        <p:tgtEl>
                                          <p:spTgt spid="26"/>
                                        </p:tgtEl>
                                      </p:cBhvr>
                                    </p:animEffect>
                                  </p:childTnLst>
                                </p:cTn>
                              </p:par>
                            </p:childTnLst>
                          </p:cTn>
                        </p:par>
                        <p:par>
                          <p:cTn id="17" fill="hold">
                            <p:stCondLst>
                              <p:cond delay="4500"/>
                            </p:stCondLst>
                            <p:childTnLst>
                              <p:par>
                                <p:cTn id="18" presetID="10" presetClass="entr" presetSubtype="0" fill="hold"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1000"/>
                                        <p:tgtEl>
                                          <p:spTgt spid="22"/>
                                        </p:tgtEl>
                                      </p:cBhvr>
                                    </p:animEffect>
                                  </p:childTnLst>
                                </p:cTn>
                              </p:par>
                              <p:par>
                                <p:cTn id="21" presetID="10" presetClass="exit" presetSubtype="0" fill="hold" nodeType="withEffect">
                                  <p:stCondLst>
                                    <p:cond delay="1000"/>
                                  </p:stCondLst>
                                  <p:childTnLst>
                                    <p:animEffect transition="out" filter="fade">
                                      <p:cBhvr>
                                        <p:cTn id="22" dur="800"/>
                                        <p:tgtEl>
                                          <p:spTgt spid="22"/>
                                        </p:tgtEl>
                                      </p:cBhvr>
                                    </p:animEffect>
                                    <p:set>
                                      <p:cBhvr>
                                        <p:cTn id="23" dur="1" fill="hold">
                                          <p:stCondLst>
                                            <p:cond delay="799"/>
                                          </p:stCondLst>
                                        </p:cTn>
                                        <p:tgtEl>
                                          <p:spTgt spid="22"/>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23"/>
                                        </p:tgtEl>
                                      </p:cBhvr>
                                    </p:animEffect>
                                    <p:set>
                                      <p:cBhvr>
                                        <p:cTn id="26" dur="1" fill="hold">
                                          <p:stCondLst>
                                            <p:cond delay="499"/>
                                          </p:stCondLst>
                                        </p:cTn>
                                        <p:tgtEl>
                                          <p:spTgt spid="23"/>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26"/>
                                        </p:tgtEl>
                                      </p:cBhvr>
                                    </p:animEffect>
                                    <p:set>
                                      <p:cBhvr>
                                        <p:cTn id="29" dur="1" fill="hold">
                                          <p:stCondLst>
                                            <p:cond delay="499"/>
                                          </p:stCondLst>
                                        </p:cTn>
                                        <p:tgtEl>
                                          <p:spTgt spid="26"/>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5"/>
                                        </p:tgtEl>
                                      </p:cBhvr>
                                    </p:animEffect>
                                    <p:set>
                                      <p:cBhvr>
                                        <p:cTn id="32" dur="1" fill="hold">
                                          <p:stCondLst>
                                            <p:cond delay="499"/>
                                          </p:stCondLst>
                                        </p:cTn>
                                        <p:tgtEl>
                                          <p:spTgt spid="25"/>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24"/>
                                        </p:tgtEl>
                                      </p:cBhvr>
                                    </p:animEffect>
                                    <p:set>
                                      <p:cBhvr>
                                        <p:cTn id="35" dur="1" fill="hold">
                                          <p:stCondLst>
                                            <p:cond delay="499"/>
                                          </p:stCondLst>
                                        </p:cTn>
                                        <p:tgtEl>
                                          <p:spTgt spid="24"/>
                                        </p:tgtEl>
                                        <p:attrNameLst>
                                          <p:attrName>style.visibility</p:attrName>
                                        </p:attrNameLst>
                                      </p:cBhvr>
                                      <p:to>
                                        <p:strVal val="hidden"/>
                                      </p:to>
                                    </p:set>
                                  </p:childTnLst>
                                </p:cTn>
                              </p:par>
                              <p:par>
                                <p:cTn id="36" presetID="10" presetClass="entr" presetSubtype="0" fill="hold" nodeType="withEffect">
                                  <p:stCondLst>
                                    <p:cond delay="50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1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rand Statement (still)">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112600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able of Contents">
    <p:spTree>
      <p:nvGrpSpPr>
        <p:cNvPr id="1" name=""/>
        <p:cNvGrpSpPr/>
        <p:nvPr/>
      </p:nvGrpSpPr>
      <p:grpSpPr>
        <a:xfrm>
          <a:off x="0" y="0"/>
          <a:ext cx="0" cy="0"/>
          <a:chOff x="0" y="0"/>
          <a:chExt cx="0" cy="0"/>
        </a:xfrm>
      </p:grpSpPr>
      <p:pic>
        <p:nvPicPr>
          <p:cNvPr id="3" name="Background_Contents"/>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2" name="タイトル"/>
          <p:cNvSpPr>
            <a:spLocks noGrp="1"/>
          </p:cNvSpPr>
          <p:nvPr>
            <p:ph type="title" hasCustomPrompt="1"/>
          </p:nvPr>
        </p:nvSpPr>
        <p:spPr bwMode="gray">
          <a:xfrm>
            <a:off x="1619672" y="430930"/>
            <a:ext cx="7344000" cy="405683"/>
          </a:xfrm>
        </p:spPr>
        <p:txBody>
          <a:bodyPr wrap="square" anchor="b">
            <a:spAutoFit/>
          </a:bodyPr>
          <a:lstStyle>
            <a:lvl1pPr>
              <a:defRPr b="0" baseline="0">
                <a:solidFill>
                  <a:schemeClr val="tx2">
                    <a:lumMod val="65000"/>
                    <a:lumOff val="35000"/>
                  </a:schemeClr>
                </a:solidFill>
              </a:defRPr>
            </a:lvl1pPr>
          </a:lstStyle>
          <a:p>
            <a:r>
              <a:rPr kumimoji="1" lang="en-US" altLang="ja-JP" dirty="0" smtClean="0"/>
              <a:t>Enter the title of the table of contents.</a:t>
            </a:r>
            <a:endParaRPr kumimoji="1" lang="ja-JP" altLang="en-US" dirty="0"/>
          </a:p>
        </p:txBody>
      </p:sp>
      <p:sp>
        <p:nvSpPr>
          <p:cNvPr id="5" name="テキスト プレースホルダー"/>
          <p:cNvSpPr>
            <a:spLocks noGrp="1"/>
          </p:cNvSpPr>
          <p:nvPr>
            <p:ph type="body" sz="quarter" idx="10" hasCustomPrompt="1"/>
          </p:nvPr>
        </p:nvSpPr>
        <p:spPr bwMode="gray">
          <a:xfrm>
            <a:off x="1619672" y="1116000"/>
            <a:ext cx="7344000" cy="5112000"/>
          </a:xfrm>
        </p:spPr>
        <p:txBody>
          <a:bodyPr wrap="square">
            <a:noAutofit/>
          </a:bodyPr>
          <a:lstStyle>
            <a:lvl1pPr marL="0" indent="0">
              <a:lnSpc>
                <a:spcPct val="140000"/>
              </a:lnSpc>
              <a:spcBef>
                <a:spcPts val="500"/>
              </a:spcBef>
              <a:buNone/>
              <a:defRPr sz="2200" b="0">
                <a:solidFill>
                  <a:schemeClr val="tx1"/>
                </a:solidFill>
              </a:defRPr>
            </a:lvl1pPr>
            <a:lvl2pPr marL="180000" indent="0">
              <a:lnSpc>
                <a:spcPct val="100000"/>
              </a:lnSpc>
              <a:spcBef>
                <a:spcPts val="500"/>
              </a:spcBef>
              <a:buNone/>
              <a:defRPr sz="1800" b="0">
                <a:solidFill>
                  <a:schemeClr val="tx1"/>
                </a:solidFill>
              </a:defRPr>
            </a:lvl2pPr>
            <a:lvl3pPr marL="360000" indent="0">
              <a:lnSpc>
                <a:spcPct val="100000"/>
              </a:lnSpc>
              <a:spcBef>
                <a:spcPts val="500"/>
              </a:spcBef>
              <a:buNone/>
              <a:defRPr b="0" baseline="0">
                <a:solidFill>
                  <a:schemeClr val="tx1"/>
                </a:solidFill>
              </a:defRPr>
            </a:lvl3pPr>
            <a:lvl4pPr marL="540000" indent="0">
              <a:lnSpc>
                <a:spcPct val="100000"/>
              </a:lnSpc>
              <a:spcBef>
                <a:spcPts val="500"/>
              </a:spcBef>
              <a:buNone/>
              <a:defRPr b="0">
                <a:solidFill>
                  <a:schemeClr val="tx1"/>
                </a:solidFill>
              </a:defRPr>
            </a:lvl4pPr>
            <a:lvl5pPr marL="685800" indent="0">
              <a:buNone/>
              <a:defRPr b="0"/>
            </a:lvl5pPr>
          </a:lstStyle>
          <a:p>
            <a:pPr lvl="0"/>
            <a:r>
              <a:rPr kumimoji="1" lang="en-US" altLang="ja-JP" dirty="0" smtClean="0"/>
              <a:t>Enter the items in the table of contents.</a:t>
            </a:r>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7878563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white)">
    <p:spTree>
      <p:nvGrpSpPr>
        <p:cNvPr id="1" name=""/>
        <p:cNvGrpSpPr/>
        <p:nvPr/>
      </p:nvGrpSpPr>
      <p:grpSpPr>
        <a:xfrm>
          <a:off x="0" y="0"/>
          <a:ext cx="0" cy="0"/>
          <a:chOff x="0" y="0"/>
          <a:chExt cx="0" cy="0"/>
        </a:xfrm>
      </p:grpSpPr>
      <p:pic>
        <p:nvPicPr>
          <p:cNvPr id="6"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tIns="45720" bIns="45720">
            <a:normAutofit/>
          </a:bodyPr>
          <a:lstStyle>
            <a:lvl1pPr>
              <a:defRPr sz="2400" b="0">
                <a:solidFill>
                  <a:schemeClr val="bg1"/>
                </a:solidFill>
              </a:defRPr>
            </a:lvl1pPr>
          </a:lstStyle>
          <a:p>
            <a:r>
              <a:rPr kumimoji="1" lang="en-US" altLang="ja-JP" dirty="0" smtClean="0"/>
              <a:t>Enter the title.</a:t>
            </a:r>
            <a:endParaRPr kumimoji="1" lang="ja-JP" altLang="en-US" dirty="0"/>
          </a:p>
        </p:txBody>
      </p:sp>
    </p:spTree>
    <p:extLst>
      <p:ext uri="{BB962C8B-B14F-4D97-AF65-F5344CB8AC3E}">
        <p14:creationId xmlns:p14="http://schemas.microsoft.com/office/powerpoint/2010/main" val="339900988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mp; Content(white)">
    <p:spTree>
      <p:nvGrpSpPr>
        <p:cNvPr id="1" name=""/>
        <p:cNvGrpSpPr/>
        <p:nvPr/>
      </p:nvGrpSpPr>
      <p:grpSpPr>
        <a:xfrm>
          <a:off x="0" y="0"/>
          <a:ext cx="0" cy="0"/>
          <a:chOff x="0" y="0"/>
          <a:chExt cx="0" cy="0"/>
        </a:xfrm>
      </p:grpSpPr>
      <p:pic>
        <p:nvPicPr>
          <p:cNvPr id="6"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latin typeface="+mj-lt"/>
                <a:cs typeface="Verdana" panose="020B0604030504040204" pitchFamily="34" charset="0"/>
              </a:defRPr>
            </a:lvl1pPr>
          </a:lstStyle>
          <a:p>
            <a:pPr lvl="0"/>
            <a:r>
              <a:rPr kumimoji="1" lang="en-US" altLang="ja-JP" dirty="0" smtClean="0"/>
              <a:t>Enter the title.</a:t>
            </a:r>
            <a:endParaRPr kumimoji="1" lang="ja-JP" altLang="en-US" dirty="0"/>
          </a:p>
        </p:txBody>
      </p:sp>
      <p:sp>
        <p:nvSpPr>
          <p:cNvPr id="12" name="コンテンツ プレースホルダー"/>
          <p:cNvSpPr>
            <a:spLocks noGrp="1"/>
          </p:cNvSpPr>
          <p:nvPr>
            <p:ph sz="quarter" idx="10" hasCustomPrompt="1"/>
          </p:nvPr>
        </p:nvSpPr>
        <p:spPr bwMode="gray">
          <a:xfrm>
            <a:off x="179512" y="836712"/>
            <a:ext cx="8784976" cy="5616476"/>
          </a:xfrm>
        </p:spPr>
        <p:txBody>
          <a:bodyPr vert="horz" lIns="91440" tIns="45720" rIns="91440" bIns="45720" rtlCol="0">
            <a:normAutofit/>
          </a:bodyPr>
          <a:lstStyle>
            <a:lvl1pPr>
              <a:defRPr lang="ja-JP" altLang="en-US" baseline="0" noProof="0" dirty="0" smtClean="0">
                <a:latin typeface="Verdana" panose="020B0604030504040204" pitchFamily="34" charset="0"/>
                <a:cs typeface="Verdana" panose="020B0604030504040204" pitchFamily="34" charset="0"/>
              </a:defRPr>
            </a:lvl1pPr>
            <a:lvl2pPr>
              <a:defRPr lang="ja-JP" altLang="en-US" noProof="0" dirty="0" smtClean="0">
                <a:latin typeface="Verdana" panose="020B0604030504040204" pitchFamily="34" charset="0"/>
                <a:cs typeface="Verdana" panose="020B0604030504040204" pitchFamily="34" charset="0"/>
              </a:defRPr>
            </a:lvl2pPr>
            <a:lvl3pPr marL="466725" indent="-107950">
              <a:defRPr lang="ja-JP" altLang="en-US" noProof="0" dirty="0" smtClean="0">
                <a:latin typeface="Verdana" panose="020B0604030504040204" pitchFamily="34" charset="0"/>
                <a:cs typeface="Verdana" panose="020B0604030504040204" pitchFamily="34" charset="0"/>
              </a:defRPr>
            </a:lvl3pPr>
            <a:lvl4pPr>
              <a:defRPr lang="ja-JP" altLang="en-US" noProof="0" dirty="0" smtClean="0">
                <a:latin typeface="Verdana" panose="020B0604030504040204" pitchFamily="34" charset="0"/>
                <a:cs typeface="Verdana" panose="020B0604030504040204" pitchFamily="34" charset="0"/>
              </a:defRPr>
            </a:lvl4pPr>
          </a:lstStyle>
          <a:p>
            <a:pPr lvl="0"/>
            <a:r>
              <a:rPr kumimoji="1" lang="en-US" altLang="ja-JP" sz="2000" b="0" i="0" u="none" strike="noStrike" kern="0" cap="none" spc="0" normalizeH="0" baseline="0" noProof="0" dirty="0" smtClean="0">
                <a:ln>
                  <a:noFill/>
                </a:ln>
                <a:solidFill>
                  <a:srgbClr val="000000"/>
                </a:solidFill>
                <a:effectLst/>
                <a:uLnTx/>
                <a:uFillTx/>
                <a:latin typeface="+mn-lt"/>
                <a:ea typeface="+mn-ea"/>
                <a:cs typeface="+mn-cs"/>
              </a:rPr>
              <a:t>Enter the text.</a:t>
            </a:r>
            <a:endParaRPr kumimoji="1" lang="ja-JP" altLang="en-US" sz="2000" b="0" i="0" u="none" strike="noStrike" kern="0" cap="none" spc="0" normalizeH="0" baseline="0" noProof="0" dirty="0" smtClean="0">
              <a:ln>
                <a:noFill/>
              </a:ln>
              <a:solidFill>
                <a:srgbClr val="000000"/>
              </a:solidFill>
              <a:effectLst/>
              <a:uLnTx/>
              <a:uFillTx/>
              <a:latin typeface="+mn-lt"/>
              <a:ea typeface="+mn-ea"/>
              <a:cs typeface="+mn-cs"/>
            </a:endParaRPr>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408339288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ead 1 line &amp; Content(white)">
    <p:spTree>
      <p:nvGrpSpPr>
        <p:cNvPr id="1" name=""/>
        <p:cNvGrpSpPr/>
        <p:nvPr/>
      </p:nvGrpSpPr>
      <p:grpSpPr>
        <a:xfrm>
          <a:off x="0" y="0"/>
          <a:ext cx="0" cy="0"/>
          <a:chOff x="0" y="0"/>
          <a:chExt cx="0" cy="0"/>
        </a:xfrm>
      </p:grpSpPr>
      <p:pic>
        <p:nvPicPr>
          <p:cNvPr id="1026"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8287" y="836613"/>
            <a:ext cx="8785226" cy="432000"/>
          </a:xfrm>
          <a:prstGeom prst="roundRect">
            <a:avLst>
              <a:gd name="adj" fmla="val 13830"/>
            </a:avLst>
          </a:prstGeom>
          <a:solidFill>
            <a:schemeClr val="accent6">
              <a:lumMod val="75000"/>
              <a:lumOff val="25000"/>
            </a:schemeClr>
          </a:solidFill>
          <a:effectLst>
            <a:outerShdw blurRad="50800" dist="38100" dir="5400000" algn="t" rotWithShape="0">
              <a:prstClr val="black">
                <a:alpha val="40000"/>
              </a:prstClr>
            </a:outerShdw>
          </a:effectLst>
        </p:spPr>
        <p:txBody>
          <a:bodyPr wrap="square" tIns="45720" bIns="45720">
            <a:noAutofit/>
          </a:bodyPr>
          <a:lstStyle>
            <a:lvl1pPr marL="0" indent="0" algn="l" eaLnBrk="1" hangingPunct="1">
              <a:spcBef>
                <a:spcPts val="0"/>
              </a:spcBef>
              <a:buNone/>
              <a:defRPr baseline="0">
                <a:solidFill>
                  <a:schemeClr val="bg1"/>
                </a:solidFill>
                <a:latin typeface="+mj-lt"/>
                <a:cs typeface="Verdana" panose="020B0604030504040204" pitchFamily="34" charset="0"/>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one-line headline</a:t>
            </a:r>
            <a:endParaRPr kumimoji="1" lang="ja-JP" altLang="en-US" dirty="0"/>
          </a:p>
        </p:txBody>
      </p:sp>
      <p:sp>
        <p:nvSpPr>
          <p:cNvPr id="12" name="コンテンツ プレースホルダー"/>
          <p:cNvSpPr>
            <a:spLocks noGrp="1"/>
          </p:cNvSpPr>
          <p:nvPr>
            <p:ph sz="quarter" idx="10" hasCustomPrompt="1"/>
          </p:nvPr>
        </p:nvSpPr>
        <p:spPr bwMode="gray">
          <a:xfrm>
            <a:off x="179388" y="1413188"/>
            <a:ext cx="8785225" cy="5040000"/>
          </a:xfrm>
        </p:spPr>
        <p:txBody>
          <a:bodyPr vert="horz" lIns="91440" tIns="45720" rIns="91440" bIns="45720" rtlCol="0">
            <a:normAutofit/>
          </a:bodyPr>
          <a:lstStyle>
            <a:lvl1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4pPr>
          </a:lstStyle>
          <a:p>
            <a:pPr lvl="0"/>
            <a:r>
              <a:rPr kumimoji="1" lang="en-US" altLang="ja-JP" sz="2000" b="0" i="0" u="none" strike="noStrike" kern="0" cap="none" spc="0" normalizeH="0" baseline="0" noProof="0" dirty="0" smtClean="0">
                <a:ln>
                  <a:noFill/>
                </a:ln>
                <a:solidFill>
                  <a:srgbClr val="000000"/>
                </a:solidFill>
                <a:effectLst/>
                <a:uLnTx/>
                <a:uFillTx/>
                <a:latin typeface="+mn-lt"/>
                <a:ea typeface="+mn-ea"/>
                <a:cs typeface="+mn-cs"/>
              </a:rPr>
              <a:t>Enter the text.</a:t>
            </a:r>
            <a:endParaRPr kumimoji="1" lang="ja-JP" altLang="en-US" sz="2000" b="0" i="0" u="none" strike="noStrike" kern="0" cap="none" spc="0" normalizeH="0" baseline="0" noProof="0" dirty="0" smtClean="0">
              <a:ln>
                <a:noFill/>
              </a:ln>
              <a:solidFill>
                <a:srgbClr val="000000"/>
              </a:solidFill>
              <a:effectLst/>
              <a:uLnTx/>
              <a:uFillTx/>
              <a:latin typeface="+mn-lt"/>
              <a:ea typeface="+mn-ea"/>
              <a:cs typeface="+mn-cs"/>
            </a:endParaRPr>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143466424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ead 2 lines &amp; Content(white)">
    <p:spTree>
      <p:nvGrpSpPr>
        <p:cNvPr id="1" name=""/>
        <p:cNvGrpSpPr/>
        <p:nvPr/>
      </p:nvGrpSpPr>
      <p:grpSpPr>
        <a:xfrm>
          <a:off x="0" y="0"/>
          <a:ext cx="0" cy="0"/>
          <a:chOff x="0" y="0"/>
          <a:chExt cx="0" cy="0"/>
        </a:xfrm>
      </p:grpSpPr>
      <p:pic>
        <p:nvPicPr>
          <p:cNvPr id="7"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9" name="テキスト プレースホルダー"/>
          <p:cNvSpPr>
            <a:spLocks noGrp="1"/>
          </p:cNvSpPr>
          <p:nvPr>
            <p:ph type="body" sz="quarter" idx="11" hasCustomPrompt="1"/>
          </p:nvPr>
        </p:nvSpPr>
        <p:spPr bwMode="gray">
          <a:xfrm>
            <a:off x="179388" y="836613"/>
            <a:ext cx="8784000" cy="756000"/>
          </a:xfrm>
          <a:prstGeom prst="roundRect">
            <a:avLst>
              <a:gd name="adj" fmla="val 7924"/>
            </a:avLst>
          </a:prstGeom>
          <a:solidFill>
            <a:schemeClr val="accent6">
              <a:lumMod val="75000"/>
              <a:lumOff val="25000"/>
            </a:schemeClr>
          </a:solidFill>
          <a:effectLst>
            <a:outerShdw blurRad="50800" dist="38100" dir="5400000" algn="t" rotWithShape="0">
              <a:prstClr val="black">
                <a:alpha val="40000"/>
              </a:prstClr>
            </a:outerShdw>
          </a:effectLst>
        </p:spPr>
        <p:txBody>
          <a:bodyPr tIns="45720" bIns="45720" anchor="ctr">
            <a:noAutofit/>
          </a:bodyPr>
          <a:lstStyle>
            <a:lvl1pPr marL="0" indent="0" algn="l" eaLnBrk="1" hangingPunct="1">
              <a:spcBef>
                <a:spcPts val="0"/>
              </a:spcBef>
              <a:buNone/>
              <a:defRPr baseline="0">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two-line headline</a:t>
            </a:r>
            <a:endParaRPr kumimoji="1" lang="ja-JP" altLang="en-US" dirty="0"/>
          </a:p>
        </p:txBody>
      </p:sp>
      <p:sp>
        <p:nvSpPr>
          <p:cNvPr id="10" name="コンテンツ プレースホルダー"/>
          <p:cNvSpPr>
            <a:spLocks noGrp="1"/>
          </p:cNvSpPr>
          <p:nvPr>
            <p:ph sz="quarter" idx="10" hasCustomPrompt="1"/>
          </p:nvPr>
        </p:nvSpPr>
        <p:spPr bwMode="gray">
          <a:xfrm>
            <a:off x="178412" y="1737188"/>
            <a:ext cx="8784976" cy="4714412"/>
          </a:xfrm>
        </p:spPr>
        <p:txBody>
          <a:bodyPr vert="horz" lIns="90000" tIns="45720" rIns="90000" bIns="45720" rtlCol="0">
            <a:noAutofit/>
          </a:bodyPr>
          <a:lstStyle>
            <a:lvl1pPr>
              <a:defRPr lang="ja-JP" altLang="en-US" i="0" u="none" strike="noStrike" kern="0" cap="none" spc="0" normalizeH="0" baseline="0" dirty="0" smtClean="0">
                <a:ln>
                  <a:noFill/>
                </a:ln>
                <a:solidFill>
                  <a:srgbClr val="000000"/>
                </a:solidFill>
                <a:effectLst/>
                <a:uLnTx/>
                <a:uFillTx/>
                <a:latin typeface="+mn-lt"/>
              </a:defRPr>
            </a:lvl1pPr>
            <a:lvl2pPr>
              <a:defRPr lang="ja-JP" altLang="en-US" i="0" u="none" strike="noStrike" kern="0" cap="none" spc="0" normalizeH="0" baseline="0" dirty="0" smtClean="0">
                <a:ln>
                  <a:noFill/>
                </a:ln>
                <a:solidFill>
                  <a:srgbClr val="000000"/>
                </a:solidFill>
                <a:effectLst/>
                <a:uLnTx/>
                <a:uFillTx/>
                <a:latin typeface="+mn-lt"/>
              </a:defRPr>
            </a:lvl2pPr>
            <a:lvl3pPr>
              <a:defRPr lang="ja-JP" altLang="en-US" i="0" u="none" strike="noStrike" kern="0" cap="none" spc="0" normalizeH="0" baseline="0" dirty="0" smtClean="0">
                <a:ln>
                  <a:noFill/>
                </a:ln>
                <a:solidFill>
                  <a:srgbClr val="000000"/>
                </a:solidFill>
                <a:effectLst/>
                <a:uLnTx/>
                <a:uFillTx/>
                <a:latin typeface="+mn-lt"/>
              </a:defRPr>
            </a:lvl3pPr>
            <a:lvl4pPr>
              <a:defRPr lang="ja-JP" altLang="en-US" i="0" u="none" strike="noStrike" kern="0" cap="none" spc="0" normalizeH="0" baseline="0" dirty="0" smtClean="0">
                <a:ln>
                  <a:noFill/>
                </a:ln>
                <a:solidFill>
                  <a:srgbClr val="000000"/>
                </a:solidFill>
                <a:effectLst/>
                <a:uLnTx/>
                <a:uFillTx/>
                <a:latin typeface="+mn-lt"/>
              </a:defRPr>
            </a:lvl4pPr>
          </a:lstStyle>
          <a:p>
            <a:pPr marR="0" lvl="0" defTabSz="914400" eaLnBrk="0" latinLnBrk="0">
              <a:lnSpc>
                <a:spcPct val="100000"/>
              </a:lnSpc>
              <a:buClr>
                <a:srgbClr val="002B62"/>
              </a:buClr>
              <a:buSzTx/>
              <a:tabLst/>
            </a:pPr>
            <a:r>
              <a:rPr kumimoji="1" lang="en-US" altLang="ja-JP" dirty="0" smtClean="0"/>
              <a:t>Enter the text.</a:t>
            </a:r>
            <a:endParaRPr kumimoji="1" lang="ja-JP" altLang="en-US" dirty="0" smtClean="0"/>
          </a:p>
          <a:p>
            <a:pPr marR="0" lvl="1" defTabSz="914400" eaLnBrk="0" latinLnBrk="0">
              <a:lnSpc>
                <a:spcPct val="100000"/>
              </a:lnSpc>
              <a:buClr>
                <a:srgbClr val="002B62"/>
              </a:buClr>
              <a:buSzTx/>
              <a:tabLst/>
            </a:pPr>
            <a:r>
              <a:rPr kumimoji="1" lang="en-US" altLang="ja-JP" dirty="0" smtClean="0"/>
              <a:t>Second level</a:t>
            </a:r>
            <a:endParaRPr kumimoji="1" lang="ja-JP" altLang="en-US" dirty="0" smtClean="0"/>
          </a:p>
          <a:p>
            <a:pPr marR="0" lvl="2" defTabSz="914400" eaLnBrk="0" latinLnBrk="0">
              <a:lnSpc>
                <a:spcPct val="100000"/>
              </a:lnSpc>
              <a:buClr>
                <a:srgbClr val="002B62"/>
              </a:buClr>
              <a:buSzTx/>
              <a:tabLst/>
            </a:pPr>
            <a:r>
              <a:rPr kumimoji="1" lang="en-US" altLang="ja-JP" dirty="0" smtClean="0"/>
              <a:t>Third level</a:t>
            </a:r>
            <a:endParaRPr kumimoji="1" lang="ja-JP" altLang="en-US" dirty="0" smtClean="0"/>
          </a:p>
          <a:p>
            <a:pPr marR="0" lvl="3" defTabSz="914400" eaLnBrk="0" latinLnBrk="0">
              <a:lnSpc>
                <a:spcPct val="100000"/>
              </a:lnSpc>
              <a:buClr>
                <a:srgbClr val="002B62"/>
              </a:buClr>
              <a:buSzTx/>
              <a:tabLst/>
            </a:pPr>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18692444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white)">
    <p:spTree>
      <p:nvGrpSpPr>
        <p:cNvPr id="1" name=""/>
        <p:cNvGrpSpPr/>
        <p:nvPr/>
      </p:nvGrpSpPr>
      <p:grpSpPr>
        <a:xfrm>
          <a:off x="0" y="0"/>
          <a:ext cx="0" cy="0"/>
          <a:chOff x="0" y="0"/>
          <a:chExt cx="0" cy="0"/>
        </a:xfrm>
      </p:grpSpPr>
      <p:pic>
        <p:nvPicPr>
          <p:cNvPr id="10"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6" name="コンテンツ プレースホルダー"/>
          <p:cNvSpPr>
            <a:spLocks noGrp="1"/>
          </p:cNvSpPr>
          <p:nvPr>
            <p:ph sz="quarter" idx="10" hasCustomPrompt="1"/>
          </p:nvPr>
        </p:nvSpPr>
        <p:spPr bwMode="gray">
          <a:xfrm>
            <a:off x="179388" y="836613"/>
            <a:ext cx="4248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000000"/>
                </a:solidFill>
                <a:effectLst/>
                <a:uLnTx/>
                <a:uFillTx/>
                <a:latin typeface="+mn-lt"/>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4pPr>
          </a:lstStyle>
          <a:p>
            <a:pPr lvl="0"/>
            <a:r>
              <a:rPr kumimoji="1" lang="en-US" altLang="ja-JP" dirty="0" smtClean="0"/>
              <a:t>Enter the text</a:t>
            </a:r>
            <a:endParaRPr kumimoji="1" lang="ja-JP" altLang="en-US" dirty="0" smtClean="0"/>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
        <p:nvSpPr>
          <p:cNvPr id="7" name="コンテンツ プレースホルダー"/>
          <p:cNvSpPr>
            <a:spLocks noGrp="1"/>
          </p:cNvSpPr>
          <p:nvPr>
            <p:ph sz="quarter" idx="11" hasCustomPrompt="1"/>
          </p:nvPr>
        </p:nvSpPr>
        <p:spPr bwMode="gray">
          <a:xfrm>
            <a:off x="4716613" y="836613"/>
            <a:ext cx="4248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000000"/>
                </a:solidFill>
                <a:effectLst/>
                <a:uLnTx/>
                <a:uFillTx/>
                <a:latin typeface="+mn-lt"/>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4pPr>
          </a:lstStyle>
          <a:p>
            <a:pPr lvl="0"/>
            <a:r>
              <a:rPr kumimoji="1" lang="en-US" altLang="ja-JP" dirty="0" smtClean="0"/>
              <a:t>Enter the text.</a:t>
            </a:r>
            <a:endParaRPr kumimoji="1" lang="ja-JP" altLang="en-US" dirty="0" smtClean="0"/>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46132828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568642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blue)">
    <p:bg bwMode="ltGray">
      <p:bgPr>
        <a:solidFill>
          <a:schemeClr val="accent6"/>
        </a:solidFill>
        <a:effectLst/>
      </p:bgPr>
    </p:bg>
    <p:spTree>
      <p:nvGrpSpPr>
        <p:cNvPr id="1" name=""/>
        <p:cNvGrpSpPr/>
        <p:nvPr/>
      </p:nvGrpSpPr>
      <p:grpSpPr>
        <a:xfrm>
          <a:off x="0" y="0"/>
          <a:ext cx="0" cy="0"/>
          <a:chOff x="0" y="0"/>
          <a:chExt cx="0" cy="0"/>
        </a:xfrm>
      </p:grpSpPr>
      <p:pic>
        <p:nvPicPr>
          <p:cNvPr id="3" name="図 2"/>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Tree>
    <p:extLst>
      <p:ext uri="{BB962C8B-B14F-4D97-AF65-F5344CB8AC3E}">
        <p14:creationId xmlns:p14="http://schemas.microsoft.com/office/powerpoint/2010/main" val="16200204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mp; Content(blue)">
    <p:bg bwMode="ltGray">
      <p:bgPr>
        <a:solidFill>
          <a:schemeClr val="accent6"/>
        </a:solidFill>
        <a:effectLst/>
      </p:bgPr>
    </p:bg>
    <p:spTree>
      <p:nvGrpSpPr>
        <p:cNvPr id="1" name=""/>
        <p:cNvGrpSpPr/>
        <p:nvPr/>
      </p:nvGrpSpPr>
      <p:grpSpPr>
        <a:xfrm>
          <a:off x="0" y="0"/>
          <a:ext cx="0" cy="0"/>
          <a:chOff x="0" y="0"/>
          <a:chExt cx="0" cy="0"/>
        </a:xfrm>
      </p:grpSpPr>
      <p:pic>
        <p:nvPicPr>
          <p:cNvPr id="5" name="図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4" name="コンテンツ プレースホルダー"/>
          <p:cNvSpPr>
            <a:spLocks noGrp="1"/>
          </p:cNvSpPr>
          <p:nvPr>
            <p:ph sz="quarter" idx="10" hasCustomPrompt="1"/>
          </p:nvPr>
        </p:nvSpPr>
        <p:spPr bwMode="gray">
          <a:xfrm>
            <a:off x="179512" y="836712"/>
            <a:ext cx="8784976"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273541170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ad 1 line &amp; Content(blue)">
    <p:bg bwMode="ltGray">
      <p:bgPr>
        <a:solidFill>
          <a:schemeClr val="accent6"/>
        </a:solidFill>
        <a:effectLst/>
      </p:bgPr>
    </p:bg>
    <p:spTree>
      <p:nvGrpSpPr>
        <p:cNvPr id="1" name=""/>
        <p:cNvGrpSpPr/>
        <p:nvPr/>
      </p:nvGrpSpPr>
      <p:grpSpPr>
        <a:xfrm>
          <a:off x="0" y="0"/>
          <a:ext cx="0" cy="0"/>
          <a:chOff x="0" y="0"/>
          <a:chExt cx="0" cy="0"/>
        </a:xfrm>
      </p:grpSpPr>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8287" y="836613"/>
            <a:ext cx="8785226" cy="432000"/>
          </a:xfrm>
          <a:prstGeom prst="roundRect">
            <a:avLst>
              <a:gd name="adj" fmla="val 13830"/>
            </a:avLst>
          </a:prstGeom>
          <a:solidFill>
            <a:schemeClr val="accent6">
              <a:lumMod val="75000"/>
              <a:lumOff val="25000"/>
            </a:schemeClr>
          </a:solidFill>
          <a:effectLst>
            <a:outerShdw blurRad="50800" dist="38100" dir="5400000" algn="t" rotWithShape="0">
              <a:prstClr val="black">
                <a:alpha val="40000"/>
              </a:prstClr>
            </a:outerShdw>
          </a:effectLst>
        </p:spPr>
        <p:txBody>
          <a:bodyPr wrap="square" tIns="45720" bIns="45720">
            <a:noAutofit/>
          </a:bodyPr>
          <a:lstStyle>
            <a:lvl1pPr marL="0" indent="0" algn="l" eaLnBrk="1" hangingPunct="1">
              <a:spcBef>
                <a:spcPts val="0"/>
              </a:spcBef>
              <a:buNone/>
              <a:defRPr>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when the leading sentence is written on one line.</a:t>
            </a:r>
            <a:endParaRPr kumimoji="1" lang="ja-JP" altLang="en-US" dirty="0"/>
          </a:p>
        </p:txBody>
      </p:sp>
      <p:sp>
        <p:nvSpPr>
          <p:cNvPr id="8" name="コンテンツ プレースホルダー"/>
          <p:cNvSpPr>
            <a:spLocks noGrp="1"/>
          </p:cNvSpPr>
          <p:nvPr>
            <p:ph sz="quarter" idx="10" hasCustomPrompt="1"/>
          </p:nvPr>
        </p:nvSpPr>
        <p:spPr bwMode="gray">
          <a:xfrm>
            <a:off x="179512" y="1414800"/>
            <a:ext cx="8784976" cy="5040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405480195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ad 2 lines &amp; Content(blue)">
    <p:bg bwMode="ltGray">
      <p:bgPr>
        <a:solidFill>
          <a:schemeClr val="accent6"/>
        </a:solidFill>
        <a:effectLst/>
      </p:bgPr>
    </p:bg>
    <p:spTree>
      <p:nvGrpSpPr>
        <p:cNvPr id="1" name=""/>
        <p:cNvGrpSpPr/>
        <p:nvPr/>
      </p:nvGrpSpPr>
      <p:grpSpPr>
        <a:xfrm>
          <a:off x="0" y="0"/>
          <a:ext cx="0" cy="0"/>
          <a:chOff x="0" y="0"/>
          <a:chExt cx="0" cy="0"/>
        </a:xfrm>
      </p:grpSpPr>
      <p:pic>
        <p:nvPicPr>
          <p:cNvPr id="7" name="図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9388" y="836613"/>
            <a:ext cx="8784000" cy="756000"/>
          </a:xfrm>
          <a:prstGeom prst="roundRect">
            <a:avLst>
              <a:gd name="adj" fmla="val 7924"/>
            </a:avLst>
          </a:prstGeom>
          <a:solidFill>
            <a:schemeClr val="accent6">
              <a:lumMod val="75000"/>
              <a:lumOff val="25000"/>
            </a:schemeClr>
          </a:solidFill>
          <a:effectLst>
            <a:outerShdw blurRad="50800" dist="38100" dir="5400000" algn="t" rotWithShape="0">
              <a:prstClr val="black">
                <a:alpha val="40000"/>
              </a:prstClr>
            </a:outerShdw>
          </a:effectLst>
        </p:spPr>
        <p:txBody>
          <a:bodyPr tIns="45720" bIns="45720" anchor="ctr">
            <a:noAutofit/>
          </a:bodyPr>
          <a:lstStyle>
            <a:lvl1pPr marL="0" indent="0" algn="l" eaLnBrk="1" hangingPunct="1">
              <a:spcBef>
                <a:spcPts val="0"/>
              </a:spcBef>
              <a:buNone/>
              <a:defRPr baseline="0">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one-line headline</a:t>
            </a:r>
            <a:endParaRPr kumimoji="1" lang="ja-JP" altLang="en-US" dirty="0"/>
          </a:p>
        </p:txBody>
      </p:sp>
      <p:sp>
        <p:nvSpPr>
          <p:cNvPr id="18" name="コンテンツ プレースホルダー"/>
          <p:cNvSpPr>
            <a:spLocks noGrp="1"/>
          </p:cNvSpPr>
          <p:nvPr>
            <p:ph sz="quarter" idx="10" hasCustomPrompt="1"/>
          </p:nvPr>
        </p:nvSpPr>
        <p:spPr bwMode="gray">
          <a:xfrm>
            <a:off x="179512" y="1738800"/>
            <a:ext cx="8784976" cy="47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79497443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blue)">
    <p:bg bwMode="ltGray">
      <p:bgPr>
        <a:solidFill>
          <a:schemeClr val="accent6"/>
        </a:solidFill>
        <a:effectLst/>
      </p:bgPr>
    </p:bg>
    <p:spTree>
      <p:nvGrpSpPr>
        <p:cNvPr id="1" name=""/>
        <p:cNvGrpSpPr/>
        <p:nvPr/>
      </p:nvGrpSpPr>
      <p:grpSpPr>
        <a:xfrm>
          <a:off x="0" y="0"/>
          <a:ext cx="0" cy="0"/>
          <a:chOff x="0" y="0"/>
          <a:chExt cx="0" cy="0"/>
        </a:xfrm>
      </p:grpSpPr>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4" name="コンテンツ プレースホルダー"/>
          <p:cNvSpPr>
            <a:spLocks noGrp="1"/>
          </p:cNvSpPr>
          <p:nvPr>
            <p:ph sz="quarter" idx="10" hasCustomPrompt="1"/>
          </p:nvPr>
        </p:nvSpPr>
        <p:spPr bwMode="gray">
          <a:xfrm>
            <a:off x="179512" y="836712"/>
            <a:ext cx="4248000"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
        <p:nvSpPr>
          <p:cNvPr id="8" name="コンテンツ プレースホルダー"/>
          <p:cNvSpPr>
            <a:spLocks noGrp="1"/>
          </p:cNvSpPr>
          <p:nvPr>
            <p:ph sz="quarter" idx="11" hasCustomPrompt="1"/>
          </p:nvPr>
        </p:nvSpPr>
        <p:spPr bwMode="gray">
          <a:xfrm>
            <a:off x="4715513" y="836712"/>
            <a:ext cx="4248000"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14628074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blue)">
    <p:bg bwMode="ltGray">
      <p:bgPr>
        <a:solidFill>
          <a:schemeClr val="accent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63507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rporate Mark">
    <p:spTree>
      <p:nvGrpSpPr>
        <p:cNvPr id="1" name=""/>
        <p:cNvGrpSpPr/>
        <p:nvPr/>
      </p:nvGrpSpPr>
      <p:grpSpPr>
        <a:xfrm>
          <a:off x="0" y="0"/>
          <a:ext cx="0" cy="0"/>
          <a:chOff x="0" y="0"/>
          <a:chExt cx="0" cy="0"/>
        </a:xfrm>
      </p:grpSpPr>
      <p:pic>
        <p:nvPicPr>
          <p:cNvPr id="2"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3"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spTree>
    <p:extLst>
      <p:ext uri="{BB962C8B-B14F-4D97-AF65-F5344CB8AC3E}">
        <p14:creationId xmlns:p14="http://schemas.microsoft.com/office/powerpoint/2010/main" val="94308015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pic>
        <p:nvPicPr>
          <p:cNvPr id="4" name="Footer"/>
          <p:cNvPicPr>
            <a:picLocks noChangeAspect="1"/>
          </p:cNvPicPr>
          <p:nvPr/>
        </p:nvPicPr>
        <p:blipFill>
          <a:blip r:embed="rId20">
            <a:extLst>
              <a:ext uri="{28A0092B-C50C-407E-A947-70E740481C1C}">
                <a14:useLocalDpi xmlns:a14="http://schemas.microsoft.com/office/drawing/2010/main" val="0"/>
              </a:ext>
            </a:extLst>
          </a:blip>
          <a:stretch>
            <a:fillRect/>
          </a:stretch>
        </p:blipFill>
        <p:spPr bwMode="invGray">
          <a:xfrm>
            <a:off x="0" y="6549391"/>
            <a:ext cx="9143999" cy="308609"/>
          </a:xfrm>
          <a:prstGeom prst="rect">
            <a:avLst/>
          </a:prstGeom>
        </p:spPr>
      </p:pic>
      <p:sp>
        <p:nvSpPr>
          <p:cNvPr id="2" name="タイトル プレースホルダー"/>
          <p:cNvSpPr>
            <a:spLocks noGrp="1"/>
          </p:cNvSpPr>
          <p:nvPr>
            <p:ph type="title"/>
          </p:nvPr>
        </p:nvSpPr>
        <p:spPr bwMode="gray">
          <a:xfrm>
            <a:off x="179387" y="108000"/>
            <a:ext cx="8785225" cy="468000"/>
          </a:xfrm>
          <a:prstGeom prst="rect">
            <a:avLst/>
          </a:prstGeom>
        </p:spPr>
        <p:txBody>
          <a:bodyPr vert="horz" lIns="91440" tIns="45720" rIns="91440" bIns="45720" rtlCol="0" anchor="ctr">
            <a:noAutofit/>
          </a:bodyPr>
          <a:lstStyle/>
          <a:p>
            <a:r>
              <a:rPr kumimoji="1" lang="en-US" altLang="ja-JP" dirty="0" smtClean="0"/>
              <a:t>Formatting for the master title</a:t>
            </a:r>
            <a:endParaRPr kumimoji="1" lang="ja-JP" altLang="en-US" dirty="0"/>
          </a:p>
        </p:txBody>
      </p:sp>
      <p:sp>
        <p:nvSpPr>
          <p:cNvPr id="3" name="テキスト プレースホルダー"/>
          <p:cNvSpPr>
            <a:spLocks noGrp="1"/>
          </p:cNvSpPr>
          <p:nvPr>
            <p:ph type="body" idx="1"/>
          </p:nvPr>
        </p:nvSpPr>
        <p:spPr bwMode="gray">
          <a:xfrm>
            <a:off x="179387" y="836614"/>
            <a:ext cx="8785226" cy="5616574"/>
          </a:xfrm>
          <a:prstGeom prst="rect">
            <a:avLst/>
          </a:prstGeom>
        </p:spPr>
        <p:txBody>
          <a:bodyPr vert="horz" lIns="91440" tIns="45720" rIns="91440" bIns="45720" rtlCol="0">
            <a:normAutofit/>
          </a:bodyPr>
          <a:lstStyle/>
          <a:p>
            <a:pPr lvl="0"/>
            <a:r>
              <a:rPr kumimoji="1" lang="en-US" altLang="ja-JP" dirty="0" smtClean="0"/>
              <a:t>Formatting for the master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
        <p:nvSpPr>
          <p:cNvPr id="8" name="PageNumber"/>
          <p:cNvSpPr txBox="1"/>
          <p:nvPr/>
        </p:nvSpPr>
        <p:spPr bwMode="black">
          <a:xfrm>
            <a:off x="168810" y="6597840"/>
            <a:ext cx="684000" cy="234000"/>
          </a:xfrm>
          <a:prstGeom prst="rect">
            <a:avLst/>
          </a:prstGeom>
          <a:noFill/>
        </p:spPr>
        <p:txBody>
          <a:bodyPr wrap="none" tIns="4572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0" i="0" u="none" strike="noStrike" kern="1200" cap="none" spc="0" normalizeH="0" baseline="0" noProof="0" smtClean="0">
                <a:ln>
                  <a:noFill/>
                </a:ln>
                <a:solidFill>
                  <a:srgbClr val="FFFFFF"/>
                </a:solidFill>
                <a:effectLst/>
                <a:uLnTx/>
                <a:uFillTx/>
                <a:latin typeface="Verdana" panose="020B0604030504040204" pitchFamily="34" charset="0"/>
                <a:ea typeface="+mn-ea"/>
                <a:cs typeface="Verdana" panose="020B060403050404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dirty="0" smtClean="0">
              <a:ln>
                <a:noFill/>
              </a:ln>
              <a:solidFill>
                <a:srgbClr val="FFFFFF"/>
              </a:solidFill>
              <a:effectLst/>
              <a:uLnTx/>
              <a:uFillTx/>
              <a:latin typeface="Verdana" panose="020B0604030504040204" pitchFamily="34" charset="0"/>
              <a:ea typeface="+mn-ea"/>
              <a:cs typeface="Verdana" panose="020B0604030504040204" pitchFamily="34" charset="0"/>
            </a:endParaRPr>
          </a:p>
        </p:txBody>
      </p:sp>
      <p:sp>
        <p:nvSpPr>
          <p:cNvPr id="9" name="Credit"/>
          <p:cNvSpPr txBox="1"/>
          <p:nvPr/>
        </p:nvSpPr>
        <p:spPr bwMode="black">
          <a:xfrm>
            <a:off x="1096858" y="6597840"/>
            <a:ext cx="1638590" cy="230832"/>
          </a:xfrm>
          <a:prstGeom prst="rect">
            <a:avLst/>
          </a:prstGeom>
          <a:noFill/>
        </p:spPr>
        <p:txBody>
          <a:bodyPr wrap="none" tIns="4572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 NEC Corporation 2015</a:t>
            </a:r>
          </a:p>
        </p:txBody>
      </p:sp>
      <p:sp>
        <p:nvSpPr>
          <p:cNvPr id="10" name="Confidential"/>
          <p:cNvSpPr txBox="1"/>
          <p:nvPr/>
        </p:nvSpPr>
        <p:spPr bwMode="black">
          <a:xfrm>
            <a:off x="3621250" y="6597840"/>
            <a:ext cx="1882247" cy="230832"/>
          </a:xfrm>
          <a:prstGeom prst="rect">
            <a:avLst/>
          </a:prstGeom>
          <a:noFill/>
        </p:spPr>
        <p:txBody>
          <a:bodyPr wrap="none" tIns="4572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NEC Group Internal Use Only</a:t>
            </a:r>
          </a:p>
        </p:txBody>
      </p:sp>
      <p:pic>
        <p:nvPicPr>
          <p:cNvPr id="11" name="Foote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bwMode="invGray">
          <a:xfrm>
            <a:off x="0" y="6549391"/>
            <a:ext cx="9143999" cy="308609"/>
          </a:xfrm>
          <a:prstGeom prst="rect">
            <a:avLst/>
          </a:prstGeom>
        </p:spPr>
      </p:pic>
      <p:sp>
        <p:nvSpPr>
          <p:cNvPr id="12" name="PageNumber"/>
          <p:cNvSpPr txBox="1"/>
          <p:nvPr userDrawn="1"/>
        </p:nvSpPr>
        <p:spPr bwMode="black">
          <a:xfrm>
            <a:off x="168810" y="6597840"/>
            <a:ext cx="684000" cy="234000"/>
          </a:xfrm>
          <a:prstGeom prst="rect">
            <a:avLst/>
          </a:prstGeom>
          <a:noFill/>
        </p:spPr>
        <p:txBody>
          <a:bodyPr wrap="none" tIns="4572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0" i="0" u="none" strike="noStrike" kern="1200" cap="none" spc="0" normalizeH="0" baseline="0" noProof="0" smtClean="0">
                <a:ln>
                  <a:noFill/>
                </a:ln>
                <a:solidFill>
                  <a:srgbClr val="FFFFFF"/>
                </a:solidFill>
                <a:effectLst/>
                <a:uLnTx/>
                <a:uFillTx/>
                <a:latin typeface="+mn-lt"/>
                <a:ea typeface="+mn-ea"/>
                <a:cs typeface="Verdana" panose="020B060403050404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dirty="0" smtClean="0">
              <a:ln>
                <a:noFill/>
              </a:ln>
              <a:solidFill>
                <a:srgbClr val="FFFFFF"/>
              </a:solidFill>
              <a:effectLst/>
              <a:uLnTx/>
              <a:uFillTx/>
              <a:latin typeface="+mn-lt"/>
              <a:ea typeface="+mn-ea"/>
              <a:cs typeface="Verdana" panose="020B0604030504040204" pitchFamily="34" charset="0"/>
            </a:endParaRPr>
          </a:p>
        </p:txBody>
      </p:sp>
      <p:sp>
        <p:nvSpPr>
          <p:cNvPr id="13" name="Credit"/>
          <p:cNvSpPr txBox="1"/>
          <p:nvPr userDrawn="1"/>
        </p:nvSpPr>
        <p:spPr bwMode="black">
          <a:xfrm>
            <a:off x="1096858" y="6597840"/>
            <a:ext cx="1638590" cy="230832"/>
          </a:xfrm>
          <a:prstGeom prst="rect">
            <a:avLst/>
          </a:prstGeom>
          <a:noFill/>
        </p:spPr>
        <p:txBody>
          <a:bodyPr wrap="none" tIns="4572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mn-lt"/>
                <a:ea typeface="Verdana" panose="020B0604030504040204" pitchFamily="34" charset="0"/>
                <a:cs typeface="Verdana" panose="020B0604030504040204" pitchFamily="34" charset="0"/>
              </a:rPr>
              <a:t>© NEC Corporation 2016</a:t>
            </a:r>
          </a:p>
        </p:txBody>
      </p:sp>
      <p:sp>
        <p:nvSpPr>
          <p:cNvPr id="14" name="Confidential"/>
          <p:cNvSpPr txBox="1"/>
          <p:nvPr userDrawn="1"/>
        </p:nvSpPr>
        <p:spPr bwMode="black">
          <a:xfrm>
            <a:off x="3621250" y="6597840"/>
            <a:ext cx="1882247" cy="230832"/>
          </a:xfrm>
          <a:prstGeom prst="rect">
            <a:avLst/>
          </a:prstGeom>
          <a:noFill/>
        </p:spPr>
        <p:txBody>
          <a:bodyPr wrap="none" tIns="4572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mn-lt"/>
                <a:ea typeface="Verdana" panose="020B0604030504040204" pitchFamily="34" charset="0"/>
                <a:cs typeface="Verdana" panose="020B0604030504040204" pitchFamily="34" charset="0"/>
              </a:rPr>
              <a:t>NEC Group Internal Use Only</a:t>
            </a:r>
          </a:p>
        </p:txBody>
      </p:sp>
    </p:spTree>
    <p:extLst>
      <p:ext uri="{BB962C8B-B14F-4D97-AF65-F5344CB8AC3E}">
        <p14:creationId xmlns:p14="http://schemas.microsoft.com/office/powerpoint/2010/main" val="654157217"/>
      </p:ext>
    </p:extLst>
  </p:cSld>
  <p:clrMap bg1="lt1" tx1="dk1" bg2="lt2" tx2="dk2" accent1="accent1" accent2="accent2" accent3="accent3" accent4="accent4" accent5="accent5" accent6="accent6" hlink="hlink" folHlink="folHlink"/>
  <p:sldLayoutIdLst>
    <p:sldLayoutId id="2147483725" r:id="rId1"/>
    <p:sldLayoutId id="2147483707" r:id="rId2"/>
    <p:sldLayoutId id="2147483708" r:id="rId3"/>
    <p:sldLayoutId id="2147483709" r:id="rId4"/>
    <p:sldLayoutId id="2147483710"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Lst>
  <p:timing>
    <p:tnLst>
      <p:par>
        <p:cTn id="1" dur="indefinite" restart="never" nodeType="tmRoot"/>
      </p:par>
    </p:tnLst>
  </p:timing>
  <p:hf sldNum="0" hdr="0" ftr="0" dt="0"/>
  <p:txStyles>
    <p:titleStyle>
      <a:lvl1pPr algn="l" rtl="0" eaLnBrk="1" fontAlgn="base" hangingPunct="1">
        <a:spcBef>
          <a:spcPct val="0"/>
        </a:spcBef>
        <a:spcAft>
          <a:spcPct val="0"/>
        </a:spcAft>
        <a:defRPr kumimoji="1" sz="2400" b="0" baseline="0">
          <a:solidFill>
            <a:schemeClr val="tx1"/>
          </a:solidFill>
          <a:latin typeface="+mj-lt"/>
          <a:ea typeface="+mj-ea"/>
          <a:cs typeface="Verdana" panose="020B0604030504040204" pitchFamily="34" charset="0"/>
        </a:defRPr>
      </a:lvl1pPr>
      <a:lvl2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2pPr>
      <a:lvl3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3pPr>
      <a:lvl4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4pPr>
      <a:lvl5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5pPr>
      <a:lvl6pPr marL="4572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6pPr>
      <a:lvl7pPr marL="9144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7pPr>
      <a:lvl8pPr marL="13716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8pPr>
      <a:lvl9pPr marL="18288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9pPr>
    </p:titleStyle>
    <p:bodyStyle>
      <a:lvl1pPr marL="180000" indent="-180000" algn="l" rtl="0" eaLnBrk="1" fontAlgn="base" hangingPunct="1">
        <a:spcBef>
          <a:spcPts val="500"/>
        </a:spcBef>
        <a:spcAft>
          <a:spcPct val="0"/>
        </a:spcAft>
        <a:buClr>
          <a:schemeClr val="accent6"/>
        </a:buClr>
        <a:buFont typeface="Arial" panose="020B0604020202020204" pitchFamily="34" charset="0"/>
        <a:buChar char="▌"/>
        <a:defRPr kumimoji="1" sz="2000" b="0">
          <a:solidFill>
            <a:schemeClr val="tx1"/>
          </a:solidFill>
          <a:latin typeface="+mn-lt"/>
          <a:ea typeface="+mn-ea"/>
          <a:cs typeface="Verdana" panose="020B0604030504040204" pitchFamily="34" charset="0"/>
        </a:defRPr>
      </a:lvl1pPr>
      <a:lvl2pPr marL="360000" indent="-180000" algn="l" rtl="0" eaLnBrk="1" fontAlgn="base" hangingPunct="1">
        <a:spcBef>
          <a:spcPts val="500"/>
        </a:spcBef>
        <a:spcAft>
          <a:spcPct val="0"/>
        </a:spcAft>
        <a:buClr>
          <a:schemeClr val="accent6"/>
        </a:buClr>
        <a:buFont typeface="Wingdings" pitchFamily="2" charset="2"/>
        <a:buChar char="l"/>
        <a:defRPr kumimoji="1" sz="1600" b="0">
          <a:solidFill>
            <a:schemeClr val="tx1"/>
          </a:solidFill>
          <a:latin typeface="+mn-lt"/>
          <a:ea typeface="+mn-ea"/>
          <a:cs typeface="Verdana" panose="020B0604030504040204" pitchFamily="34" charset="0"/>
        </a:defRPr>
      </a:lvl2pPr>
      <a:lvl3pPr marL="468000" indent="-108000" algn="l" rtl="0" eaLnBrk="1" fontAlgn="base" hangingPunct="1">
        <a:spcBef>
          <a:spcPts val="500"/>
        </a:spcBef>
        <a:spcAft>
          <a:spcPct val="0"/>
        </a:spcAft>
        <a:buClr>
          <a:schemeClr val="accent6"/>
        </a:buClr>
        <a:buFont typeface="Arial" panose="020B0604020202020204" pitchFamily="34" charset="0"/>
        <a:buChar char="•"/>
        <a:defRPr kumimoji="1" sz="1400" b="0">
          <a:solidFill>
            <a:schemeClr val="tx1"/>
          </a:solidFill>
          <a:latin typeface="+mn-lt"/>
          <a:ea typeface="+mn-ea"/>
          <a:cs typeface="Verdana" panose="020B0604030504040204" pitchFamily="34" charset="0"/>
        </a:defRPr>
      </a:lvl3pPr>
      <a:lvl4pPr marL="576000" indent="-108000" algn="l" rtl="0" eaLnBrk="1" fontAlgn="base" hangingPunct="1">
        <a:spcBef>
          <a:spcPts val="500"/>
        </a:spcBef>
        <a:spcAft>
          <a:spcPct val="0"/>
        </a:spcAft>
        <a:buClr>
          <a:schemeClr val="accent6"/>
        </a:buClr>
        <a:buFont typeface="Tahoma" pitchFamily="34" charset="0"/>
        <a:buChar char="–"/>
        <a:defRPr kumimoji="1" sz="1200" b="0">
          <a:solidFill>
            <a:schemeClr val="tx1"/>
          </a:solidFill>
          <a:latin typeface="+mn-lt"/>
          <a:ea typeface="+mn-ea"/>
          <a:cs typeface="Verdana" panose="020B0604030504040204" pitchFamily="34" charset="0"/>
        </a:defRPr>
      </a:lvl4pPr>
      <a:lvl5pPr marL="735013" indent="-157163" algn="l" rtl="0" eaLnBrk="1" fontAlgn="base" hangingPunct="1">
        <a:spcBef>
          <a:spcPct val="20000"/>
        </a:spcBef>
        <a:spcAft>
          <a:spcPct val="0"/>
        </a:spcAft>
        <a:buClr>
          <a:schemeClr val="accent6"/>
        </a:buClr>
        <a:buChar char="≫"/>
        <a:defRPr kumimoji="1" sz="1200" b="1">
          <a:solidFill>
            <a:schemeClr val="tx1"/>
          </a:solidFill>
          <a:latin typeface="+mj-lt"/>
          <a:ea typeface="+mn-ea"/>
        </a:defRPr>
      </a:lvl5pPr>
      <a:lvl6pPr marL="2514600" indent="-228600" algn="l" rtl="0" eaLnBrk="1" fontAlgn="base" hangingPunct="1">
        <a:spcBef>
          <a:spcPct val="20000"/>
        </a:spcBef>
        <a:spcAft>
          <a:spcPct val="0"/>
        </a:spcAft>
        <a:buChar char="≫"/>
        <a:defRPr kumimoji="1" sz="2000">
          <a:solidFill>
            <a:schemeClr val="tx1"/>
          </a:solidFill>
          <a:latin typeface="Arial" charset="0"/>
          <a:ea typeface="+mn-ea"/>
        </a:defRPr>
      </a:lvl6pPr>
      <a:lvl7pPr marL="2971800" indent="-228600" algn="l" rtl="0" eaLnBrk="1" fontAlgn="base" hangingPunct="1">
        <a:spcBef>
          <a:spcPct val="20000"/>
        </a:spcBef>
        <a:spcAft>
          <a:spcPct val="0"/>
        </a:spcAft>
        <a:buChar char="≫"/>
        <a:defRPr kumimoji="1" sz="2000">
          <a:solidFill>
            <a:schemeClr val="tx1"/>
          </a:solidFill>
          <a:latin typeface="Arial" charset="0"/>
          <a:ea typeface="+mn-ea"/>
        </a:defRPr>
      </a:lvl7pPr>
      <a:lvl8pPr marL="3429000" indent="-228600" algn="l" rtl="0" eaLnBrk="1" fontAlgn="base" hangingPunct="1">
        <a:spcBef>
          <a:spcPct val="20000"/>
        </a:spcBef>
        <a:spcAft>
          <a:spcPct val="0"/>
        </a:spcAft>
        <a:buChar char="≫"/>
        <a:defRPr kumimoji="1" sz="2000">
          <a:solidFill>
            <a:schemeClr val="tx1"/>
          </a:solidFill>
          <a:latin typeface="Arial" charset="0"/>
          <a:ea typeface="+mn-ea"/>
        </a:defRPr>
      </a:lvl8pPr>
      <a:lvl9pPr marL="3886200" indent="-228600" algn="l" rtl="0" eaLnBrk="1" fontAlgn="base" hangingPunct="1">
        <a:spcBef>
          <a:spcPct val="20000"/>
        </a:spcBef>
        <a:spcAft>
          <a:spcPct val="0"/>
        </a:spcAft>
        <a:buChar char="≫"/>
        <a:defRPr kumimoji="1" sz="2000">
          <a:solidFill>
            <a:schemeClr val="tx1"/>
          </a:solidFill>
          <a:latin typeface="Arial" charset="0"/>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9513" y="3049388"/>
            <a:ext cx="8784000" cy="584775"/>
          </a:xfrm>
        </p:spPr>
        <p:txBody>
          <a:bodyPr/>
          <a:lstStyle/>
          <a:p>
            <a:r>
              <a:rPr lang="en-US" altLang="ja-JP" dirty="0"/>
              <a:t>MySQL</a:t>
            </a:r>
            <a:r>
              <a:rPr lang="ja-JP" altLang="en-US" dirty="0"/>
              <a:t>クラスタ</a:t>
            </a:r>
            <a:endParaRPr kumimoji="1" lang="ja-JP" altLang="en-US" dirty="0"/>
          </a:p>
        </p:txBody>
      </p:sp>
      <p:sp>
        <p:nvSpPr>
          <p:cNvPr id="4" name="テキスト プレースホルダー 3"/>
          <p:cNvSpPr>
            <a:spLocks noGrp="1"/>
          </p:cNvSpPr>
          <p:nvPr>
            <p:ph type="body" sz="quarter" idx="10"/>
          </p:nvPr>
        </p:nvSpPr>
        <p:spPr>
          <a:xfrm>
            <a:off x="179513" y="4032000"/>
            <a:ext cx="6552727" cy="772006"/>
          </a:xfrm>
        </p:spPr>
        <p:txBody>
          <a:bodyPr/>
          <a:lstStyle/>
          <a:p>
            <a:r>
              <a:rPr lang="en-US" altLang="ja-JP" dirty="0"/>
              <a:t>OSS</a:t>
            </a:r>
            <a:r>
              <a:rPr lang="ja-JP" altLang="en-US" dirty="0"/>
              <a:t>技術センター</a:t>
            </a:r>
            <a:endParaRPr lang="en-US" altLang="ja-JP" dirty="0"/>
          </a:p>
          <a:p>
            <a:r>
              <a:rPr lang="en-US" altLang="ja-JP" dirty="0"/>
              <a:t>NEC</a:t>
            </a:r>
            <a:r>
              <a:rPr lang="ja-JP" altLang="en-US" dirty="0"/>
              <a:t>テレコムソフトウェアフィリピン (</a:t>
            </a:r>
            <a:r>
              <a:rPr lang="en-US" altLang="ja-JP" dirty="0"/>
              <a:t>NSP)</a:t>
            </a:r>
          </a:p>
        </p:txBody>
      </p:sp>
      <p:sp>
        <p:nvSpPr>
          <p:cNvPr id="11" name="Text Box 7"/>
          <p:cNvSpPr txBox="1">
            <a:spLocks noChangeArrowheads="1"/>
          </p:cNvSpPr>
          <p:nvPr/>
        </p:nvSpPr>
        <p:spPr bwMode="ltGray">
          <a:xfrm>
            <a:off x="6269746" y="841705"/>
            <a:ext cx="2623429" cy="234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rgbClr val="00B4A0"/>
                </a:solidFill>
                <a:miter lim="800000"/>
                <a:headEnd/>
                <a:tailEnd/>
              </a14:hiddenLine>
            </a:ext>
            <a:ext uri="{AF507438-7753-43E0-B8FC-AC1667EBCBE1}">
              <a14:hiddenEffect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r"/>
            <a:r>
              <a:rPr lang="en-US" altLang="ja-JP" sz="1050" dirty="0">
                <a:solidFill>
                  <a:schemeClr val="accent2"/>
                </a:solidFill>
                <a:latin typeface="Verdana" panose="020B0604030504040204" pitchFamily="34" charset="0"/>
                <a:ea typeface="Verdana" panose="020B0604030504040204" pitchFamily="34" charset="0"/>
                <a:cs typeface="Verdana" panose="020B0604030504040204" pitchFamily="34" charset="0"/>
              </a:rPr>
              <a:t>【</a:t>
            </a:r>
            <a:r>
              <a:rPr lang="en-US" altLang="ja-JP" sz="1050" dirty="0"/>
              <a:t>NEC</a:t>
            </a:r>
            <a:r>
              <a:rPr lang="ja-JP" altLang="en-US" sz="1050" dirty="0"/>
              <a:t>グループ外秘</a:t>
            </a:r>
            <a:r>
              <a:rPr lang="en-US" altLang="ja-JP" sz="1050" dirty="0"/>
              <a:t>】</a:t>
            </a:r>
            <a:endParaRPr lang="en-US" altLang="ja-JP" sz="105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2081625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95407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8534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619672" y="374948"/>
            <a:ext cx="7344000" cy="461665"/>
          </a:xfrm>
        </p:spPr>
        <p:txBody>
          <a:bodyPr/>
          <a:lstStyle/>
          <a:p>
            <a:r>
              <a:rPr lang="ja-JP" altLang="en-US" dirty="0"/>
              <a:t>目次</a:t>
            </a:r>
            <a:endParaRPr kumimoji="1" lang="ja-JP" altLang="en-US" dirty="0"/>
          </a:p>
        </p:txBody>
      </p:sp>
      <p:sp>
        <p:nvSpPr>
          <p:cNvPr id="3" name="テキスト プレースホルダー 2"/>
          <p:cNvSpPr>
            <a:spLocks noGrp="1"/>
          </p:cNvSpPr>
          <p:nvPr>
            <p:ph type="body" sz="quarter" idx="10"/>
          </p:nvPr>
        </p:nvSpPr>
        <p:spPr/>
        <p:txBody>
          <a:bodyPr/>
          <a:lstStyle/>
          <a:p>
            <a:pPr marL="342900" indent="-342900">
              <a:buAutoNum type="arabicPeriod"/>
            </a:pPr>
            <a:r>
              <a:rPr lang="ja-JP" altLang="en-US" sz="1600" dirty="0"/>
              <a:t>基本操作コマンド</a:t>
            </a:r>
            <a:endParaRPr lang="en-US" altLang="ja-JP" sz="1600" dirty="0" smtClean="0"/>
          </a:p>
          <a:p>
            <a:pPr marL="342900" indent="-342900">
              <a:buAutoNum type="arabicPeriod"/>
            </a:pPr>
            <a:r>
              <a:rPr lang="ja-JP" altLang="en-US" sz="1600" dirty="0" smtClean="0"/>
              <a:t>バックアップ</a:t>
            </a:r>
            <a:endParaRPr lang="en-US" altLang="ja-JP" sz="1600" dirty="0" smtClean="0"/>
          </a:p>
          <a:p>
            <a:pPr marL="351450" lvl="1" indent="-171450">
              <a:buFontTx/>
              <a:buChar char="-"/>
            </a:pPr>
            <a:r>
              <a:rPr lang="ja-JP" altLang="en-US" sz="1400" dirty="0"/>
              <a:t>ネイティブバックアップ</a:t>
            </a:r>
            <a:endParaRPr lang="en-US" altLang="ja-JP" sz="1400" dirty="0" smtClean="0"/>
          </a:p>
          <a:p>
            <a:pPr marL="351450" lvl="1" indent="-171450">
              <a:buFontTx/>
              <a:buChar char="-"/>
            </a:pPr>
            <a:r>
              <a:rPr lang="en-US" altLang="ja-JP" sz="1400" dirty="0" err="1"/>
              <a:t>mysqldump</a:t>
            </a:r>
            <a:r>
              <a:rPr lang="ja-JP" altLang="en-US" sz="1400" dirty="0"/>
              <a:t>の使用</a:t>
            </a:r>
            <a:endParaRPr lang="en-US" altLang="ja-JP" sz="1400" dirty="0" smtClean="0"/>
          </a:p>
          <a:p>
            <a:pPr marL="342900" indent="-342900">
              <a:buAutoNum type="arabicPeriod"/>
            </a:pPr>
            <a:r>
              <a:rPr lang="ja-JP" altLang="en-US" sz="1600" dirty="0" smtClean="0"/>
              <a:t>リストア</a:t>
            </a:r>
            <a:endParaRPr lang="en-US" altLang="ja-JP" sz="1600" dirty="0" smtClean="0"/>
          </a:p>
          <a:p>
            <a:pPr marL="351450" lvl="1" indent="-171450">
              <a:buFontTx/>
              <a:buChar char="-"/>
            </a:pPr>
            <a:r>
              <a:rPr lang="ja-JP" altLang="en-US" sz="1400" dirty="0"/>
              <a:t>ネイティブリストア</a:t>
            </a:r>
            <a:endParaRPr lang="en-US" altLang="ja-JP" sz="1400" dirty="0"/>
          </a:p>
        </p:txBody>
      </p:sp>
    </p:spTree>
    <p:extLst>
      <p:ext uri="{BB962C8B-B14F-4D97-AF65-F5344CB8AC3E}">
        <p14:creationId xmlns:p14="http://schemas.microsoft.com/office/powerpoint/2010/main" val="18237005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基本操作コマンド　</a:t>
            </a:r>
            <a:r>
              <a:rPr lang="ja-JP" altLang="en-US" dirty="0" smtClean="0"/>
              <a:t>（</a:t>
            </a:r>
            <a:r>
              <a:rPr lang="en-US" altLang="ja-JP" dirty="0" smtClean="0"/>
              <a:t>1/8</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ja-JP" altLang="en-US" sz="1600" b="1" dirty="0"/>
              <a:t>ノード起動コマン</a:t>
            </a:r>
            <a:r>
              <a:rPr lang="ja-JP" altLang="en-US" sz="1600" b="1" dirty="0" smtClean="0"/>
              <a:t>ド</a:t>
            </a:r>
            <a:endParaRPr lang="en-US" altLang="ja-JP" sz="1600" b="1" dirty="0" smtClean="0"/>
          </a:p>
          <a:p>
            <a:r>
              <a:rPr lang="ja-JP" altLang="en-US" sz="1600" dirty="0"/>
              <a:t>管</a:t>
            </a:r>
            <a:r>
              <a:rPr lang="ja-JP" altLang="en-US" sz="1600" dirty="0" smtClean="0"/>
              <a:t>理ノード</a:t>
            </a:r>
            <a:endParaRPr kumimoji="1" lang="en-US" altLang="ja-JP" sz="1600" dirty="0" smtClean="0"/>
          </a:p>
          <a:p>
            <a:pPr lvl="1"/>
            <a:r>
              <a:rPr kumimoji="1" lang="en-US" altLang="ja-JP" sz="1200" i="1" dirty="0" err="1" smtClean="0"/>
              <a:t>ndb_mgmd</a:t>
            </a:r>
            <a:r>
              <a:rPr lang="ja-JP" altLang="en-US" sz="1200" dirty="0"/>
              <a:t>バイナリを使用して管理サーバーデーモンを起動す</a:t>
            </a:r>
            <a:r>
              <a:rPr lang="ja-JP" altLang="en-US" sz="1200" dirty="0" smtClean="0"/>
              <a:t>る</a:t>
            </a:r>
            <a:endParaRPr kumimoji="1" lang="en-US" altLang="ja-JP" sz="1200" dirty="0" smtClean="0"/>
          </a:p>
          <a:p>
            <a:pPr lvl="2"/>
            <a:r>
              <a:rPr lang="en-US" altLang="ja-JP" sz="1200" dirty="0" err="1"/>
              <a:t>ndb_mgmd</a:t>
            </a:r>
            <a:r>
              <a:rPr lang="en-US" altLang="ja-JP" sz="1200" dirty="0"/>
              <a:t> -f /</a:t>
            </a:r>
            <a:r>
              <a:rPr lang="en-US" altLang="ja-JP" sz="1200" dirty="0" err="1"/>
              <a:t>var</a:t>
            </a:r>
            <a:r>
              <a:rPr lang="en-US" altLang="ja-JP" sz="1200" dirty="0"/>
              <a:t>/lib/</a:t>
            </a:r>
            <a:r>
              <a:rPr lang="en-US" altLang="ja-JP" sz="1200" dirty="0" err="1"/>
              <a:t>mysql</a:t>
            </a:r>
            <a:r>
              <a:rPr lang="en-US" altLang="ja-JP" sz="1200" dirty="0"/>
              <a:t>-cluster/config.ini</a:t>
            </a:r>
            <a:endParaRPr kumimoji="1" lang="en-US" altLang="ja-JP" sz="1200" dirty="0" smtClean="0"/>
          </a:p>
          <a:p>
            <a:pPr lvl="1"/>
            <a:r>
              <a:rPr lang="ja-JP" altLang="en-US" sz="1200" dirty="0"/>
              <a:t>デーモンはクラスタ構成ファイルを読み取り、この情報を要求するクラスタ内のすべてのノードにこの情報を配信します。</a:t>
            </a:r>
            <a:endParaRPr lang="en-US" altLang="ja-JP" sz="1200" dirty="0" smtClean="0"/>
          </a:p>
          <a:p>
            <a:pPr lvl="1"/>
            <a:r>
              <a:rPr lang="ja-JP" altLang="en-US" sz="1200" dirty="0"/>
              <a:t>また、クラスタのアクティビティのログも保持しま</a:t>
            </a:r>
            <a:r>
              <a:rPr lang="ja-JP" altLang="en-US" sz="1200" dirty="0" smtClean="0"/>
              <a:t>す</a:t>
            </a:r>
            <a:r>
              <a:rPr lang="ja-JP" altLang="en-US" sz="1200" dirty="0"/>
              <a:t>：</a:t>
            </a:r>
            <a:endParaRPr lang="en-US" altLang="ja-JP" sz="1200" dirty="0" smtClean="0"/>
          </a:p>
          <a:p>
            <a:pPr lvl="2"/>
            <a:r>
              <a:rPr lang="en-US" altLang="ja-JP" sz="1200" dirty="0" err="1" smtClean="0"/>
              <a:t>ndb</a:t>
            </a:r>
            <a:r>
              <a:rPr lang="en-US" altLang="ja-JP" sz="1200" dirty="0" smtClean="0"/>
              <a:t>_&lt;</a:t>
            </a:r>
            <a:r>
              <a:rPr lang="en-US" altLang="ja-JP" sz="1200" dirty="0" err="1" smtClean="0"/>
              <a:t>node_id</a:t>
            </a:r>
            <a:r>
              <a:rPr lang="en-US" altLang="ja-JP" sz="1200" dirty="0"/>
              <a:t>&gt;_cluster.log </a:t>
            </a:r>
            <a:r>
              <a:rPr lang="en-US" altLang="ja-JP" sz="1200" dirty="0" smtClean="0"/>
              <a:t>is</a:t>
            </a:r>
            <a:r>
              <a:rPr lang="ja-JP" altLang="en-US" sz="1200" dirty="0"/>
              <a:t>クラスタイベントログファイル。 このようなイベントの例には、チェックポイントの起動と完了、ノードの起動イベント、ノードの障害、およびメモリ使用のレベルが含まれま</a:t>
            </a:r>
            <a:r>
              <a:rPr lang="ja-JP" altLang="en-US" sz="1200" dirty="0" smtClean="0"/>
              <a:t>す。</a:t>
            </a:r>
            <a:endParaRPr lang="en-US" altLang="ja-JP" sz="1200" dirty="0" smtClean="0"/>
          </a:p>
          <a:p>
            <a:pPr lvl="1"/>
            <a:r>
              <a:rPr lang="ja-JP" altLang="en-US" sz="1200" dirty="0"/>
              <a:t>コマンドオプション</a:t>
            </a:r>
            <a:r>
              <a:rPr lang="ja-JP" altLang="en-US" sz="1200" dirty="0" smtClean="0"/>
              <a:t>：</a:t>
            </a:r>
            <a:endParaRPr lang="en-US" altLang="ja-JP" sz="1200" dirty="0" smtClean="0"/>
          </a:p>
          <a:p>
            <a:pPr lvl="2"/>
            <a:r>
              <a:rPr kumimoji="1" lang="en-US" altLang="ja-JP" sz="1200" dirty="0" smtClean="0"/>
              <a:t>--</a:t>
            </a:r>
            <a:r>
              <a:rPr kumimoji="1" lang="en-US" altLang="ja-JP" sz="1200" dirty="0" err="1" smtClean="0"/>
              <a:t>config</a:t>
            </a:r>
            <a:r>
              <a:rPr kumimoji="1" lang="en-US" altLang="ja-JP" sz="1200" dirty="0" smtClean="0"/>
              <a:t>-file=[filename], -f [filename]</a:t>
            </a:r>
          </a:p>
          <a:p>
            <a:pPr lvl="3"/>
            <a:r>
              <a:rPr lang="ja-JP" altLang="en-US" sz="1000" dirty="0"/>
              <a:t>クラスタ構成ファイルを指定します。 </a:t>
            </a:r>
            <a:r>
              <a:rPr lang="en-US" altLang="ja-JP" sz="1000" dirty="0"/>
              <a:t>NDB-6.4.0</a:t>
            </a:r>
            <a:r>
              <a:rPr lang="ja-JP" altLang="en-US" sz="1000" dirty="0"/>
              <a:t>以降では、</a:t>
            </a:r>
            <a:r>
              <a:rPr lang="en-US" altLang="ja-JP" sz="1000" dirty="0"/>
              <a:t>--reload</a:t>
            </a:r>
            <a:r>
              <a:rPr lang="ja-JP" altLang="en-US" sz="1000" dirty="0"/>
              <a:t>または</a:t>
            </a:r>
            <a:r>
              <a:rPr lang="en-US" altLang="ja-JP" sz="1000" dirty="0"/>
              <a:t>--initial</a:t>
            </a:r>
            <a:r>
              <a:rPr lang="ja-JP" altLang="en-US" sz="1000" dirty="0"/>
              <a:t>が必要です。</a:t>
            </a:r>
            <a:r>
              <a:rPr lang="en-US" altLang="ja-JP" sz="1000" dirty="0" smtClean="0"/>
              <a:t>.</a:t>
            </a:r>
            <a:endParaRPr kumimoji="1" lang="en-US" altLang="ja-JP" sz="1000" dirty="0" smtClean="0"/>
          </a:p>
          <a:p>
            <a:pPr lvl="2"/>
            <a:r>
              <a:rPr kumimoji="1" lang="en-US" altLang="ja-JP" sz="1200" dirty="0" smtClean="0"/>
              <a:t>--</a:t>
            </a:r>
            <a:r>
              <a:rPr kumimoji="1" lang="en-US" altLang="ja-JP" sz="1200" dirty="0" err="1" smtClean="0"/>
              <a:t>config</a:t>
            </a:r>
            <a:r>
              <a:rPr kumimoji="1" lang="en-US" altLang="ja-JP" sz="1200" dirty="0" smtClean="0"/>
              <a:t>-cache=[TRUE|FALSE]</a:t>
            </a:r>
          </a:p>
          <a:p>
            <a:pPr lvl="3"/>
            <a:r>
              <a:rPr lang="ja-JP" altLang="en-US" sz="1000" dirty="0"/>
              <a:t>管理サーバーの構成キャッシュを有効にします。 デフォルトでは</a:t>
            </a:r>
            <a:r>
              <a:rPr lang="en-US" altLang="ja-JP" sz="1000" dirty="0"/>
              <a:t>TRUE</a:t>
            </a:r>
            <a:r>
              <a:rPr lang="ja-JP" altLang="en-US" sz="1000" dirty="0"/>
              <a:t>で</a:t>
            </a:r>
            <a:r>
              <a:rPr lang="ja-JP" altLang="en-US" sz="1000" dirty="0" smtClean="0"/>
              <a:t>す。</a:t>
            </a:r>
            <a:endParaRPr lang="en-US" altLang="ja-JP" sz="1000" dirty="0" smtClean="0"/>
          </a:p>
          <a:p>
            <a:pPr lvl="3"/>
            <a:r>
              <a:rPr lang="ja-JP" altLang="en-US" sz="1000" dirty="0"/>
              <a:t>同様のオプショ</a:t>
            </a:r>
            <a:r>
              <a:rPr lang="ja-JP" altLang="en-US" sz="1000" dirty="0" smtClean="0"/>
              <a:t>ン：</a:t>
            </a:r>
            <a:r>
              <a:rPr lang="en-US" altLang="ja-JP" sz="1000" dirty="0" smtClean="0"/>
              <a:t>  </a:t>
            </a:r>
            <a:r>
              <a:rPr lang="en-US" altLang="ja-JP" sz="1000" dirty="0"/>
              <a:t>--</a:t>
            </a:r>
            <a:r>
              <a:rPr lang="en-US" altLang="ja-JP" sz="1000" dirty="0" err="1" smtClean="0"/>
              <a:t>config</a:t>
            </a:r>
            <a:r>
              <a:rPr lang="en-US" altLang="ja-JP" sz="1000" dirty="0" smtClean="0"/>
              <a:t>-cache=0, --</a:t>
            </a:r>
            <a:r>
              <a:rPr lang="en-US" altLang="ja-JP" sz="1000" dirty="0" err="1" smtClean="0"/>
              <a:t>config</a:t>
            </a:r>
            <a:r>
              <a:rPr lang="en-US" altLang="ja-JP" sz="1000" dirty="0" smtClean="0"/>
              <a:t>-cache=FALSE, </a:t>
            </a:r>
            <a:r>
              <a:rPr lang="en-US" altLang="ja-JP" sz="1000" dirty="0"/>
              <a:t>--</a:t>
            </a:r>
            <a:r>
              <a:rPr lang="en-US" altLang="ja-JP" sz="1000" dirty="0" err="1" smtClean="0"/>
              <a:t>config</a:t>
            </a:r>
            <a:r>
              <a:rPr lang="en-US" altLang="ja-JP" sz="1000" dirty="0" smtClean="0"/>
              <a:t>-cache=OFF, </a:t>
            </a:r>
            <a:r>
              <a:rPr lang="en-US" altLang="ja-JP" sz="1000" dirty="0"/>
              <a:t>--skip-</a:t>
            </a:r>
            <a:r>
              <a:rPr lang="en-US" altLang="ja-JP" sz="1000" dirty="0" err="1"/>
              <a:t>config</a:t>
            </a:r>
            <a:r>
              <a:rPr lang="en-US" altLang="ja-JP" sz="1000" dirty="0"/>
              <a:t>-cache </a:t>
            </a:r>
            <a:endParaRPr lang="en-US" altLang="ja-JP" sz="1000" dirty="0" smtClean="0"/>
          </a:p>
          <a:p>
            <a:pPr lvl="2"/>
            <a:r>
              <a:rPr kumimoji="1" lang="en-US" altLang="ja-JP" sz="1200" dirty="0" smtClean="0"/>
              <a:t>--initial</a:t>
            </a:r>
          </a:p>
          <a:p>
            <a:pPr lvl="3"/>
            <a:r>
              <a:rPr lang="ja-JP" altLang="en-US" sz="1000" dirty="0"/>
              <a:t>管理サーバーが構成ファイルを構成ファイルからリロードし、構成キャッシュをバイパスします。</a:t>
            </a:r>
            <a:endParaRPr lang="en-US" altLang="ja-JP" sz="1000" dirty="0" smtClean="0"/>
          </a:p>
          <a:p>
            <a:pPr lvl="2"/>
            <a:r>
              <a:rPr lang="en-US" altLang="ja-JP" sz="1200" dirty="0"/>
              <a:t>--</a:t>
            </a:r>
            <a:r>
              <a:rPr lang="en-US" altLang="ja-JP" sz="1200" dirty="0" smtClean="0"/>
              <a:t>reload</a:t>
            </a:r>
          </a:p>
          <a:p>
            <a:pPr lvl="3"/>
            <a:r>
              <a:rPr lang="ja-JP" altLang="en-US" sz="1000" dirty="0"/>
              <a:t>管理サーバーが構成ファイルを構成キャッシュと比較するようにします。</a:t>
            </a:r>
            <a:endParaRPr kumimoji="1" lang="en-US" altLang="ja-JP" sz="1000" dirty="0"/>
          </a:p>
          <a:p>
            <a:pPr lvl="1"/>
            <a:r>
              <a:rPr lang="ja-JP" altLang="en-US" sz="1200" dirty="0"/>
              <a:t>管理ノードには、クラスタの状態を確認し、バックアップ手順を開始し、</a:t>
            </a:r>
            <a:r>
              <a:rPr lang="en-US" altLang="ja-JP" sz="1200" i="1" dirty="0" err="1"/>
              <a:t>ndb_mgm</a:t>
            </a:r>
            <a:r>
              <a:rPr lang="ja-JP" altLang="en-US" sz="1200" dirty="0"/>
              <a:t>という管理機能を実行するクライアントプロセスもあります。</a:t>
            </a:r>
            <a:r>
              <a:rPr lang="en-US" altLang="ja-JP" sz="1200" i="1" dirty="0" smtClean="0"/>
              <a:t>.</a:t>
            </a:r>
            <a:endParaRPr lang="en-US" altLang="ja-JP" sz="1200" i="1" dirty="0" smtClean="0"/>
          </a:p>
          <a:p>
            <a:pPr lvl="2"/>
            <a:r>
              <a:rPr lang="en-US" altLang="ja-JP" sz="1000" i="1" dirty="0" err="1"/>
              <a:t>ndb_mgm</a:t>
            </a:r>
            <a:r>
              <a:rPr lang="ja-JP" altLang="en-US" sz="1000" dirty="0"/>
              <a:t>コマンドは管理クライアントを起動しま</a:t>
            </a:r>
            <a:r>
              <a:rPr lang="ja-JP" altLang="en-US" sz="1000" dirty="0" smtClean="0"/>
              <a:t>す：</a:t>
            </a:r>
            <a:r>
              <a:rPr lang="en-US" altLang="ja-JP" sz="1000" dirty="0" smtClean="0"/>
              <a:t> </a:t>
            </a:r>
            <a:r>
              <a:rPr lang="en-US" altLang="ja-JP" sz="1000" dirty="0" err="1" smtClean="0"/>
              <a:t>ndb_mgm</a:t>
            </a:r>
            <a:r>
              <a:rPr lang="en-US" altLang="ja-JP" sz="1000" dirty="0" smtClean="0"/>
              <a:t> &gt;</a:t>
            </a:r>
            <a:endParaRPr kumimoji="1" lang="en-US" altLang="ja-JP" sz="1000" dirty="0" smtClean="0"/>
          </a:p>
          <a:p>
            <a:pPr lvl="1"/>
            <a:endParaRPr kumimoji="1" lang="en-US" altLang="ja-JP" sz="1200" dirty="0" smtClean="0"/>
          </a:p>
          <a:p>
            <a:pPr lvl="1"/>
            <a:endParaRPr kumimoji="1" lang="ja-JP" altLang="en-US" sz="1200" dirty="0"/>
          </a:p>
        </p:txBody>
      </p:sp>
    </p:spTree>
    <p:extLst>
      <p:ext uri="{BB962C8B-B14F-4D97-AF65-F5344CB8AC3E}">
        <p14:creationId xmlns:p14="http://schemas.microsoft.com/office/powerpoint/2010/main" val="9885086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基本操作コマンド　</a:t>
            </a:r>
            <a:r>
              <a:rPr lang="ja-JP" altLang="en-US" dirty="0" smtClean="0"/>
              <a:t>（</a:t>
            </a:r>
            <a:r>
              <a:rPr lang="en-US" altLang="ja-JP" dirty="0" smtClean="0"/>
              <a:t>2/8</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normAutofit/>
          </a:bodyPr>
          <a:lstStyle/>
          <a:p>
            <a:pPr lvl="1"/>
            <a:r>
              <a:rPr lang="ja-JP" altLang="en-US" sz="1200" dirty="0"/>
              <a:t>管理ノードの起動例</a:t>
            </a:r>
            <a:endParaRPr lang="en-US" altLang="ja-JP" sz="1200" dirty="0" smtClean="0"/>
          </a:p>
          <a:p>
            <a:pPr lvl="1"/>
            <a:endParaRPr kumimoji="1" lang="en-US" altLang="ja-JP" sz="1200" dirty="0" smtClean="0"/>
          </a:p>
          <a:p>
            <a:endParaRPr lang="en-US" altLang="ja-JP" sz="1600" dirty="0"/>
          </a:p>
          <a:p>
            <a:pPr marL="0" indent="0">
              <a:buNone/>
            </a:pPr>
            <a:endParaRPr kumimoji="1" lang="en-US" altLang="ja-JP" sz="1600" dirty="0" smtClean="0"/>
          </a:p>
          <a:p>
            <a:pPr marL="0" indent="0">
              <a:buNone/>
            </a:pPr>
            <a:endParaRPr kumimoji="1" lang="en-US" altLang="ja-JP" sz="1600" dirty="0" smtClean="0"/>
          </a:p>
          <a:p>
            <a:r>
              <a:rPr kumimoji="1" lang="ja-JP" altLang="en-US" sz="1600" dirty="0" smtClean="0"/>
              <a:t>データノード</a:t>
            </a:r>
            <a:endParaRPr kumimoji="1" lang="en-US" altLang="ja-JP" sz="1600" dirty="0" smtClean="0"/>
          </a:p>
          <a:p>
            <a:pPr lvl="1"/>
            <a:r>
              <a:rPr lang="en-US" altLang="ja-JP" sz="1200" i="1" dirty="0" err="1"/>
              <a:t>ndbd</a:t>
            </a:r>
            <a:r>
              <a:rPr lang="ja-JP" altLang="en-US" sz="1200" i="1" dirty="0"/>
              <a:t>は、</a:t>
            </a:r>
            <a:r>
              <a:rPr lang="en-US" altLang="ja-JP" sz="1200" i="1" dirty="0"/>
              <a:t>NDB </a:t>
            </a:r>
            <a:r>
              <a:rPr lang="ja-JP" altLang="en-US" sz="1200" i="1" dirty="0"/>
              <a:t>クラスタストレージエンジンを使用してテーブル内のすべてのデータを処理するために使用されるプロセスです。</a:t>
            </a:r>
            <a:endParaRPr lang="en-US" altLang="ja-JP" sz="1000" dirty="0" smtClean="0"/>
          </a:p>
          <a:p>
            <a:pPr lvl="1"/>
            <a:r>
              <a:rPr lang="ja-JP" altLang="en-US" sz="1200" dirty="0"/>
              <a:t>これは、データ・ノードが分散トランザクション処理、ノード・リカバリー、ディスク・ポインティング・チェック、オンライン・バックアップ、および関連タスクを実行できるようにするためのプロセスです。</a:t>
            </a:r>
            <a:endParaRPr lang="en-US" altLang="ja-JP" sz="1200" dirty="0" smtClean="0"/>
          </a:p>
          <a:p>
            <a:pPr lvl="1"/>
            <a:r>
              <a:rPr lang="en-US" altLang="ja-JP" sz="1200" dirty="0" err="1"/>
              <a:t>ndbd</a:t>
            </a:r>
            <a:r>
              <a:rPr lang="ja-JP" altLang="en-US" sz="1200" dirty="0"/>
              <a:t>プロセスはデータ出力をログファイルに記録する</a:t>
            </a:r>
            <a:endParaRPr lang="en-US" altLang="ja-JP" sz="1200" dirty="0" smtClean="0"/>
          </a:p>
          <a:p>
            <a:pPr lvl="2"/>
            <a:r>
              <a:rPr lang="en-US" altLang="ja-JP" sz="1200" dirty="0" err="1"/>
              <a:t>ndb</a:t>
            </a:r>
            <a:r>
              <a:rPr lang="en-US" altLang="ja-JP" sz="1200" dirty="0"/>
              <a:t>_ &lt;</a:t>
            </a:r>
            <a:r>
              <a:rPr lang="en-US" altLang="ja-JP" sz="1200" dirty="0" err="1"/>
              <a:t>node_id</a:t>
            </a:r>
            <a:r>
              <a:rPr lang="en-US" altLang="ja-JP" sz="1200" dirty="0"/>
              <a:t>&gt; _out.log</a:t>
            </a:r>
            <a:r>
              <a:rPr lang="ja-JP" altLang="en-US" sz="1200" dirty="0"/>
              <a:t>は、</a:t>
            </a:r>
            <a:r>
              <a:rPr lang="en-US" altLang="ja-JP" sz="1200" dirty="0" err="1"/>
              <a:t>ndbd</a:t>
            </a:r>
            <a:r>
              <a:rPr lang="ja-JP" altLang="en-US" sz="1200" dirty="0"/>
              <a:t>プロセスが出力したデータを含むファイルです。 このファイルは、</a:t>
            </a:r>
            <a:r>
              <a:rPr lang="en-US" altLang="ja-JP" sz="1200" dirty="0" err="1"/>
              <a:t>ndbd</a:t>
            </a:r>
            <a:r>
              <a:rPr lang="ja-JP" altLang="en-US" sz="1200" dirty="0"/>
              <a:t>がデーモンとして起動された場合にのみ作成されます。これはデフォルト動作です。</a:t>
            </a:r>
            <a:endParaRPr lang="en-US" altLang="ja-JP" sz="1200" dirty="0" smtClean="0"/>
          </a:p>
          <a:p>
            <a:pPr lvl="1"/>
            <a:r>
              <a:rPr lang="ja-JP" altLang="en-US" sz="1200" dirty="0"/>
              <a:t>コマンドオプション</a:t>
            </a:r>
            <a:r>
              <a:rPr lang="ja-JP" altLang="en-US" sz="1200" dirty="0" smtClean="0"/>
              <a:t>：</a:t>
            </a:r>
            <a:endParaRPr kumimoji="1" lang="en-US" altLang="ja-JP" sz="1200" dirty="0" smtClean="0"/>
          </a:p>
          <a:p>
            <a:pPr lvl="2"/>
            <a:r>
              <a:rPr lang="en-US" altLang="ja-JP" sz="1200" dirty="0" smtClean="0"/>
              <a:t>--initial</a:t>
            </a:r>
          </a:p>
          <a:p>
            <a:pPr lvl="3"/>
            <a:r>
              <a:rPr lang="ja-JP" altLang="en-US" sz="1000" dirty="0"/>
              <a:t>ファイルシステムのクリーニングを含む、</a:t>
            </a:r>
            <a:r>
              <a:rPr lang="en-US" altLang="ja-JP" sz="1000" dirty="0" err="1"/>
              <a:t>ndbd</a:t>
            </a:r>
            <a:r>
              <a:rPr lang="ja-JP" altLang="en-US" sz="1000" dirty="0"/>
              <a:t>の初期起動を行う</a:t>
            </a:r>
            <a:endParaRPr lang="en-US" altLang="ja-JP" sz="1000" dirty="0" smtClean="0"/>
          </a:p>
          <a:p>
            <a:pPr lvl="1"/>
            <a:r>
              <a:rPr lang="en-US" altLang="ja-JP" sz="1200" dirty="0" err="1"/>
              <a:t>ndb</a:t>
            </a:r>
            <a:r>
              <a:rPr lang="ja-JP" altLang="en-US" sz="1200" dirty="0"/>
              <a:t>ノードの起動例</a:t>
            </a:r>
            <a:endParaRPr kumimoji="1" lang="en-US" altLang="ja-JP" sz="1000" dirty="0" smtClean="0"/>
          </a:p>
        </p:txBody>
      </p:sp>
      <p:sp>
        <p:nvSpPr>
          <p:cNvPr id="4" name="Rectangle 3"/>
          <p:cNvSpPr/>
          <p:nvPr/>
        </p:nvSpPr>
        <p:spPr bwMode="auto">
          <a:xfrm>
            <a:off x="1026160" y="5206014"/>
            <a:ext cx="7091680" cy="690850"/>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a:latin typeface="Calibri" panose="020F0502020204030204" pitchFamily="34" charset="0"/>
                <a:ea typeface="+mj-ea"/>
              </a:rPr>
              <a:t>[root@ndb-node-01 </a:t>
            </a:r>
            <a:r>
              <a:rPr lang="en-US" sz="1000" b="1" dirty="0" err="1">
                <a:latin typeface="Calibri" panose="020F0502020204030204" pitchFamily="34" charset="0"/>
                <a:ea typeface="+mj-ea"/>
              </a:rPr>
              <a:t>mysql</a:t>
            </a:r>
            <a:r>
              <a:rPr lang="en-US" sz="1000" b="1" dirty="0">
                <a:latin typeface="Calibri" panose="020F0502020204030204" pitchFamily="34" charset="0"/>
                <a:ea typeface="+mj-ea"/>
              </a:rPr>
              <a:t>-cluster]# </a:t>
            </a:r>
            <a:r>
              <a:rPr lang="en-US" sz="1000" b="1" dirty="0" err="1">
                <a:latin typeface="Calibri" panose="020F0502020204030204" pitchFamily="34" charset="0"/>
                <a:ea typeface="+mj-ea"/>
              </a:rPr>
              <a:t>ndbd</a:t>
            </a:r>
            <a:endParaRPr lang="en-US" sz="1000" b="1" dirty="0">
              <a:latin typeface="Calibri" panose="020F0502020204030204" pitchFamily="34" charset="0"/>
              <a:ea typeface="+mj-ea"/>
            </a:endParaRPr>
          </a:p>
          <a:p>
            <a:r>
              <a:rPr lang="en-US" sz="1000" b="1" dirty="0">
                <a:latin typeface="Calibri" panose="020F0502020204030204" pitchFamily="34" charset="0"/>
                <a:ea typeface="+mj-ea"/>
              </a:rPr>
              <a:t>2017-06-23 09:36:49 [</a:t>
            </a:r>
            <a:r>
              <a:rPr lang="en-US" sz="1000" b="1" dirty="0" err="1">
                <a:latin typeface="Calibri" panose="020F0502020204030204" pitchFamily="34" charset="0"/>
                <a:ea typeface="+mj-ea"/>
              </a:rPr>
              <a:t>ndbd</a:t>
            </a:r>
            <a:r>
              <a:rPr lang="en-US" sz="1000" b="1" dirty="0">
                <a:latin typeface="Calibri" panose="020F0502020204030204" pitchFamily="34" charset="0"/>
                <a:ea typeface="+mj-ea"/>
              </a:rPr>
              <a:t>] INFO     -- Angel connected to '192.168.50.51:1186'</a:t>
            </a:r>
          </a:p>
          <a:p>
            <a:r>
              <a:rPr lang="en-US" sz="1000" b="1" dirty="0">
                <a:latin typeface="Calibri" panose="020F0502020204030204" pitchFamily="34" charset="0"/>
                <a:ea typeface="+mj-ea"/>
              </a:rPr>
              <a:t>2017-06-23 09:36:49 [</a:t>
            </a:r>
            <a:r>
              <a:rPr lang="en-US" sz="1000" b="1" dirty="0" err="1">
                <a:latin typeface="Calibri" panose="020F0502020204030204" pitchFamily="34" charset="0"/>
                <a:ea typeface="+mj-ea"/>
              </a:rPr>
              <a:t>ndbd</a:t>
            </a:r>
            <a:r>
              <a:rPr lang="en-US" sz="1000" b="1" dirty="0">
                <a:latin typeface="Calibri" panose="020F0502020204030204" pitchFamily="34" charset="0"/>
                <a:ea typeface="+mj-ea"/>
              </a:rPr>
              <a:t>] INFO     -- Angel allocated </a:t>
            </a:r>
            <a:r>
              <a:rPr lang="en-US" sz="1000" b="1" dirty="0" err="1">
                <a:latin typeface="Calibri" panose="020F0502020204030204" pitchFamily="34" charset="0"/>
                <a:ea typeface="+mj-ea"/>
              </a:rPr>
              <a:t>nodeid</a:t>
            </a:r>
            <a:r>
              <a:rPr lang="en-US" sz="1000" b="1" dirty="0">
                <a:latin typeface="Calibri" panose="020F0502020204030204" pitchFamily="34" charset="0"/>
                <a:ea typeface="+mj-ea"/>
              </a:rPr>
              <a:t>: 10</a:t>
            </a:r>
          </a:p>
          <a:p>
            <a:r>
              <a:rPr lang="en-US" sz="1000" b="1" dirty="0">
                <a:latin typeface="Calibri" panose="020F0502020204030204" pitchFamily="34" charset="0"/>
                <a:ea typeface="+mj-ea"/>
              </a:rPr>
              <a:t>[root@ndb-node-01 </a:t>
            </a:r>
            <a:r>
              <a:rPr lang="en-US" sz="1000" b="1" dirty="0" err="1">
                <a:latin typeface="Calibri" panose="020F0502020204030204" pitchFamily="34" charset="0"/>
                <a:ea typeface="+mj-ea"/>
              </a:rPr>
              <a:t>mysql</a:t>
            </a:r>
            <a:r>
              <a:rPr lang="en-US" sz="1000" b="1" dirty="0">
                <a:latin typeface="Calibri" panose="020F0502020204030204" pitchFamily="34" charset="0"/>
                <a:ea typeface="+mj-ea"/>
              </a:rPr>
              <a:t>-cluster]#</a:t>
            </a:r>
            <a:endParaRPr kumimoji="1" lang="en-US" sz="1000" b="1" dirty="0">
              <a:latin typeface="Calibri" panose="020F0502020204030204" pitchFamily="34" charset="0"/>
              <a:ea typeface="+mj-ea"/>
            </a:endParaRPr>
          </a:p>
        </p:txBody>
      </p:sp>
      <p:sp>
        <p:nvSpPr>
          <p:cNvPr id="5" name="Rectangle 4"/>
          <p:cNvSpPr/>
          <p:nvPr/>
        </p:nvSpPr>
        <p:spPr bwMode="auto">
          <a:xfrm>
            <a:off x="1026160" y="1188750"/>
            <a:ext cx="7091680" cy="690850"/>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a:latin typeface="Calibri" panose="020F0502020204030204" pitchFamily="34" charset="0"/>
                <a:ea typeface="+mj-ea"/>
              </a:rPr>
              <a:t>[root@mgm-node-01 ~]# </a:t>
            </a:r>
            <a:r>
              <a:rPr lang="en-US" sz="1000" b="1" dirty="0" err="1">
                <a:latin typeface="Calibri" panose="020F0502020204030204" pitchFamily="34" charset="0"/>
                <a:ea typeface="+mj-ea"/>
              </a:rPr>
              <a:t>ndb_mgmd</a:t>
            </a:r>
            <a:r>
              <a:rPr lang="en-US" sz="1000" b="1" dirty="0">
                <a:latin typeface="Calibri" panose="020F0502020204030204" pitchFamily="34" charset="0"/>
                <a:ea typeface="+mj-ea"/>
              </a:rPr>
              <a:t> -f /</a:t>
            </a:r>
            <a:r>
              <a:rPr lang="en-US" sz="1000" b="1" dirty="0" err="1">
                <a:latin typeface="Calibri" panose="020F0502020204030204" pitchFamily="34" charset="0"/>
                <a:ea typeface="+mj-ea"/>
              </a:rPr>
              <a:t>var</a:t>
            </a:r>
            <a:r>
              <a:rPr lang="en-US" sz="1000" b="1" dirty="0">
                <a:latin typeface="Calibri" panose="020F0502020204030204" pitchFamily="34" charset="0"/>
                <a:ea typeface="+mj-ea"/>
              </a:rPr>
              <a:t>/lib/</a:t>
            </a:r>
            <a:r>
              <a:rPr lang="en-US" sz="1000" b="1" dirty="0" err="1">
                <a:latin typeface="Calibri" panose="020F0502020204030204" pitchFamily="34" charset="0"/>
                <a:ea typeface="+mj-ea"/>
              </a:rPr>
              <a:t>mysql</a:t>
            </a:r>
            <a:r>
              <a:rPr lang="en-US" sz="1000" b="1" dirty="0">
                <a:latin typeface="Calibri" panose="020F0502020204030204" pitchFamily="34" charset="0"/>
                <a:ea typeface="+mj-ea"/>
              </a:rPr>
              <a:t>-cluster/config.ini --skip-</a:t>
            </a:r>
            <a:r>
              <a:rPr lang="en-US" sz="1000" b="1" dirty="0" err="1">
                <a:latin typeface="Calibri" panose="020F0502020204030204" pitchFamily="34" charset="0"/>
                <a:ea typeface="+mj-ea"/>
              </a:rPr>
              <a:t>config</a:t>
            </a:r>
            <a:r>
              <a:rPr lang="en-US" sz="1000" b="1" dirty="0">
                <a:latin typeface="Calibri" panose="020F0502020204030204" pitchFamily="34" charset="0"/>
                <a:ea typeface="+mj-ea"/>
              </a:rPr>
              <a:t>-cache</a:t>
            </a:r>
          </a:p>
          <a:p>
            <a:r>
              <a:rPr lang="en-US" sz="1000" b="1" dirty="0">
                <a:latin typeface="Calibri" panose="020F0502020204030204" pitchFamily="34" charset="0"/>
                <a:ea typeface="+mj-ea"/>
              </a:rPr>
              <a:t>MySQL Cluster Management Server mysql-5.7.18 ndb-7.5.6</a:t>
            </a:r>
          </a:p>
          <a:p>
            <a:r>
              <a:rPr lang="en-US" sz="1000" b="1" dirty="0">
                <a:latin typeface="Calibri" panose="020F0502020204030204" pitchFamily="34" charset="0"/>
                <a:ea typeface="+mj-ea"/>
              </a:rPr>
              <a:t>2017-06-23 09:22:49 [</a:t>
            </a:r>
            <a:r>
              <a:rPr lang="en-US" sz="1000" b="1" dirty="0" err="1">
                <a:latin typeface="Calibri" panose="020F0502020204030204" pitchFamily="34" charset="0"/>
                <a:ea typeface="+mj-ea"/>
              </a:rPr>
              <a:t>MgmtSrvr</a:t>
            </a:r>
            <a:r>
              <a:rPr lang="en-US" sz="1000" b="1" dirty="0">
                <a:latin typeface="Calibri" panose="020F0502020204030204" pitchFamily="34" charset="0"/>
                <a:ea typeface="+mj-ea"/>
              </a:rPr>
              <a:t>] INFO     -- Skipping check of </a:t>
            </a:r>
            <a:r>
              <a:rPr lang="en-US" sz="1000" b="1" dirty="0" err="1">
                <a:latin typeface="Calibri" panose="020F0502020204030204" pitchFamily="34" charset="0"/>
                <a:ea typeface="+mj-ea"/>
              </a:rPr>
              <a:t>config</a:t>
            </a:r>
            <a:r>
              <a:rPr lang="en-US" sz="1000" b="1" dirty="0">
                <a:latin typeface="Calibri" panose="020F0502020204030204" pitchFamily="34" charset="0"/>
                <a:ea typeface="+mj-ea"/>
              </a:rPr>
              <a:t> directory since </a:t>
            </a:r>
            <a:r>
              <a:rPr lang="en-US" sz="1000" b="1" dirty="0" err="1">
                <a:latin typeface="Calibri" panose="020F0502020204030204" pitchFamily="34" charset="0"/>
                <a:ea typeface="+mj-ea"/>
              </a:rPr>
              <a:t>config</a:t>
            </a:r>
            <a:r>
              <a:rPr lang="en-US" sz="1000" b="1" dirty="0">
                <a:latin typeface="Calibri" panose="020F0502020204030204" pitchFamily="34" charset="0"/>
                <a:ea typeface="+mj-ea"/>
              </a:rPr>
              <a:t> cache is disabled.</a:t>
            </a:r>
          </a:p>
          <a:p>
            <a:r>
              <a:rPr lang="en-US" sz="1000" b="1" dirty="0">
                <a:latin typeface="Calibri" panose="020F0502020204030204" pitchFamily="34" charset="0"/>
                <a:ea typeface="+mj-ea"/>
              </a:rPr>
              <a:t>[root@mgm-node-01 ~]#</a:t>
            </a:r>
            <a:endParaRPr kumimoji="1" lang="en-US" sz="1000" b="1" dirty="0">
              <a:latin typeface="Calibri" panose="020F0502020204030204" pitchFamily="34" charset="0"/>
              <a:ea typeface="+mj-ea"/>
            </a:endParaRPr>
          </a:p>
        </p:txBody>
      </p:sp>
    </p:spTree>
    <p:extLst>
      <p:ext uri="{BB962C8B-B14F-4D97-AF65-F5344CB8AC3E}">
        <p14:creationId xmlns:p14="http://schemas.microsoft.com/office/powerpoint/2010/main" val="26624515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基本操作コマンド　</a:t>
            </a:r>
            <a:r>
              <a:rPr lang="ja-JP" altLang="en-US" dirty="0" smtClean="0"/>
              <a:t>（</a:t>
            </a:r>
            <a:r>
              <a:rPr lang="en-US" altLang="ja-JP" dirty="0" smtClean="0"/>
              <a:t>3/8</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dirty="0" smtClean="0"/>
              <a:t>SQL</a:t>
            </a:r>
            <a:r>
              <a:rPr lang="ja-JP" altLang="en-US" sz="1600" dirty="0"/>
              <a:t>ノー</a:t>
            </a:r>
            <a:r>
              <a:rPr lang="ja-JP" altLang="en-US" sz="1600" dirty="0" smtClean="0"/>
              <a:t>ド</a:t>
            </a:r>
            <a:endParaRPr lang="en-US" altLang="ja-JP" sz="1600" dirty="0" smtClean="0"/>
          </a:p>
          <a:p>
            <a:pPr lvl="1"/>
            <a:r>
              <a:rPr lang="en-US" altLang="ja-JP" sz="1200" dirty="0" err="1"/>
              <a:t>mysqld</a:t>
            </a:r>
            <a:r>
              <a:rPr lang="ja-JP" altLang="en-US" sz="1200" dirty="0"/>
              <a:t>は、</a:t>
            </a:r>
            <a:r>
              <a:rPr lang="en-US" altLang="ja-JP" sz="1200" dirty="0"/>
              <a:t>SQL</a:t>
            </a:r>
            <a:r>
              <a:rPr lang="ja-JP" altLang="en-US" sz="1200" dirty="0"/>
              <a:t>サーバの起動に使用されるデーモンです。</a:t>
            </a:r>
            <a:endParaRPr kumimoji="1" lang="en-US" altLang="ja-JP" sz="1200" dirty="0" smtClean="0"/>
          </a:p>
          <a:p>
            <a:pPr lvl="1"/>
            <a:r>
              <a:rPr lang="en-US" altLang="ja-JP" sz="1200" dirty="0"/>
              <a:t>MySQL</a:t>
            </a:r>
            <a:r>
              <a:rPr lang="ja-JP" altLang="en-US" sz="1200" dirty="0"/>
              <a:t>サーバは、データベースとテーブルを含む</a:t>
            </a:r>
            <a:r>
              <a:rPr lang="en-US" altLang="ja-JP" sz="1200" dirty="0"/>
              <a:t>MySQL</a:t>
            </a:r>
            <a:r>
              <a:rPr lang="ja-JP" altLang="en-US" sz="1200" dirty="0"/>
              <a:t>データディレクトリへのアクセスを管理します。</a:t>
            </a:r>
            <a:endParaRPr lang="en-US" altLang="ja-JP" sz="1200" dirty="0" smtClean="0"/>
          </a:p>
          <a:p>
            <a:pPr lvl="1"/>
            <a:r>
              <a:rPr lang="ja-JP" altLang="en-US" sz="1200" dirty="0"/>
              <a:t>コマンドオプション：</a:t>
            </a:r>
            <a:endParaRPr lang="en-US" altLang="ja-JP" sz="1200" dirty="0"/>
          </a:p>
          <a:p>
            <a:pPr lvl="2"/>
            <a:r>
              <a:rPr lang="en-US" altLang="ja-JP" sz="1200" dirty="0" smtClean="0"/>
              <a:t>--</a:t>
            </a:r>
            <a:r>
              <a:rPr lang="en-US" altLang="ja-JP" sz="1200" dirty="0" smtClean="0"/>
              <a:t>user</a:t>
            </a:r>
          </a:p>
          <a:p>
            <a:pPr lvl="3"/>
            <a:r>
              <a:rPr lang="en-US" altLang="ja-JP" sz="1000" dirty="0" err="1"/>
              <a:t>mysql</a:t>
            </a:r>
            <a:r>
              <a:rPr lang="ja-JP" altLang="en-US" sz="1000" dirty="0"/>
              <a:t>クライアントを実行するユーザを設定する</a:t>
            </a:r>
            <a:endParaRPr lang="en-US" altLang="ja-JP" sz="1000" dirty="0" smtClean="0"/>
          </a:p>
          <a:p>
            <a:pPr lvl="2"/>
            <a:r>
              <a:rPr lang="en-US" altLang="ja-JP" sz="1200" dirty="0" smtClean="0"/>
              <a:t>--initialize</a:t>
            </a:r>
          </a:p>
          <a:p>
            <a:pPr lvl="3"/>
            <a:r>
              <a:rPr lang="en-US" altLang="ja-JP" sz="1000" dirty="0"/>
              <a:t>MySQL</a:t>
            </a:r>
            <a:r>
              <a:rPr lang="ja-JP" altLang="en-US" sz="1000" dirty="0"/>
              <a:t>データディレクトリを初期化し、それに含まれるシステムテーブルを作成します。</a:t>
            </a:r>
            <a:endParaRPr lang="en-US" altLang="ja-JP" sz="1000" dirty="0" smtClean="0"/>
          </a:p>
          <a:p>
            <a:pPr lvl="1"/>
            <a:r>
              <a:rPr lang="en-US" altLang="ja-JP" sz="1200" dirty="0"/>
              <a:t>SQL</a:t>
            </a:r>
            <a:r>
              <a:rPr lang="ja-JP" altLang="en-US" sz="1200" dirty="0"/>
              <a:t>ノードの起動例</a:t>
            </a:r>
            <a:endParaRPr kumimoji="1" lang="en-US" altLang="ja-JP" sz="1200" dirty="0" smtClean="0"/>
          </a:p>
          <a:p>
            <a:pPr lvl="2"/>
            <a:endParaRPr kumimoji="1" lang="ja-JP" altLang="en-US" sz="1000" dirty="0"/>
          </a:p>
        </p:txBody>
      </p:sp>
      <p:sp>
        <p:nvSpPr>
          <p:cNvPr id="5" name="Rectangle 4"/>
          <p:cNvSpPr/>
          <p:nvPr/>
        </p:nvSpPr>
        <p:spPr bwMode="auto">
          <a:xfrm>
            <a:off x="1026160" y="3169950"/>
            <a:ext cx="7091680" cy="690850"/>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a:latin typeface="Calibri" panose="020F0502020204030204" pitchFamily="34" charset="0"/>
                <a:ea typeface="+mj-ea"/>
              </a:rPr>
              <a:t>[root@sql-node-01 ~]# </a:t>
            </a:r>
            <a:r>
              <a:rPr lang="en-US" sz="1000" b="1" dirty="0" err="1">
                <a:latin typeface="Calibri" panose="020F0502020204030204" pitchFamily="34" charset="0"/>
                <a:ea typeface="+mj-ea"/>
              </a:rPr>
              <a:t>mysqld</a:t>
            </a:r>
            <a:r>
              <a:rPr lang="en-US" sz="1000" b="1" dirty="0">
                <a:latin typeface="Calibri" panose="020F0502020204030204" pitchFamily="34" charset="0"/>
                <a:ea typeface="+mj-ea"/>
              </a:rPr>
              <a:t> --user="</a:t>
            </a:r>
            <a:r>
              <a:rPr lang="en-US" sz="1000" b="1" dirty="0" err="1">
                <a:latin typeface="Calibri" panose="020F0502020204030204" pitchFamily="34" charset="0"/>
                <a:ea typeface="+mj-ea"/>
              </a:rPr>
              <a:t>mysql</a:t>
            </a:r>
            <a:r>
              <a:rPr lang="en-US" sz="1000" b="1" dirty="0">
                <a:latin typeface="Calibri" panose="020F0502020204030204" pitchFamily="34" charset="0"/>
                <a:ea typeface="+mj-ea"/>
              </a:rPr>
              <a:t>" &amp;</a:t>
            </a:r>
          </a:p>
          <a:p>
            <a:r>
              <a:rPr lang="en-US" sz="1000" b="1" dirty="0" smtClean="0">
                <a:latin typeface="Calibri" panose="020F0502020204030204" pitchFamily="34" charset="0"/>
                <a:ea typeface="+mj-ea"/>
              </a:rPr>
              <a:t>[1] </a:t>
            </a:r>
            <a:r>
              <a:rPr lang="en-US" sz="1000" b="1" dirty="0">
                <a:latin typeface="Calibri" panose="020F0502020204030204" pitchFamily="34" charset="0"/>
                <a:ea typeface="+mj-ea"/>
              </a:rPr>
              <a:t>22144</a:t>
            </a:r>
          </a:p>
          <a:p>
            <a:r>
              <a:rPr lang="en-US" sz="1000" b="1" dirty="0">
                <a:latin typeface="Calibri" panose="020F0502020204030204" pitchFamily="34" charset="0"/>
                <a:ea typeface="+mj-ea"/>
              </a:rPr>
              <a:t>[root@sql-node-01 ~]#</a:t>
            </a:r>
            <a:endParaRPr kumimoji="1" lang="en-US" sz="1000" b="1" dirty="0">
              <a:latin typeface="Calibri" panose="020F0502020204030204" pitchFamily="34" charset="0"/>
              <a:ea typeface="+mj-ea"/>
            </a:endParaRPr>
          </a:p>
        </p:txBody>
      </p:sp>
    </p:spTree>
    <p:extLst>
      <p:ext uri="{BB962C8B-B14F-4D97-AF65-F5344CB8AC3E}">
        <p14:creationId xmlns:p14="http://schemas.microsoft.com/office/powerpoint/2010/main" val="37406728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基本操作コマンド　</a:t>
            </a:r>
            <a:r>
              <a:rPr lang="ja-JP" altLang="en-US" dirty="0" smtClean="0"/>
              <a:t>（</a:t>
            </a:r>
            <a:r>
              <a:rPr lang="en-US" altLang="ja-JP" dirty="0" smtClean="0"/>
              <a:t>4/8</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dirty="0"/>
              <a:t>NDB</a:t>
            </a:r>
            <a:r>
              <a:rPr lang="ja-JP" altLang="en-US" sz="1600" dirty="0"/>
              <a:t>クライアント管理のコマンド</a:t>
            </a:r>
            <a:endParaRPr lang="en-US" altLang="ja-JP" sz="1600" dirty="0" smtClean="0"/>
          </a:p>
          <a:p>
            <a:pPr lvl="1"/>
            <a:r>
              <a:rPr lang="ja-JP" altLang="en-US" sz="1200" dirty="0"/>
              <a:t>管理クライアントには、以下の基本コマンドがあります。 次のリストでは、</a:t>
            </a:r>
            <a:r>
              <a:rPr lang="en-US" altLang="ja-JP" sz="1200" dirty="0" err="1"/>
              <a:t>node_id</a:t>
            </a:r>
            <a:r>
              <a:rPr lang="ja-JP" altLang="en-US" sz="1200" dirty="0"/>
              <a:t>は、データベースノード</a:t>
            </a:r>
            <a:r>
              <a:rPr lang="en-US" altLang="ja-JP" sz="1200" dirty="0"/>
              <a:t>ID</a:t>
            </a:r>
            <a:r>
              <a:rPr lang="ja-JP" altLang="en-US" sz="1200" dirty="0"/>
              <a:t>またはキーワード</a:t>
            </a:r>
            <a:r>
              <a:rPr lang="en-US" altLang="ja-JP" sz="1200" dirty="0"/>
              <a:t>ALL</a:t>
            </a:r>
            <a:r>
              <a:rPr lang="ja-JP" altLang="en-US" sz="1200" dirty="0"/>
              <a:t>を示します。これは、コマンドをクラスタのすべてのデータノードに適用する必要があることを示します</a:t>
            </a:r>
            <a:r>
              <a:rPr lang="ja-JP" altLang="en-US" sz="1200" dirty="0" smtClean="0"/>
              <a:t>。</a:t>
            </a:r>
            <a:endParaRPr lang="en-US" altLang="ja-JP" sz="1200" dirty="0" smtClean="0"/>
          </a:p>
          <a:p>
            <a:pPr lvl="2"/>
            <a:r>
              <a:rPr lang="en-US" altLang="ja-JP" sz="1200" dirty="0" smtClean="0"/>
              <a:t>SHOW</a:t>
            </a:r>
          </a:p>
          <a:p>
            <a:pPr lvl="3"/>
            <a:r>
              <a:rPr lang="ja-JP" altLang="en-US" sz="1000" dirty="0"/>
              <a:t>クラスタノードの状態に関する情報を表示する</a:t>
            </a:r>
            <a:endParaRPr lang="en-US" altLang="ja-JP" sz="1000" dirty="0" smtClean="0"/>
          </a:p>
          <a:p>
            <a:pPr lvl="3"/>
            <a:r>
              <a:rPr lang="ja-JP" altLang="en-US" sz="1000" dirty="0"/>
              <a:t>クラスタの状態に関する情報を表示します。 可能なノードのステータス値には、</a:t>
            </a:r>
            <a:r>
              <a:rPr lang="en-US" altLang="ja-JP" sz="1000" dirty="0"/>
              <a:t>UNKNOWN</a:t>
            </a:r>
            <a:r>
              <a:rPr lang="ja-JP" altLang="en-US" sz="1000" dirty="0"/>
              <a:t>、</a:t>
            </a:r>
            <a:r>
              <a:rPr lang="en-US" altLang="ja-JP" sz="1000" dirty="0"/>
              <a:t>NO_CONTACT</a:t>
            </a:r>
            <a:r>
              <a:rPr lang="ja-JP" altLang="en-US" sz="1000" dirty="0"/>
              <a:t>、</a:t>
            </a:r>
            <a:r>
              <a:rPr lang="en-US" altLang="ja-JP" sz="1000" dirty="0"/>
              <a:t>NOT_STARTED</a:t>
            </a:r>
            <a:r>
              <a:rPr lang="ja-JP" altLang="en-US" sz="1000" dirty="0"/>
              <a:t>、</a:t>
            </a:r>
            <a:r>
              <a:rPr lang="en-US" altLang="ja-JP" sz="1000" dirty="0"/>
              <a:t>STARTING</a:t>
            </a:r>
            <a:r>
              <a:rPr lang="ja-JP" altLang="en-US" sz="1000" dirty="0"/>
              <a:t>、</a:t>
            </a:r>
            <a:r>
              <a:rPr lang="en-US" altLang="ja-JP" sz="1000" dirty="0"/>
              <a:t>STARTED</a:t>
            </a:r>
            <a:r>
              <a:rPr lang="ja-JP" altLang="en-US" sz="1000" dirty="0"/>
              <a:t>、</a:t>
            </a:r>
            <a:r>
              <a:rPr lang="en-US" altLang="ja-JP" sz="1000" dirty="0"/>
              <a:t>SHUTTING_DOWN</a:t>
            </a:r>
            <a:r>
              <a:rPr lang="ja-JP" altLang="en-US" sz="1000" dirty="0"/>
              <a:t>、および</a:t>
            </a:r>
            <a:r>
              <a:rPr lang="en-US" altLang="ja-JP" sz="1000" dirty="0"/>
              <a:t>RESTARTING</a:t>
            </a:r>
            <a:r>
              <a:rPr lang="ja-JP" altLang="en-US" sz="1000" dirty="0"/>
              <a:t>があります。 このコマンドの出力は、クラスタがシングルユーザーモード（シングルユーザーモード）であることも示します。</a:t>
            </a:r>
            <a:endParaRPr lang="en-US" altLang="ja-JP" sz="1000" dirty="0" smtClean="0"/>
          </a:p>
          <a:p>
            <a:pPr lvl="3"/>
            <a:endParaRPr lang="en-US" altLang="ja-JP" sz="1000" dirty="0"/>
          </a:p>
          <a:p>
            <a:pPr lvl="3"/>
            <a:endParaRPr lang="en-US" altLang="ja-JP" sz="1000" dirty="0" smtClean="0"/>
          </a:p>
          <a:p>
            <a:pPr lvl="3"/>
            <a:endParaRPr lang="en-US" altLang="ja-JP" sz="1000" dirty="0"/>
          </a:p>
          <a:p>
            <a:pPr lvl="3"/>
            <a:endParaRPr lang="en-US" altLang="ja-JP" sz="1000" dirty="0" smtClean="0"/>
          </a:p>
          <a:p>
            <a:pPr lvl="3"/>
            <a:endParaRPr lang="en-US" altLang="ja-JP" sz="1000" dirty="0"/>
          </a:p>
          <a:p>
            <a:pPr marL="468000" lvl="3" indent="0">
              <a:buNone/>
            </a:pPr>
            <a:endParaRPr lang="en-US" altLang="ja-JP" sz="1000" dirty="0" smtClean="0"/>
          </a:p>
        </p:txBody>
      </p:sp>
      <p:sp>
        <p:nvSpPr>
          <p:cNvPr id="6" name="Rectangle 5"/>
          <p:cNvSpPr/>
          <p:nvPr/>
        </p:nvSpPr>
        <p:spPr bwMode="auto">
          <a:xfrm>
            <a:off x="1026160" y="2804160"/>
            <a:ext cx="7091680" cy="3342640"/>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a:latin typeface="Calibri" panose="020F0502020204030204" pitchFamily="34" charset="0"/>
                <a:ea typeface="+mj-ea"/>
              </a:rPr>
              <a:t>[root@mgm-node-01 ~]# </a:t>
            </a:r>
            <a:r>
              <a:rPr lang="en-US" sz="1000" b="1" dirty="0" err="1">
                <a:latin typeface="Calibri" panose="020F0502020204030204" pitchFamily="34" charset="0"/>
                <a:ea typeface="+mj-ea"/>
              </a:rPr>
              <a:t>ndb_mgm</a:t>
            </a:r>
            <a:endParaRPr lang="en-US" sz="1000" b="1" dirty="0">
              <a:latin typeface="Calibri" panose="020F0502020204030204" pitchFamily="34" charset="0"/>
              <a:ea typeface="+mj-ea"/>
            </a:endParaRPr>
          </a:p>
          <a:p>
            <a:r>
              <a:rPr lang="en-US" sz="1000" b="1" dirty="0">
                <a:latin typeface="Calibri" panose="020F0502020204030204" pitchFamily="34" charset="0"/>
                <a:ea typeface="+mj-ea"/>
              </a:rPr>
              <a:t>-- NDB Cluster -- Management Client --</a:t>
            </a:r>
          </a:p>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 show</a:t>
            </a:r>
          </a:p>
          <a:p>
            <a:r>
              <a:rPr lang="en-US" sz="1000" b="1" dirty="0">
                <a:latin typeface="Calibri" panose="020F0502020204030204" pitchFamily="34" charset="0"/>
                <a:ea typeface="+mj-ea"/>
              </a:rPr>
              <a:t>Connected to Management Server at: localhost:1186</a:t>
            </a:r>
          </a:p>
          <a:p>
            <a:r>
              <a:rPr lang="en-US" sz="1000" b="1" dirty="0">
                <a:latin typeface="Calibri" panose="020F0502020204030204" pitchFamily="34" charset="0"/>
                <a:ea typeface="+mj-ea"/>
              </a:rPr>
              <a:t>Cluster Configuration</a:t>
            </a:r>
          </a:p>
          <a:p>
            <a:r>
              <a:rPr lang="en-US" sz="1000" b="1" dirty="0">
                <a:latin typeface="Calibri" panose="020F0502020204030204" pitchFamily="34" charset="0"/>
                <a:ea typeface="+mj-ea"/>
              </a:rPr>
              <a:t>---------------------</a:t>
            </a:r>
          </a:p>
          <a:p>
            <a:r>
              <a:rPr lang="en-US" sz="1000" b="1" dirty="0">
                <a:latin typeface="Calibri" panose="020F0502020204030204" pitchFamily="34" charset="0"/>
                <a:ea typeface="+mj-ea"/>
              </a:rPr>
              <a:t>[</a:t>
            </a:r>
            <a:r>
              <a:rPr lang="en-US" sz="1000" b="1" dirty="0" err="1">
                <a:latin typeface="Calibri" panose="020F0502020204030204" pitchFamily="34" charset="0"/>
                <a:ea typeface="+mj-ea"/>
              </a:rPr>
              <a:t>ndbd</a:t>
            </a:r>
            <a:r>
              <a:rPr lang="en-US" sz="1000" b="1" dirty="0">
                <a:latin typeface="Calibri" panose="020F0502020204030204" pitchFamily="34" charset="0"/>
                <a:ea typeface="+mj-ea"/>
              </a:rPr>
              <a:t>(NDB)]     4 node(s)</a:t>
            </a:r>
          </a:p>
          <a:p>
            <a:r>
              <a:rPr lang="en-US" sz="1000" b="1" dirty="0">
                <a:latin typeface="Calibri" panose="020F0502020204030204" pitchFamily="34" charset="0"/>
                <a:ea typeface="+mj-ea"/>
              </a:rPr>
              <a:t>id=10   @192.168.50.55  (mysql-5.7.18 ndb-7.5.6, </a:t>
            </a:r>
            <a:r>
              <a:rPr lang="en-US" sz="1000" b="1" dirty="0" err="1">
                <a:latin typeface="Calibri" panose="020F0502020204030204" pitchFamily="34" charset="0"/>
                <a:ea typeface="+mj-ea"/>
              </a:rPr>
              <a:t>Nodegroup</a:t>
            </a:r>
            <a:r>
              <a:rPr lang="en-US" sz="1000" b="1" dirty="0">
                <a:latin typeface="Calibri" panose="020F0502020204030204" pitchFamily="34" charset="0"/>
                <a:ea typeface="+mj-ea"/>
              </a:rPr>
              <a:t>: 0)</a:t>
            </a:r>
          </a:p>
          <a:p>
            <a:r>
              <a:rPr lang="en-US" sz="1000" b="1" dirty="0">
                <a:latin typeface="Calibri" panose="020F0502020204030204" pitchFamily="34" charset="0"/>
                <a:ea typeface="+mj-ea"/>
              </a:rPr>
              <a:t>id=11   @192.168.50.56  (mysql-5.7.18 ndb-7.5.6, </a:t>
            </a:r>
            <a:r>
              <a:rPr lang="en-US" sz="1000" b="1" dirty="0" err="1">
                <a:latin typeface="Calibri" panose="020F0502020204030204" pitchFamily="34" charset="0"/>
                <a:ea typeface="+mj-ea"/>
              </a:rPr>
              <a:t>Nodegroup</a:t>
            </a:r>
            <a:r>
              <a:rPr lang="en-US" sz="1000" b="1" dirty="0">
                <a:latin typeface="Calibri" panose="020F0502020204030204" pitchFamily="34" charset="0"/>
                <a:ea typeface="+mj-ea"/>
              </a:rPr>
              <a:t>: 0, *)</a:t>
            </a:r>
          </a:p>
          <a:p>
            <a:r>
              <a:rPr lang="en-US" sz="1000" b="1" dirty="0">
                <a:latin typeface="Calibri" panose="020F0502020204030204" pitchFamily="34" charset="0"/>
                <a:ea typeface="+mj-ea"/>
              </a:rPr>
              <a:t>id=12   @192.168.50.59  (mysql-5.7.18 ndb-7.5.6, </a:t>
            </a:r>
            <a:r>
              <a:rPr lang="en-US" sz="1000" b="1" dirty="0" err="1">
                <a:latin typeface="Calibri" panose="020F0502020204030204" pitchFamily="34" charset="0"/>
                <a:ea typeface="+mj-ea"/>
              </a:rPr>
              <a:t>Nodegroup</a:t>
            </a:r>
            <a:r>
              <a:rPr lang="en-US" sz="1000" b="1" dirty="0">
                <a:latin typeface="Calibri" panose="020F0502020204030204" pitchFamily="34" charset="0"/>
                <a:ea typeface="+mj-ea"/>
              </a:rPr>
              <a:t>: 1)</a:t>
            </a:r>
          </a:p>
          <a:p>
            <a:r>
              <a:rPr lang="en-US" sz="1000" b="1" dirty="0">
                <a:latin typeface="Calibri" panose="020F0502020204030204" pitchFamily="34" charset="0"/>
                <a:ea typeface="+mj-ea"/>
              </a:rPr>
              <a:t>id=13   @192.168.50.60  (mysql-5.7.18 ndb-7.5.6, </a:t>
            </a:r>
            <a:r>
              <a:rPr lang="en-US" sz="1000" b="1" dirty="0" err="1">
                <a:latin typeface="Calibri" panose="020F0502020204030204" pitchFamily="34" charset="0"/>
                <a:ea typeface="+mj-ea"/>
              </a:rPr>
              <a:t>Nodegroup</a:t>
            </a:r>
            <a:r>
              <a:rPr lang="en-US" sz="1000" b="1" dirty="0">
                <a:latin typeface="Calibri" panose="020F0502020204030204" pitchFamily="34" charset="0"/>
                <a:ea typeface="+mj-ea"/>
              </a:rPr>
              <a:t>: 1)</a:t>
            </a:r>
          </a:p>
          <a:p>
            <a:endParaRPr lang="en-US" sz="1000" b="1" dirty="0">
              <a:latin typeface="Calibri" panose="020F0502020204030204" pitchFamily="34" charset="0"/>
              <a:ea typeface="+mj-ea"/>
            </a:endParaRPr>
          </a:p>
          <a:p>
            <a:r>
              <a:rPr lang="en-US" sz="1000" b="1" dirty="0">
                <a:latin typeface="Calibri" panose="020F0502020204030204" pitchFamily="34" charset="0"/>
                <a:ea typeface="+mj-ea"/>
              </a:rPr>
              <a:t>[</a:t>
            </a:r>
            <a:r>
              <a:rPr lang="en-US" sz="1000" b="1" dirty="0" err="1">
                <a:latin typeface="Calibri" panose="020F0502020204030204" pitchFamily="34" charset="0"/>
                <a:ea typeface="+mj-ea"/>
              </a:rPr>
              <a:t>ndb_mgmd</a:t>
            </a:r>
            <a:r>
              <a:rPr lang="en-US" sz="1000" b="1" dirty="0">
                <a:latin typeface="Calibri" panose="020F0502020204030204" pitchFamily="34" charset="0"/>
                <a:ea typeface="+mj-ea"/>
              </a:rPr>
              <a:t>(MGM)] 1 node(s)</a:t>
            </a:r>
          </a:p>
          <a:p>
            <a:r>
              <a:rPr lang="en-US" sz="1000" b="1" dirty="0">
                <a:latin typeface="Calibri" panose="020F0502020204030204" pitchFamily="34" charset="0"/>
                <a:ea typeface="+mj-ea"/>
              </a:rPr>
              <a:t>id=1    @192.168.50.51  (mysql-5.7.18 ndb-7.5.6)</a:t>
            </a:r>
          </a:p>
          <a:p>
            <a:endParaRPr lang="en-US" sz="1000" b="1" dirty="0">
              <a:latin typeface="Calibri" panose="020F0502020204030204" pitchFamily="34" charset="0"/>
              <a:ea typeface="+mj-ea"/>
            </a:endParaRPr>
          </a:p>
          <a:p>
            <a:r>
              <a:rPr lang="en-US" sz="1000" b="1" dirty="0">
                <a:latin typeface="Calibri" panose="020F0502020204030204" pitchFamily="34" charset="0"/>
                <a:ea typeface="+mj-ea"/>
              </a:rPr>
              <a:t>[</a:t>
            </a:r>
            <a:r>
              <a:rPr lang="en-US" sz="1000" b="1" dirty="0" err="1">
                <a:latin typeface="Calibri" panose="020F0502020204030204" pitchFamily="34" charset="0"/>
                <a:ea typeface="+mj-ea"/>
              </a:rPr>
              <a:t>mysqld</a:t>
            </a:r>
            <a:r>
              <a:rPr lang="en-US" sz="1000" b="1" dirty="0">
                <a:latin typeface="Calibri" panose="020F0502020204030204" pitchFamily="34" charset="0"/>
                <a:ea typeface="+mj-ea"/>
              </a:rPr>
              <a:t>(API)]   3 node(s)</a:t>
            </a:r>
          </a:p>
          <a:p>
            <a:r>
              <a:rPr lang="en-US" sz="1000" b="1" dirty="0">
                <a:latin typeface="Calibri" panose="020F0502020204030204" pitchFamily="34" charset="0"/>
                <a:ea typeface="+mj-ea"/>
              </a:rPr>
              <a:t>id=50   @192.168.50.53  (mysql-5.7.18 ndb-7.5.6)</a:t>
            </a:r>
          </a:p>
          <a:p>
            <a:r>
              <a:rPr lang="en-US" sz="1000" b="1" dirty="0">
                <a:latin typeface="Calibri" panose="020F0502020204030204" pitchFamily="34" charset="0"/>
                <a:ea typeface="+mj-ea"/>
              </a:rPr>
              <a:t>id=51   @192.168.50.54  (mysql-5.7.18 ndb-7.5.6)</a:t>
            </a:r>
          </a:p>
          <a:p>
            <a:r>
              <a:rPr lang="en-US" sz="1000" b="1" dirty="0">
                <a:latin typeface="Calibri" panose="020F0502020204030204" pitchFamily="34" charset="0"/>
                <a:ea typeface="+mj-ea"/>
              </a:rPr>
              <a:t>id=52 (not connected, accepting connect from any host)</a:t>
            </a:r>
          </a:p>
          <a:p>
            <a:endParaRPr lang="en-US" sz="1000" b="1" dirty="0">
              <a:latin typeface="Calibri" panose="020F0502020204030204" pitchFamily="34" charset="0"/>
              <a:ea typeface="+mj-ea"/>
            </a:endParaRPr>
          </a:p>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a:t>
            </a:r>
            <a:endParaRPr kumimoji="1" lang="en-US" sz="1000" b="1" dirty="0">
              <a:latin typeface="Calibri" panose="020F0502020204030204" pitchFamily="34" charset="0"/>
              <a:ea typeface="+mj-ea"/>
            </a:endParaRPr>
          </a:p>
        </p:txBody>
      </p:sp>
    </p:spTree>
    <p:extLst>
      <p:ext uri="{BB962C8B-B14F-4D97-AF65-F5344CB8AC3E}">
        <p14:creationId xmlns:p14="http://schemas.microsoft.com/office/powerpoint/2010/main" val="11935443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基本操作コマンド　</a:t>
            </a:r>
            <a:r>
              <a:rPr lang="ja-JP" altLang="en-US" dirty="0" smtClean="0"/>
              <a:t>（</a:t>
            </a:r>
            <a:r>
              <a:rPr lang="en-US" altLang="ja-JP" dirty="0" smtClean="0"/>
              <a:t>5/8</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normAutofit/>
          </a:bodyPr>
          <a:lstStyle/>
          <a:p>
            <a:pPr lvl="2"/>
            <a:r>
              <a:rPr lang="en-US" altLang="ja-JP" sz="1200" dirty="0" smtClean="0"/>
              <a:t>HELP</a:t>
            </a:r>
            <a:r>
              <a:rPr lang="en-US" altLang="ja-JP" sz="1200" dirty="0"/>
              <a:t>	</a:t>
            </a:r>
            <a:endParaRPr lang="en-US" altLang="ja-JP" sz="1200" dirty="0" smtClean="0"/>
          </a:p>
          <a:p>
            <a:pPr lvl="3"/>
            <a:r>
              <a:rPr lang="ja-JP" altLang="en-US" sz="1000" dirty="0"/>
              <a:t>使用可能なすべてのコマンドに関する情報を表示します。</a:t>
            </a:r>
            <a:endParaRPr lang="en-US" altLang="ja-JP" sz="1000" dirty="0" smtClean="0"/>
          </a:p>
          <a:p>
            <a:pPr lvl="3"/>
            <a:endParaRPr lang="en-US" altLang="ja-JP" sz="1000" dirty="0"/>
          </a:p>
          <a:p>
            <a:pPr lvl="3"/>
            <a:endParaRPr lang="en-US" altLang="ja-JP" sz="1000" dirty="0" smtClean="0"/>
          </a:p>
          <a:p>
            <a:pPr lvl="3"/>
            <a:endParaRPr lang="en-US" altLang="ja-JP" sz="1000" dirty="0"/>
          </a:p>
          <a:p>
            <a:pPr lvl="3"/>
            <a:endParaRPr lang="en-US" altLang="ja-JP" sz="1000" dirty="0" smtClean="0"/>
          </a:p>
          <a:p>
            <a:pPr lvl="3"/>
            <a:endParaRPr lang="en-US" altLang="ja-JP" sz="1000" dirty="0"/>
          </a:p>
          <a:p>
            <a:pPr lvl="3"/>
            <a:endParaRPr lang="en-US" altLang="ja-JP" sz="1000" dirty="0" smtClean="0"/>
          </a:p>
          <a:p>
            <a:pPr lvl="3"/>
            <a:endParaRPr lang="en-US" altLang="ja-JP" sz="1000" dirty="0"/>
          </a:p>
          <a:p>
            <a:pPr lvl="3"/>
            <a:endParaRPr lang="en-US" altLang="ja-JP" sz="1000" dirty="0" smtClean="0"/>
          </a:p>
          <a:p>
            <a:pPr lvl="3"/>
            <a:endParaRPr lang="en-US" altLang="ja-JP" sz="1000" dirty="0"/>
          </a:p>
          <a:p>
            <a:pPr lvl="3"/>
            <a:endParaRPr lang="en-US" altLang="ja-JP" sz="1000" dirty="0" smtClean="0"/>
          </a:p>
          <a:p>
            <a:pPr lvl="3"/>
            <a:endParaRPr lang="en-US" altLang="ja-JP" sz="1000" dirty="0"/>
          </a:p>
          <a:p>
            <a:pPr lvl="3"/>
            <a:endParaRPr lang="en-US" altLang="ja-JP" sz="1000" dirty="0" smtClean="0"/>
          </a:p>
          <a:p>
            <a:pPr lvl="3"/>
            <a:endParaRPr lang="en-US" altLang="ja-JP" sz="1000" dirty="0"/>
          </a:p>
        </p:txBody>
      </p:sp>
      <p:sp>
        <p:nvSpPr>
          <p:cNvPr id="4" name="Rectangle 3"/>
          <p:cNvSpPr/>
          <p:nvPr/>
        </p:nvSpPr>
        <p:spPr bwMode="auto">
          <a:xfrm>
            <a:off x="1026160" y="1371600"/>
            <a:ext cx="7091680" cy="4114800"/>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 HELP</a:t>
            </a:r>
          </a:p>
          <a:p>
            <a:r>
              <a:rPr lang="en-US" sz="1000" b="1" dirty="0">
                <a:latin typeface="Calibri" panose="020F0502020204030204" pitchFamily="34" charset="0"/>
                <a:ea typeface="+mj-ea"/>
              </a:rPr>
              <a:t>---------------------------------------------------------------------------</a:t>
            </a:r>
          </a:p>
          <a:p>
            <a:r>
              <a:rPr lang="en-US" sz="1000" b="1" dirty="0">
                <a:latin typeface="Calibri" panose="020F0502020204030204" pitchFamily="34" charset="0"/>
                <a:ea typeface="+mj-ea"/>
              </a:rPr>
              <a:t> NDB Cluster -- Management Client -- Help</a:t>
            </a:r>
          </a:p>
          <a:p>
            <a:r>
              <a:rPr lang="en-US" sz="1000" b="1" dirty="0">
                <a:latin typeface="Calibri" panose="020F0502020204030204" pitchFamily="34" charset="0"/>
                <a:ea typeface="+mj-ea"/>
              </a:rPr>
              <a:t>---------------------------------------------------------------------------</a:t>
            </a:r>
          </a:p>
          <a:p>
            <a:r>
              <a:rPr lang="en-US" sz="1000" b="1" dirty="0">
                <a:latin typeface="Calibri" panose="020F0502020204030204" pitchFamily="34" charset="0"/>
                <a:ea typeface="+mj-ea"/>
              </a:rPr>
              <a:t>HELP                                   Print help text</a:t>
            </a:r>
          </a:p>
          <a:p>
            <a:r>
              <a:rPr lang="en-US" sz="1000" b="1" dirty="0">
                <a:latin typeface="Calibri" panose="020F0502020204030204" pitchFamily="34" charset="0"/>
                <a:ea typeface="+mj-ea"/>
              </a:rPr>
              <a:t>HELP COMMAND                           Print detailed help for COMMAND(e.g. SHOW)</a:t>
            </a:r>
          </a:p>
          <a:p>
            <a:r>
              <a:rPr lang="en-US" sz="1000" b="1" dirty="0">
                <a:latin typeface="Calibri" panose="020F0502020204030204" pitchFamily="34" charset="0"/>
                <a:ea typeface="+mj-ea"/>
              </a:rPr>
              <a:t>SHOW                                   Print information about cluster</a:t>
            </a:r>
          </a:p>
          <a:p>
            <a:r>
              <a:rPr lang="en-US" sz="1000" b="1" dirty="0">
                <a:latin typeface="Calibri" panose="020F0502020204030204" pitchFamily="34" charset="0"/>
                <a:ea typeface="+mj-ea"/>
              </a:rPr>
              <a:t>CREATE NODEGROUP &lt;id&gt;,&lt;id&gt;...          Add a </a:t>
            </a:r>
            <a:r>
              <a:rPr lang="en-US" sz="1000" b="1" dirty="0" err="1">
                <a:latin typeface="Calibri" panose="020F0502020204030204" pitchFamily="34" charset="0"/>
                <a:ea typeface="+mj-ea"/>
              </a:rPr>
              <a:t>Nodegroup</a:t>
            </a:r>
            <a:r>
              <a:rPr lang="en-US" sz="1000" b="1" dirty="0">
                <a:latin typeface="Calibri" panose="020F0502020204030204" pitchFamily="34" charset="0"/>
                <a:ea typeface="+mj-ea"/>
              </a:rPr>
              <a:t> containing nodes</a:t>
            </a:r>
          </a:p>
          <a:p>
            <a:r>
              <a:rPr lang="en-US" sz="1000" b="1" dirty="0">
                <a:latin typeface="Calibri" panose="020F0502020204030204" pitchFamily="34" charset="0"/>
                <a:ea typeface="+mj-ea"/>
              </a:rPr>
              <a:t>DROP NODEGROUP &lt;NG&gt;                    Drop </a:t>
            </a:r>
            <a:r>
              <a:rPr lang="en-US" sz="1000" b="1" dirty="0" err="1">
                <a:latin typeface="Calibri" panose="020F0502020204030204" pitchFamily="34" charset="0"/>
                <a:ea typeface="+mj-ea"/>
              </a:rPr>
              <a:t>nodegroup</a:t>
            </a:r>
            <a:r>
              <a:rPr lang="en-US" sz="1000" b="1" dirty="0">
                <a:latin typeface="Calibri" panose="020F0502020204030204" pitchFamily="34" charset="0"/>
                <a:ea typeface="+mj-ea"/>
              </a:rPr>
              <a:t> with id NG</a:t>
            </a:r>
          </a:p>
          <a:p>
            <a:r>
              <a:rPr lang="en-US" sz="1000" b="1" dirty="0">
                <a:latin typeface="Calibri" panose="020F0502020204030204" pitchFamily="34" charset="0"/>
                <a:ea typeface="+mj-ea"/>
              </a:rPr>
              <a:t>START BACKUP [NOWAIT | WAIT STARTED | WAIT COMPLETED]</a:t>
            </a:r>
          </a:p>
          <a:p>
            <a:r>
              <a:rPr lang="en-US" sz="1000" b="1" dirty="0">
                <a:latin typeface="Calibri" panose="020F0502020204030204" pitchFamily="34" charset="0"/>
                <a:ea typeface="+mj-ea"/>
              </a:rPr>
              <a:t>START BACKUP [&lt;backup id&gt;] [NOWAIT | WAIT STARTED | WAIT COMPLETED]</a:t>
            </a:r>
          </a:p>
          <a:p>
            <a:r>
              <a:rPr lang="en-US" sz="1000" b="1" dirty="0" smtClean="0">
                <a:latin typeface="Calibri" panose="020F0502020204030204" pitchFamily="34" charset="0"/>
                <a:ea typeface="+mj-ea"/>
              </a:rPr>
              <a:t>…</a:t>
            </a:r>
          </a:p>
          <a:p>
            <a:endParaRPr lang="en-US" sz="1000" b="1" dirty="0">
              <a:latin typeface="Calibri" panose="020F0502020204030204" pitchFamily="34" charset="0"/>
              <a:ea typeface="+mj-ea"/>
            </a:endParaRPr>
          </a:p>
          <a:p>
            <a:r>
              <a:rPr lang="en-US" sz="1000" b="1" dirty="0">
                <a:latin typeface="Calibri" panose="020F0502020204030204" pitchFamily="34" charset="0"/>
                <a:ea typeface="+mj-ea"/>
              </a:rPr>
              <a:t>CONNECT [&lt;</a:t>
            </a:r>
            <a:r>
              <a:rPr lang="en-US" sz="1000" b="1" dirty="0" err="1">
                <a:latin typeface="Calibri" panose="020F0502020204030204" pitchFamily="34" charset="0"/>
                <a:ea typeface="+mj-ea"/>
              </a:rPr>
              <a:t>connectstring</a:t>
            </a:r>
            <a:r>
              <a:rPr lang="en-US" sz="1000" b="1" dirty="0">
                <a:latin typeface="Calibri" panose="020F0502020204030204" pitchFamily="34" charset="0"/>
                <a:ea typeface="+mj-ea"/>
              </a:rPr>
              <a:t>&gt;]              Connect to management server (reconnect if already connected)</a:t>
            </a:r>
          </a:p>
          <a:p>
            <a:r>
              <a:rPr lang="en-US" sz="1000" b="1" dirty="0">
                <a:latin typeface="Calibri" panose="020F0502020204030204" pitchFamily="34" charset="0"/>
                <a:ea typeface="+mj-ea"/>
              </a:rPr>
              <a:t>&lt;id&gt; REPORT &lt;report-type&gt;              Display report for &lt;report-type&gt;</a:t>
            </a:r>
          </a:p>
          <a:p>
            <a:r>
              <a:rPr lang="en-US" sz="1000" b="1" dirty="0">
                <a:latin typeface="Calibri" panose="020F0502020204030204" pitchFamily="34" charset="0"/>
                <a:ea typeface="+mj-ea"/>
              </a:rPr>
              <a:t>QUIT                                   </a:t>
            </a:r>
            <a:r>
              <a:rPr lang="en-US" sz="1000" b="1" dirty="0" err="1">
                <a:latin typeface="Calibri" panose="020F0502020204030204" pitchFamily="34" charset="0"/>
                <a:ea typeface="+mj-ea"/>
              </a:rPr>
              <a:t>Quit</a:t>
            </a:r>
            <a:r>
              <a:rPr lang="en-US" sz="1000" b="1" dirty="0">
                <a:latin typeface="Calibri" panose="020F0502020204030204" pitchFamily="34" charset="0"/>
                <a:ea typeface="+mj-ea"/>
              </a:rPr>
              <a:t> management client</a:t>
            </a:r>
          </a:p>
          <a:p>
            <a:endParaRPr lang="en-US" sz="1000" b="1" dirty="0">
              <a:latin typeface="Calibri" panose="020F0502020204030204" pitchFamily="34" charset="0"/>
              <a:ea typeface="+mj-ea"/>
            </a:endParaRPr>
          </a:p>
          <a:p>
            <a:r>
              <a:rPr lang="en-US" sz="1000" b="1" dirty="0">
                <a:latin typeface="Calibri" panose="020F0502020204030204" pitchFamily="34" charset="0"/>
                <a:ea typeface="+mj-ea"/>
              </a:rPr>
              <a:t>&lt;severity&gt; = ALERT | CRITICAL | ERROR | WARNING | INFO | DEBUG</a:t>
            </a:r>
          </a:p>
          <a:p>
            <a:r>
              <a:rPr lang="en-US" sz="1000" b="1" dirty="0">
                <a:latin typeface="Calibri" panose="020F0502020204030204" pitchFamily="34" charset="0"/>
                <a:ea typeface="+mj-ea"/>
              </a:rPr>
              <a:t>&lt;category&gt; = STARTUP | SHUTDOWN | STATISTICS | CHECKPOINT | NODERESTART | CONNECTION | INFO | ERROR | CONGESTION | DEBUG | BACKUP | SCHEMA</a:t>
            </a:r>
          </a:p>
          <a:p>
            <a:r>
              <a:rPr lang="en-US" sz="1000" b="1" dirty="0">
                <a:latin typeface="Calibri" panose="020F0502020204030204" pitchFamily="34" charset="0"/>
                <a:ea typeface="+mj-ea"/>
              </a:rPr>
              <a:t>&lt;report-type&gt; = BACKUPSTATUS | MEMORYUSAGE | EVENTLOG</a:t>
            </a:r>
          </a:p>
          <a:p>
            <a:r>
              <a:rPr lang="en-US" sz="1000" b="1" dirty="0">
                <a:latin typeface="Calibri" panose="020F0502020204030204" pitchFamily="34" charset="0"/>
                <a:ea typeface="+mj-ea"/>
              </a:rPr>
              <a:t>&lt;level&gt;    = 0 - 15</a:t>
            </a:r>
          </a:p>
          <a:p>
            <a:r>
              <a:rPr lang="en-US" sz="1000" b="1" dirty="0">
                <a:latin typeface="Calibri" panose="020F0502020204030204" pitchFamily="34" charset="0"/>
                <a:ea typeface="+mj-ea"/>
              </a:rPr>
              <a:t>&lt;id&gt;       = ALL | Any database node id</a:t>
            </a:r>
          </a:p>
          <a:p>
            <a:endParaRPr lang="en-US" sz="1000" b="1" dirty="0">
              <a:latin typeface="Calibri" panose="020F0502020204030204" pitchFamily="34" charset="0"/>
              <a:ea typeface="+mj-ea"/>
            </a:endParaRPr>
          </a:p>
          <a:p>
            <a:r>
              <a:rPr lang="en-US" sz="1000" b="1" dirty="0">
                <a:latin typeface="Calibri" panose="020F0502020204030204" pitchFamily="34" charset="0"/>
                <a:ea typeface="+mj-ea"/>
              </a:rPr>
              <a:t>For detailed help on COMMAND, use HELP COMMAND.</a:t>
            </a:r>
          </a:p>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a:t>
            </a:r>
            <a:endParaRPr kumimoji="1" lang="en-US" sz="1000" b="1" dirty="0">
              <a:latin typeface="Calibri" panose="020F0502020204030204" pitchFamily="34" charset="0"/>
              <a:ea typeface="+mj-ea"/>
            </a:endParaRPr>
          </a:p>
        </p:txBody>
      </p:sp>
    </p:spTree>
    <p:extLst>
      <p:ext uri="{BB962C8B-B14F-4D97-AF65-F5344CB8AC3E}">
        <p14:creationId xmlns:p14="http://schemas.microsoft.com/office/powerpoint/2010/main" val="11072562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基本操作コマンド　</a:t>
            </a:r>
            <a:r>
              <a:rPr lang="ja-JP" altLang="en-US" dirty="0" smtClean="0"/>
              <a:t>（</a:t>
            </a:r>
            <a:r>
              <a:rPr lang="en-US" altLang="ja-JP" dirty="0" smtClean="0"/>
              <a:t>6/8</a:t>
            </a:r>
            <a:r>
              <a:rPr lang="en-US" altLang="ja-JP" dirty="0"/>
              <a:t>)</a:t>
            </a:r>
            <a:endParaRPr kumimoji="1" lang="ja-JP" altLang="en-US" dirty="0"/>
          </a:p>
        </p:txBody>
      </p:sp>
      <p:sp>
        <p:nvSpPr>
          <p:cNvPr id="3" name="コンテンツ プレースホルダー 2"/>
          <p:cNvSpPr>
            <a:spLocks noGrp="1"/>
          </p:cNvSpPr>
          <p:nvPr>
            <p:ph sz="quarter" idx="10"/>
          </p:nvPr>
        </p:nvSpPr>
        <p:spPr>
          <a:xfrm>
            <a:off x="179512" y="836712"/>
            <a:ext cx="8879144" cy="5616476"/>
          </a:xfrm>
        </p:spPr>
        <p:txBody>
          <a:bodyPr>
            <a:normAutofit/>
          </a:bodyPr>
          <a:lstStyle/>
          <a:p>
            <a:pPr lvl="2"/>
            <a:r>
              <a:rPr lang="en-US" altLang="ja-JP" sz="1200" dirty="0" smtClean="0"/>
              <a:t>CONNECT </a:t>
            </a:r>
            <a:r>
              <a:rPr lang="en-US" altLang="ja-JP" sz="1200" dirty="0"/>
              <a:t>connection-string</a:t>
            </a:r>
            <a:r>
              <a:rPr lang="en-US" altLang="ja-JP" sz="1000" dirty="0"/>
              <a:t>	</a:t>
            </a:r>
          </a:p>
          <a:p>
            <a:pPr lvl="3"/>
            <a:r>
              <a:rPr lang="ja-JP" altLang="en-US" sz="1000" dirty="0"/>
              <a:t>接続文字列で示される管理サーバーに接続します。 クライアントがすでにこのサーバーに接続されている場合、クライアントは再接続します。</a:t>
            </a:r>
            <a:endParaRPr lang="en-US" altLang="ja-JP" dirty="0" smtClean="0"/>
          </a:p>
          <a:p>
            <a:pPr lvl="3"/>
            <a:r>
              <a:rPr lang="ja-JP" altLang="en-US" sz="1000" dirty="0"/>
              <a:t>接続文字列が指定されていない場合は、</a:t>
            </a:r>
            <a:r>
              <a:rPr lang="en-US" altLang="ja-JP" sz="1000" dirty="0"/>
              <a:t>localhost</a:t>
            </a:r>
            <a:r>
              <a:rPr lang="ja-JP" altLang="en-US" sz="1000" dirty="0"/>
              <a:t>：</a:t>
            </a:r>
            <a:r>
              <a:rPr lang="en-US" altLang="ja-JP" sz="1000" dirty="0"/>
              <a:t>1186</a:t>
            </a:r>
            <a:r>
              <a:rPr lang="ja-JP" altLang="en-US" sz="1000" dirty="0"/>
              <a:t>に接続します</a:t>
            </a:r>
            <a:r>
              <a:rPr lang="ja-JP" altLang="en-US" sz="1000" dirty="0" smtClean="0"/>
              <a:t>。</a:t>
            </a:r>
            <a:endParaRPr lang="en-US" altLang="ja-JP" sz="1000" dirty="0" smtClean="0"/>
          </a:p>
          <a:p>
            <a:pPr lvl="2"/>
            <a:r>
              <a:rPr lang="en-US" altLang="ja-JP" sz="1200" dirty="0" err="1" smtClean="0"/>
              <a:t>node_id</a:t>
            </a:r>
            <a:r>
              <a:rPr lang="en-US" altLang="ja-JP" sz="1200" dirty="0" smtClean="0"/>
              <a:t> STATUS</a:t>
            </a:r>
            <a:r>
              <a:rPr lang="en-US" altLang="ja-JP" sz="1000" dirty="0" smtClean="0"/>
              <a:t>	</a:t>
            </a:r>
          </a:p>
          <a:p>
            <a:pPr lvl="3"/>
            <a:r>
              <a:rPr lang="en-US" altLang="ja-JP" sz="1000" dirty="0" err="1"/>
              <a:t>node_id</a:t>
            </a:r>
            <a:r>
              <a:rPr lang="ja-JP" altLang="en-US" sz="1000" dirty="0"/>
              <a:t>（またはすべてのデータノード）によって識別されるデータノードのステータス情報を表示します。</a:t>
            </a:r>
            <a:r>
              <a:rPr lang="en-US" altLang="ja-JP" sz="1000" dirty="0" smtClean="0"/>
              <a:t> </a:t>
            </a:r>
            <a:endParaRPr lang="en-US" altLang="ja-JP" sz="1000" dirty="0"/>
          </a:p>
          <a:p>
            <a:pPr lvl="3"/>
            <a:r>
              <a:rPr lang="ja-JP" altLang="en-US" sz="1000" dirty="0"/>
              <a:t>このコマンドの出力は、クラスタがシングルユーザーモードのときも示します。</a:t>
            </a:r>
            <a:endParaRPr lang="en-US" altLang="ja-JP" sz="1000" dirty="0"/>
          </a:p>
          <a:p>
            <a:pPr lvl="3"/>
            <a:endParaRPr lang="en-US" altLang="ja-JP" sz="1000" dirty="0" smtClean="0"/>
          </a:p>
          <a:p>
            <a:pPr lvl="3"/>
            <a:endParaRPr lang="en-US" altLang="ja-JP" sz="1000" dirty="0" smtClean="0"/>
          </a:p>
          <a:p>
            <a:pPr lvl="3"/>
            <a:endParaRPr lang="en-US" altLang="ja-JP" sz="1000" dirty="0" smtClean="0"/>
          </a:p>
          <a:p>
            <a:pPr lvl="3"/>
            <a:endParaRPr lang="en-US" altLang="ja-JP" sz="1000" dirty="0"/>
          </a:p>
          <a:p>
            <a:pPr lvl="2"/>
            <a:r>
              <a:rPr lang="en-US" altLang="ja-JP" sz="1200" dirty="0" err="1" smtClean="0"/>
              <a:t>node_id</a:t>
            </a:r>
            <a:r>
              <a:rPr lang="en-US" altLang="ja-JP" sz="1200" dirty="0" smtClean="0"/>
              <a:t> </a:t>
            </a:r>
            <a:r>
              <a:rPr lang="en-US" altLang="ja-JP" sz="1200" dirty="0"/>
              <a:t>REPORT report-type</a:t>
            </a:r>
            <a:r>
              <a:rPr lang="en-US" altLang="ja-JP" sz="1000" dirty="0"/>
              <a:t>	</a:t>
            </a:r>
          </a:p>
          <a:p>
            <a:pPr lvl="3"/>
            <a:r>
              <a:rPr lang="en-US" altLang="ja-JP" sz="1000" dirty="0" err="1"/>
              <a:t>node_id</a:t>
            </a:r>
            <a:r>
              <a:rPr lang="ja-JP" altLang="en-US" sz="1000" dirty="0"/>
              <a:t>で指定されたデータノードのレポートタイプまたはすべてのデータのレポートタイプを表示します</a:t>
            </a:r>
            <a:r>
              <a:rPr lang="ja-JP" altLang="en-US" sz="1000" dirty="0" smtClean="0"/>
              <a:t>。</a:t>
            </a:r>
            <a:r>
              <a:rPr lang="en-US" altLang="ja-JP" sz="1000" dirty="0"/>
              <a:t>	</a:t>
            </a:r>
          </a:p>
          <a:p>
            <a:pPr lvl="2"/>
            <a:r>
              <a:rPr kumimoji="1" lang="en-US" altLang="ja-JP" sz="1200" dirty="0" smtClean="0">
                <a:latin typeface="+mj-lt"/>
              </a:rPr>
              <a:t>ALL REPORT MEMORY</a:t>
            </a:r>
          </a:p>
          <a:p>
            <a:pPr lvl="3"/>
            <a:r>
              <a:rPr lang="ja-JP" altLang="en-US" sz="1000" dirty="0"/>
              <a:t>各データで使用されているデータメモリとインデックスメモリの量を表示します。</a:t>
            </a:r>
            <a:endParaRPr lang="en-US" altLang="ja-JP" sz="1000" dirty="0" smtClean="0">
              <a:latin typeface="+mj-lt"/>
            </a:endParaRPr>
          </a:p>
          <a:p>
            <a:pPr lvl="2"/>
            <a:r>
              <a:rPr lang="en-US" altLang="ja-JP" sz="1200" dirty="0" err="1" smtClean="0">
                <a:latin typeface="+mj-lt"/>
              </a:rPr>
              <a:t>node_id</a:t>
            </a:r>
            <a:r>
              <a:rPr lang="en-US" altLang="ja-JP" sz="1200" dirty="0" smtClean="0">
                <a:latin typeface="+mj-lt"/>
              </a:rPr>
              <a:t> START</a:t>
            </a:r>
          </a:p>
          <a:p>
            <a:pPr lvl="3"/>
            <a:r>
              <a:rPr lang="en-US" altLang="ja-JP" sz="1000" dirty="0"/>
              <a:t>-no-start</a:t>
            </a:r>
            <a:r>
              <a:rPr lang="ja-JP" altLang="en-US" sz="1000" dirty="0"/>
              <a:t>または</a:t>
            </a:r>
            <a:r>
              <a:rPr lang="en-US" altLang="ja-JP" sz="1000" dirty="0"/>
              <a:t>-n</a:t>
            </a:r>
            <a:r>
              <a:rPr lang="ja-JP" altLang="en-US" sz="1000" dirty="0"/>
              <a:t>オプションを指定してデータノードを起動すると、</a:t>
            </a:r>
            <a:r>
              <a:rPr lang="en-US" altLang="ja-JP" sz="1000" dirty="0" err="1"/>
              <a:t>node_id</a:t>
            </a:r>
            <a:r>
              <a:rPr lang="ja-JP" altLang="en-US" sz="1000" dirty="0"/>
              <a:t>（またはすべてのデータノード）によって識別されるデータノードをオンラインにします</a:t>
            </a:r>
            <a:r>
              <a:rPr lang="ja-JP" altLang="en-US" sz="1000" dirty="0" smtClean="0"/>
              <a:t>。</a:t>
            </a:r>
            <a:endParaRPr lang="en-US" altLang="ja-JP" sz="1000" dirty="0" smtClean="0">
              <a:latin typeface="+mj-lt"/>
            </a:endParaRPr>
          </a:p>
          <a:p>
            <a:pPr lvl="3"/>
            <a:r>
              <a:rPr lang="en-US" altLang="ja-JP" sz="1000" dirty="0"/>
              <a:t>ALL START</a:t>
            </a:r>
            <a:r>
              <a:rPr lang="ja-JP" altLang="en-US" sz="1000" dirty="0"/>
              <a:t>はすべてのデータ・ノードでのみ機能し、管理ノードおよび</a:t>
            </a:r>
            <a:r>
              <a:rPr lang="en-US" altLang="ja-JP" sz="1000" dirty="0"/>
              <a:t>SQL</a:t>
            </a:r>
            <a:r>
              <a:rPr lang="ja-JP" altLang="en-US" sz="1000" dirty="0"/>
              <a:t>ノードには影響しません。</a:t>
            </a:r>
            <a:endParaRPr lang="en-US" altLang="ja-JP" sz="1000" dirty="0" smtClean="0">
              <a:latin typeface="+mj-lt"/>
            </a:endParaRPr>
          </a:p>
          <a:p>
            <a:pPr lvl="2"/>
            <a:r>
              <a:rPr kumimoji="1" lang="en-US" altLang="ja-JP" sz="1200" dirty="0" smtClean="0">
                <a:latin typeface="+mj-lt"/>
              </a:rPr>
              <a:t>START </a:t>
            </a:r>
            <a:r>
              <a:rPr kumimoji="1" lang="en-US" altLang="ja-JP" sz="1200" dirty="0" smtClean="0">
                <a:latin typeface="+mj-lt"/>
              </a:rPr>
              <a:t>BACKUP</a:t>
            </a:r>
          </a:p>
          <a:p>
            <a:pPr lvl="3"/>
            <a:r>
              <a:rPr lang="en-US" altLang="ja-JP" sz="1000" dirty="0" err="1"/>
              <a:t>ndb_mgmclient</a:t>
            </a:r>
            <a:r>
              <a:rPr lang="ja-JP" altLang="en-US" sz="1000" dirty="0"/>
              <a:t>でオンラインバックアップを実行するために使用されま</a:t>
            </a:r>
            <a:r>
              <a:rPr lang="ja-JP" altLang="en-US" sz="1000" dirty="0" smtClean="0"/>
              <a:t>す</a:t>
            </a:r>
            <a:endParaRPr lang="en-US" altLang="ja-JP" sz="1000" dirty="0" smtClean="0">
              <a:latin typeface="+mj-lt"/>
            </a:endParaRPr>
          </a:p>
          <a:p>
            <a:pPr lvl="2"/>
            <a:r>
              <a:rPr kumimoji="1" lang="en-US" altLang="ja-JP" sz="1200" dirty="0" smtClean="0">
                <a:latin typeface="+mj-lt"/>
              </a:rPr>
              <a:t>ABORT BACKUP</a:t>
            </a:r>
          </a:p>
          <a:p>
            <a:pPr lvl="3"/>
            <a:r>
              <a:rPr lang="ja-JP" altLang="en-US" sz="1000" dirty="0"/>
              <a:t>既に進行中のバックアップを取り消すために使用されます</a:t>
            </a:r>
            <a:endParaRPr kumimoji="1" lang="ja-JP" altLang="en-US" sz="1000" dirty="0">
              <a:latin typeface="+mj-lt"/>
            </a:endParaRPr>
          </a:p>
        </p:txBody>
      </p:sp>
      <p:sp>
        <p:nvSpPr>
          <p:cNvPr id="4" name="Rectangle 3"/>
          <p:cNvSpPr/>
          <p:nvPr/>
        </p:nvSpPr>
        <p:spPr bwMode="auto">
          <a:xfrm>
            <a:off x="1026160" y="2249424"/>
            <a:ext cx="7091680" cy="762000"/>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 10 STATUS</a:t>
            </a:r>
          </a:p>
          <a:p>
            <a:r>
              <a:rPr lang="en-US" sz="1000" b="1" dirty="0">
                <a:latin typeface="Calibri" panose="020F0502020204030204" pitchFamily="34" charset="0"/>
                <a:ea typeface="+mj-ea"/>
              </a:rPr>
              <a:t>Node 10: started (mysql-5.7.18 ndb-7.5.6)</a:t>
            </a:r>
          </a:p>
          <a:p>
            <a:endParaRPr lang="en-US" sz="1000" b="1" dirty="0">
              <a:latin typeface="Calibri" panose="020F0502020204030204" pitchFamily="34" charset="0"/>
              <a:ea typeface="+mj-ea"/>
            </a:endParaRPr>
          </a:p>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a:t>
            </a:r>
            <a:endParaRPr kumimoji="1" lang="en-US" sz="1000" b="1" dirty="0">
              <a:latin typeface="Calibri" panose="020F0502020204030204" pitchFamily="34" charset="0"/>
              <a:ea typeface="+mj-ea"/>
            </a:endParaRPr>
          </a:p>
        </p:txBody>
      </p:sp>
    </p:spTree>
    <p:extLst>
      <p:ext uri="{BB962C8B-B14F-4D97-AF65-F5344CB8AC3E}">
        <p14:creationId xmlns:p14="http://schemas.microsoft.com/office/powerpoint/2010/main" val="36772613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基本操作コマンド　</a:t>
            </a:r>
            <a:r>
              <a:rPr lang="ja-JP" altLang="en-US" dirty="0" smtClean="0"/>
              <a:t>（</a:t>
            </a:r>
            <a:r>
              <a:rPr lang="en-US" altLang="ja-JP" dirty="0" smtClean="0"/>
              <a:t>7/8</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dirty="0"/>
              <a:t>NDB</a:t>
            </a:r>
            <a:r>
              <a:rPr lang="ja-JP" altLang="en-US" sz="1600" dirty="0"/>
              <a:t>クラスタコマンド</a:t>
            </a:r>
            <a:endParaRPr kumimoji="1" lang="en-US" altLang="ja-JP" sz="1600" dirty="0" smtClean="0">
              <a:latin typeface="+mj-lt"/>
            </a:endParaRPr>
          </a:p>
          <a:p>
            <a:pPr lvl="1"/>
            <a:r>
              <a:rPr lang="en-US" altLang="ja-JP" sz="1200" dirty="0" err="1" smtClean="0">
                <a:latin typeface="+mj-lt"/>
              </a:rPr>
              <a:t>ndb_desc</a:t>
            </a:r>
            <a:endParaRPr lang="en-US" altLang="ja-JP" sz="1200" dirty="0" smtClean="0">
              <a:latin typeface="+mj-lt"/>
            </a:endParaRPr>
          </a:p>
          <a:p>
            <a:pPr lvl="2"/>
            <a:r>
              <a:rPr lang="en-US" altLang="ja-JP" sz="1000" dirty="0"/>
              <a:t>1</a:t>
            </a:r>
            <a:r>
              <a:rPr lang="ja-JP" altLang="en-US" sz="1000" dirty="0"/>
              <a:t>つ以上の</a:t>
            </a:r>
            <a:r>
              <a:rPr lang="en-US" altLang="ja-JP" sz="1000" dirty="0"/>
              <a:t>NDB</a:t>
            </a:r>
            <a:r>
              <a:rPr lang="ja-JP" altLang="en-US" sz="1000" dirty="0"/>
              <a:t>テーブルの詳細な説明を提供します</a:t>
            </a:r>
            <a:endParaRPr lang="en-US" altLang="ja-JP" sz="1000" dirty="0" smtClean="0">
              <a:latin typeface="+mj-lt"/>
            </a:endParaRPr>
          </a:p>
          <a:p>
            <a:pPr lvl="2"/>
            <a:r>
              <a:rPr lang="ja-JP" altLang="en-US" sz="1000" dirty="0" smtClean="0">
                <a:latin typeface="+mj-lt"/>
              </a:rPr>
              <a:t>使用</a:t>
            </a:r>
            <a:r>
              <a:rPr lang="ja-JP" altLang="en-US" sz="1000" dirty="0" smtClean="0"/>
              <a:t>法：</a:t>
            </a:r>
            <a:r>
              <a:rPr lang="en-US" altLang="ja-JP" sz="1000" dirty="0" smtClean="0">
                <a:latin typeface="+mj-lt"/>
              </a:rPr>
              <a:t> </a:t>
            </a:r>
            <a:endParaRPr lang="en-US" altLang="ja-JP" sz="1000" dirty="0" smtClean="0">
              <a:latin typeface="+mj-lt"/>
            </a:endParaRPr>
          </a:p>
          <a:p>
            <a:pPr marL="627013" lvl="4" indent="0">
              <a:buNone/>
            </a:pPr>
            <a:r>
              <a:rPr lang="en-US" altLang="ja-JP" sz="1000" b="0" dirty="0" err="1" smtClean="0">
                <a:latin typeface="+mj-lt"/>
              </a:rPr>
              <a:t>ndb_desc</a:t>
            </a:r>
            <a:r>
              <a:rPr lang="en-US" altLang="ja-JP" sz="1000" b="0" dirty="0" smtClean="0">
                <a:latin typeface="+mj-lt"/>
              </a:rPr>
              <a:t> -c </a:t>
            </a:r>
            <a:r>
              <a:rPr lang="en-US" altLang="ja-JP" sz="1000" b="0" dirty="0" err="1" smtClean="0">
                <a:latin typeface="+mj-lt"/>
              </a:rPr>
              <a:t>connection_string</a:t>
            </a:r>
            <a:r>
              <a:rPr lang="en-US" altLang="ja-JP" sz="1000" b="0" dirty="0" smtClean="0">
                <a:latin typeface="+mj-lt"/>
              </a:rPr>
              <a:t> </a:t>
            </a:r>
            <a:r>
              <a:rPr lang="en-US" altLang="ja-JP" sz="1000" b="0" dirty="0" err="1" smtClean="0">
                <a:latin typeface="+mj-lt"/>
              </a:rPr>
              <a:t>tbl_name</a:t>
            </a:r>
            <a:r>
              <a:rPr lang="en-US" altLang="ja-JP" sz="1000" b="0" dirty="0" smtClean="0">
                <a:latin typeface="+mj-lt"/>
              </a:rPr>
              <a:t>-d </a:t>
            </a:r>
            <a:r>
              <a:rPr lang="en-US" altLang="ja-JP" sz="1000" b="0" dirty="0" err="1" smtClean="0">
                <a:latin typeface="+mj-lt"/>
              </a:rPr>
              <a:t>db_name</a:t>
            </a:r>
            <a:r>
              <a:rPr lang="en-US" altLang="ja-JP" sz="1000" b="0" dirty="0" smtClean="0">
                <a:latin typeface="+mj-lt"/>
              </a:rPr>
              <a:t>[options]</a:t>
            </a:r>
          </a:p>
          <a:p>
            <a:pPr marL="627013" lvl="4" indent="0">
              <a:buNone/>
            </a:pPr>
            <a:r>
              <a:rPr lang="en-US" altLang="ja-JP" sz="1000" b="0" dirty="0" err="1" smtClean="0">
                <a:latin typeface="+mj-lt"/>
              </a:rPr>
              <a:t>ndb_desc</a:t>
            </a:r>
            <a:r>
              <a:rPr lang="en-US" altLang="ja-JP" sz="1000" b="0" dirty="0" smtClean="0">
                <a:latin typeface="+mj-lt"/>
              </a:rPr>
              <a:t> -c </a:t>
            </a:r>
            <a:r>
              <a:rPr lang="en-US" altLang="ja-JP" sz="1000" b="0" dirty="0" err="1" smtClean="0">
                <a:latin typeface="+mj-lt"/>
              </a:rPr>
              <a:t>connection_string</a:t>
            </a:r>
            <a:r>
              <a:rPr lang="en-US" altLang="ja-JP" sz="1000" b="0" dirty="0" smtClean="0">
                <a:latin typeface="+mj-lt"/>
              </a:rPr>
              <a:t> </a:t>
            </a:r>
            <a:r>
              <a:rPr lang="en-US" altLang="ja-JP" sz="1000" b="0" dirty="0" err="1" smtClean="0">
                <a:latin typeface="+mj-lt"/>
              </a:rPr>
              <a:t>index_name</a:t>
            </a:r>
            <a:r>
              <a:rPr lang="en-US" altLang="ja-JP" sz="1000" b="0" dirty="0" smtClean="0">
                <a:latin typeface="+mj-lt"/>
              </a:rPr>
              <a:t>-d </a:t>
            </a:r>
            <a:r>
              <a:rPr lang="en-US" altLang="ja-JP" sz="1000" b="0" dirty="0" err="1" smtClean="0">
                <a:latin typeface="+mj-lt"/>
              </a:rPr>
              <a:t>db_name</a:t>
            </a:r>
            <a:r>
              <a:rPr lang="en-US" altLang="ja-JP" sz="1000" b="0" dirty="0" smtClean="0">
                <a:latin typeface="+mj-lt"/>
              </a:rPr>
              <a:t>-t </a:t>
            </a:r>
            <a:r>
              <a:rPr lang="en-US" altLang="ja-JP" sz="1000" b="0" dirty="0" err="1" smtClean="0">
                <a:latin typeface="+mj-lt"/>
              </a:rPr>
              <a:t>tbl_name</a:t>
            </a:r>
            <a:endParaRPr lang="en-US" altLang="ja-JP" sz="1000" b="0" dirty="0" smtClean="0">
              <a:latin typeface="+mj-lt"/>
            </a:endParaRPr>
          </a:p>
          <a:p>
            <a:pPr lvl="1"/>
            <a:r>
              <a:rPr lang="en-US" altLang="ja-JP" sz="1000" dirty="0" smtClean="0">
                <a:latin typeface="+mj-lt"/>
              </a:rPr>
              <a:t> </a:t>
            </a:r>
            <a:r>
              <a:rPr lang="en-US" altLang="ja-JP" sz="1200" dirty="0" err="1" smtClean="0">
                <a:latin typeface="+mj-lt"/>
              </a:rPr>
              <a:t>ndb_show_tables</a:t>
            </a:r>
            <a:endParaRPr lang="en-US" altLang="ja-JP" sz="1200" dirty="0" smtClean="0">
              <a:latin typeface="+mj-lt"/>
            </a:endParaRPr>
          </a:p>
          <a:p>
            <a:pPr lvl="2"/>
            <a:r>
              <a:rPr lang="ja-JP" altLang="en-US" sz="1000" dirty="0"/>
              <a:t>クラスタ内のすべての</a:t>
            </a:r>
            <a:r>
              <a:rPr lang="en-US" altLang="ja-JP" sz="1000" dirty="0"/>
              <a:t>NDB</a:t>
            </a:r>
            <a:r>
              <a:rPr lang="ja-JP" altLang="en-US" sz="1000" dirty="0"/>
              <a:t>データベースオブジェクトのリストを表示します。 デフォルトでは、これにはユーザ作成テーブルと</a:t>
            </a:r>
            <a:r>
              <a:rPr lang="en-US" altLang="ja-JP" sz="1000" dirty="0"/>
              <a:t>NDB</a:t>
            </a:r>
            <a:r>
              <a:rPr lang="ja-JP" altLang="en-US" sz="1000" dirty="0"/>
              <a:t>システムテーブルの両方が含まれますが、</a:t>
            </a:r>
            <a:r>
              <a:rPr lang="en-US" altLang="ja-JP" sz="1000" dirty="0"/>
              <a:t>NDB</a:t>
            </a:r>
            <a:r>
              <a:rPr lang="ja-JP" altLang="en-US" sz="1000" dirty="0"/>
              <a:t>固有のインデックス、内部トリガ、</a:t>
            </a:r>
            <a:r>
              <a:rPr lang="en-US" altLang="ja-JP" sz="1000" dirty="0"/>
              <a:t>NDB</a:t>
            </a:r>
            <a:r>
              <a:rPr lang="ja-JP" altLang="en-US" sz="1000" dirty="0"/>
              <a:t>クラスタディスクデータオブジェクトも含まれます</a:t>
            </a:r>
            <a:r>
              <a:rPr lang="ja-JP" altLang="en-US" sz="1000" dirty="0" smtClean="0"/>
              <a:t>。</a:t>
            </a:r>
            <a:endParaRPr lang="en-US" altLang="ja-JP" sz="1000" dirty="0"/>
          </a:p>
          <a:p>
            <a:pPr lvl="2"/>
            <a:r>
              <a:rPr lang="ja-JP" altLang="en-US" sz="1000" dirty="0"/>
              <a:t>使用法：</a:t>
            </a:r>
            <a:r>
              <a:rPr lang="en-US" altLang="ja-JP" sz="1000" dirty="0" smtClean="0"/>
              <a:t> </a:t>
            </a:r>
            <a:r>
              <a:rPr lang="en-US" altLang="ja-JP" sz="1000" dirty="0" err="1"/>
              <a:t>ndb_show_tables</a:t>
            </a:r>
            <a:r>
              <a:rPr lang="en-US" altLang="ja-JP" sz="1000" dirty="0"/>
              <a:t> [-c </a:t>
            </a:r>
            <a:r>
              <a:rPr lang="en-US" altLang="ja-JP" sz="1000" dirty="0" err="1"/>
              <a:t>connection_string</a:t>
            </a:r>
            <a:r>
              <a:rPr lang="en-US" altLang="ja-JP" sz="1000" dirty="0"/>
              <a:t>]</a:t>
            </a:r>
            <a:endParaRPr lang="en-US" altLang="ja-JP" sz="1000" dirty="0" smtClean="0">
              <a:latin typeface="+mj-lt"/>
            </a:endParaRPr>
          </a:p>
          <a:p>
            <a:pPr lvl="1"/>
            <a:r>
              <a:rPr lang="en-US" altLang="ja-JP" sz="1200" dirty="0" err="1" smtClean="0">
                <a:latin typeface="+mj-lt"/>
              </a:rPr>
              <a:t>ndb_restore</a:t>
            </a:r>
            <a:endParaRPr lang="en-US" altLang="ja-JP" sz="1200" dirty="0" smtClean="0">
              <a:latin typeface="+mj-lt"/>
            </a:endParaRPr>
          </a:p>
          <a:p>
            <a:pPr lvl="2"/>
            <a:r>
              <a:rPr lang="ja-JP" altLang="en-US" sz="1000" dirty="0"/>
              <a:t>このプログラムは、バックアップの結果として作成されたファイルを読み取り、格納された情報をデータベースに挿入します。</a:t>
            </a:r>
            <a:r>
              <a:rPr lang="en-US" altLang="ja-JP" sz="1000" dirty="0" smtClean="0">
                <a:latin typeface="+mj-lt"/>
              </a:rPr>
              <a:t> </a:t>
            </a:r>
            <a:endParaRPr lang="en-US" altLang="ja-JP" sz="1000" dirty="0"/>
          </a:p>
          <a:p>
            <a:pPr lvl="2"/>
            <a:r>
              <a:rPr lang="ja-JP" altLang="en-US" sz="1000" dirty="0"/>
              <a:t>使用法：</a:t>
            </a:r>
            <a:r>
              <a:rPr lang="en-US" altLang="ja-JP" sz="1000" dirty="0" smtClean="0"/>
              <a:t> </a:t>
            </a:r>
            <a:r>
              <a:rPr lang="en-US" altLang="ja-JP" sz="1000" dirty="0" err="1"/>
              <a:t>ndb_restore</a:t>
            </a:r>
            <a:r>
              <a:rPr lang="en-US" altLang="ja-JP" sz="1000" dirty="0"/>
              <a:t> [-c </a:t>
            </a:r>
            <a:r>
              <a:rPr lang="en-US" altLang="ja-JP" sz="1000" dirty="0" err="1"/>
              <a:t>connection_string</a:t>
            </a:r>
            <a:r>
              <a:rPr lang="en-US" altLang="ja-JP" sz="1000" dirty="0"/>
              <a:t>] -n </a:t>
            </a:r>
            <a:r>
              <a:rPr lang="en-US" altLang="ja-JP" sz="1000" dirty="0" err="1"/>
              <a:t>node_id</a:t>
            </a:r>
            <a:r>
              <a:rPr lang="en-US" altLang="ja-JP" sz="1000" dirty="0"/>
              <a:t>-b </a:t>
            </a:r>
            <a:r>
              <a:rPr lang="en-US" altLang="ja-JP" sz="1000" dirty="0" err="1" smtClean="0"/>
              <a:t>backup_id</a:t>
            </a:r>
            <a:r>
              <a:rPr lang="en-US" altLang="ja-JP" sz="1000" dirty="0"/>
              <a:t> </a:t>
            </a:r>
            <a:r>
              <a:rPr lang="en-US" altLang="ja-JP" sz="1000" dirty="0" smtClean="0"/>
              <a:t>[-</a:t>
            </a:r>
            <a:r>
              <a:rPr lang="en-US" altLang="ja-JP" sz="1000" dirty="0"/>
              <a:t>m] -r --</a:t>
            </a:r>
            <a:r>
              <a:rPr lang="en-US" altLang="ja-JP" sz="1000" dirty="0" err="1"/>
              <a:t>backup_path</a:t>
            </a:r>
            <a:r>
              <a:rPr lang="en-US" altLang="ja-JP" sz="1000" dirty="0"/>
              <a:t>=/path/to/backup/files</a:t>
            </a:r>
            <a:endParaRPr lang="en-US" altLang="ja-JP" sz="1000" dirty="0" smtClean="0">
              <a:latin typeface="+mj-lt"/>
            </a:endParaRPr>
          </a:p>
          <a:p>
            <a:pPr lvl="1"/>
            <a:r>
              <a:rPr lang="en-US" altLang="ja-JP" sz="1200" dirty="0" err="1" smtClean="0">
                <a:latin typeface="+mj-lt"/>
              </a:rPr>
              <a:t>ndb_select_all</a:t>
            </a:r>
            <a:endParaRPr lang="en-US" altLang="ja-JP" sz="1200" dirty="0" smtClean="0">
              <a:latin typeface="+mj-lt"/>
            </a:endParaRPr>
          </a:p>
          <a:p>
            <a:pPr lvl="2"/>
            <a:r>
              <a:rPr lang="en-US" altLang="ja-JP" sz="1000" dirty="0"/>
              <a:t>NDB</a:t>
            </a:r>
            <a:r>
              <a:rPr lang="ja-JP" altLang="en-US" sz="1000" dirty="0"/>
              <a:t>テーブルのすべての行を</a:t>
            </a:r>
            <a:r>
              <a:rPr lang="en-US" altLang="ja-JP" sz="1000" dirty="0" err="1"/>
              <a:t>stdout</a:t>
            </a:r>
            <a:r>
              <a:rPr lang="ja-JP" altLang="en-US" sz="1000" dirty="0"/>
              <a:t>に出力するか、ファイルにリダイレクトすることができます</a:t>
            </a:r>
            <a:r>
              <a:rPr lang="ja-JP" altLang="en-US" sz="1000" dirty="0" smtClean="0"/>
              <a:t>。</a:t>
            </a:r>
            <a:endParaRPr lang="en-US" altLang="ja-JP" sz="1000" dirty="0" smtClean="0"/>
          </a:p>
          <a:p>
            <a:pPr lvl="2"/>
            <a:r>
              <a:rPr lang="ja-JP" altLang="en-US" sz="1000" dirty="0"/>
              <a:t>使用法：</a:t>
            </a:r>
            <a:r>
              <a:rPr lang="en-US" altLang="ja-JP" sz="1000" dirty="0" smtClean="0"/>
              <a:t> </a:t>
            </a:r>
            <a:r>
              <a:rPr lang="en-US" altLang="ja-JP" sz="1000" dirty="0" err="1" smtClean="0"/>
              <a:t>ndb_select_all</a:t>
            </a:r>
            <a:r>
              <a:rPr lang="en-US" altLang="ja-JP" sz="1000" dirty="0" smtClean="0"/>
              <a:t> -c </a:t>
            </a:r>
            <a:r>
              <a:rPr lang="en-US" altLang="ja-JP" sz="1000" dirty="0" err="1" smtClean="0"/>
              <a:t>connection_string</a:t>
            </a:r>
            <a:r>
              <a:rPr lang="en-US" altLang="ja-JP" sz="1000" dirty="0" smtClean="0"/>
              <a:t> </a:t>
            </a:r>
            <a:r>
              <a:rPr lang="en-US" altLang="ja-JP" sz="1000" dirty="0" err="1" smtClean="0"/>
              <a:t>tbl_name</a:t>
            </a:r>
            <a:r>
              <a:rPr lang="en-US" altLang="ja-JP" sz="1000" dirty="0" smtClean="0"/>
              <a:t>-d </a:t>
            </a:r>
            <a:r>
              <a:rPr lang="en-US" altLang="ja-JP" sz="1000" dirty="0" err="1" smtClean="0"/>
              <a:t>db_name</a:t>
            </a:r>
            <a:r>
              <a:rPr lang="en-US" altLang="ja-JP" sz="1000" dirty="0" smtClean="0"/>
              <a:t>[&gt; </a:t>
            </a:r>
            <a:r>
              <a:rPr lang="en-US" altLang="ja-JP" sz="1000" dirty="0" err="1" smtClean="0"/>
              <a:t>file_name</a:t>
            </a:r>
            <a:r>
              <a:rPr lang="en-US" altLang="ja-JP" sz="1000" dirty="0" smtClean="0"/>
              <a:t>]</a:t>
            </a:r>
          </a:p>
          <a:p>
            <a:pPr lvl="1"/>
            <a:r>
              <a:rPr lang="en-US" altLang="ja-JP" sz="1200" dirty="0" err="1" smtClean="0"/>
              <a:t>ndb_config</a:t>
            </a:r>
            <a:endParaRPr lang="en-US" altLang="ja-JP" sz="1200" dirty="0" smtClean="0"/>
          </a:p>
          <a:p>
            <a:pPr lvl="2"/>
            <a:r>
              <a:rPr lang="ja-JP" altLang="en-US" sz="1000" dirty="0"/>
              <a:t>データノード、</a:t>
            </a:r>
            <a:r>
              <a:rPr lang="en-US" altLang="ja-JP" sz="1000" dirty="0"/>
              <a:t>SQL</a:t>
            </a:r>
            <a:r>
              <a:rPr lang="ja-JP" altLang="en-US" sz="1000" dirty="0"/>
              <a:t>ノード、および</a:t>
            </a:r>
            <a:r>
              <a:rPr lang="en-US" altLang="ja-JP" sz="1000" dirty="0"/>
              <a:t>API</a:t>
            </a:r>
            <a:r>
              <a:rPr lang="ja-JP" altLang="en-US" sz="1000" dirty="0"/>
              <a:t>ノードの現在の構成情報を、</a:t>
            </a:r>
            <a:r>
              <a:rPr lang="en-US" altLang="ja-JP" sz="1000" dirty="0"/>
              <a:t>NDB Cluster</a:t>
            </a:r>
            <a:r>
              <a:rPr lang="ja-JP" altLang="en-US" sz="1000" dirty="0"/>
              <a:t>管理ノードまたは</a:t>
            </a:r>
            <a:r>
              <a:rPr lang="en-US" altLang="ja-JP" sz="1000" dirty="0"/>
              <a:t>config.ini</a:t>
            </a:r>
            <a:r>
              <a:rPr lang="ja-JP" altLang="en-US" sz="1000" dirty="0"/>
              <a:t>ファイルまたは</a:t>
            </a:r>
            <a:r>
              <a:rPr lang="en-US" altLang="ja-JP" sz="1000" dirty="0" err="1"/>
              <a:t>my.cnf</a:t>
            </a:r>
            <a:r>
              <a:rPr lang="ja-JP" altLang="en-US" sz="1000" dirty="0"/>
              <a:t>ファイルのいずれかから抽出します。</a:t>
            </a:r>
            <a:endParaRPr lang="en-US" altLang="ja-JP" sz="1000" dirty="0" smtClean="0"/>
          </a:p>
          <a:p>
            <a:pPr lvl="2"/>
            <a:r>
              <a:rPr lang="ja-JP" altLang="en-US" sz="1000" dirty="0"/>
              <a:t>デフォルトでは、管理ノードは構成データのソースです。 デフォルトを上書きするには、</a:t>
            </a:r>
            <a:r>
              <a:rPr lang="en-US" altLang="ja-JP" sz="1000" dirty="0"/>
              <a:t>--</a:t>
            </a:r>
            <a:r>
              <a:rPr lang="en-US" altLang="ja-JP" sz="1000" dirty="0" err="1"/>
              <a:t>config</a:t>
            </a:r>
            <a:r>
              <a:rPr lang="en-US" altLang="ja-JP" sz="1000" dirty="0"/>
              <a:t>-file</a:t>
            </a:r>
            <a:r>
              <a:rPr lang="ja-JP" altLang="en-US" sz="1000" dirty="0"/>
              <a:t>または</a:t>
            </a:r>
            <a:r>
              <a:rPr lang="en-US" altLang="ja-JP" sz="1000" dirty="0"/>
              <a:t>-</a:t>
            </a:r>
            <a:r>
              <a:rPr lang="en-US" altLang="ja-JP" sz="1000" dirty="0" err="1"/>
              <a:t>mycnf</a:t>
            </a:r>
            <a:r>
              <a:rPr lang="ja-JP" altLang="en-US" sz="1000" dirty="0"/>
              <a:t>オプションを付けて</a:t>
            </a:r>
            <a:r>
              <a:rPr lang="en-US" altLang="ja-JP" sz="1000" dirty="0" err="1"/>
              <a:t>ndb_config</a:t>
            </a:r>
            <a:r>
              <a:rPr lang="ja-JP" altLang="en-US" sz="1000" dirty="0"/>
              <a:t>を実行します。</a:t>
            </a:r>
            <a:endParaRPr lang="en-US" altLang="ja-JP" sz="1000" dirty="0" smtClean="0"/>
          </a:p>
          <a:p>
            <a:pPr lvl="2"/>
            <a:r>
              <a:rPr lang="en-US" altLang="ja-JP" sz="1000" dirty="0"/>
              <a:t>--</a:t>
            </a:r>
            <a:r>
              <a:rPr lang="en-US" altLang="ja-JP" sz="1000" dirty="0" err="1"/>
              <a:t>config_from_node</a:t>
            </a:r>
            <a:r>
              <a:rPr lang="en-US" altLang="ja-JP" sz="1000" dirty="0"/>
              <a:t> = </a:t>
            </a:r>
            <a:r>
              <a:rPr lang="en-US" altLang="ja-JP" sz="1000" dirty="0" err="1"/>
              <a:t>node_id</a:t>
            </a:r>
            <a:r>
              <a:rPr lang="ja-JP" altLang="en-US" sz="1000" dirty="0"/>
              <a:t>でノード</a:t>
            </a:r>
            <a:r>
              <a:rPr lang="en-US" altLang="ja-JP" sz="1000" dirty="0"/>
              <a:t>ID</a:t>
            </a:r>
            <a:r>
              <a:rPr lang="ja-JP" altLang="en-US" sz="1000" dirty="0"/>
              <a:t>を指定することで、データノードをソースとして使用することもできます。</a:t>
            </a:r>
            <a:endParaRPr lang="en-US" altLang="ja-JP" sz="1000" dirty="0" smtClean="0"/>
          </a:p>
          <a:p>
            <a:pPr lvl="2"/>
            <a:r>
              <a:rPr lang="ja-JP" altLang="en-US" sz="1000" dirty="0"/>
              <a:t>使用法：</a:t>
            </a:r>
            <a:r>
              <a:rPr lang="en-US" altLang="ja-JP" sz="1000" dirty="0" smtClean="0"/>
              <a:t> </a:t>
            </a:r>
            <a:r>
              <a:rPr lang="en-US" altLang="ja-JP" sz="1000" dirty="0" err="1"/>
              <a:t>ndb_config</a:t>
            </a:r>
            <a:r>
              <a:rPr lang="en-US" altLang="ja-JP" sz="1000" dirty="0"/>
              <a:t> --</a:t>
            </a:r>
            <a:r>
              <a:rPr lang="en-US" altLang="ja-JP" sz="1000" dirty="0" err="1"/>
              <a:t>configinfo</a:t>
            </a:r>
            <a:endParaRPr lang="en-US" altLang="ja-JP" sz="1000" dirty="0" smtClean="0"/>
          </a:p>
          <a:p>
            <a:pPr lvl="2"/>
            <a:endParaRPr lang="en-US" altLang="ja-JP" sz="1000" dirty="0">
              <a:latin typeface="+mj-lt"/>
            </a:endParaRPr>
          </a:p>
          <a:p>
            <a:endParaRPr lang="en-US" altLang="ja-JP" sz="1600" dirty="0">
              <a:latin typeface="+mj-lt"/>
            </a:endParaRPr>
          </a:p>
        </p:txBody>
      </p:sp>
    </p:spTree>
    <p:extLst>
      <p:ext uri="{BB962C8B-B14F-4D97-AF65-F5344CB8AC3E}">
        <p14:creationId xmlns:p14="http://schemas.microsoft.com/office/powerpoint/2010/main" val="31944454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marL="342900" indent="-342900"/>
            <a:r>
              <a:rPr lang="en-US" altLang="ja-JP" dirty="0"/>
              <a:t>MySQL</a:t>
            </a:r>
            <a:r>
              <a:rPr lang="ja-JP" altLang="en-US" dirty="0"/>
              <a:t>クラスタ</a:t>
            </a:r>
            <a:r>
              <a:rPr lang="en-US" dirty="0"/>
              <a:t>:</a:t>
            </a:r>
            <a:r>
              <a:rPr lang="ja-JP" altLang="en-US" dirty="0" smtClean="0"/>
              <a:t>基</a:t>
            </a:r>
            <a:r>
              <a:rPr lang="ja-JP" altLang="en-US" dirty="0"/>
              <a:t>本操作コマン</a:t>
            </a:r>
            <a:r>
              <a:rPr lang="ja-JP" altLang="en-US" dirty="0" smtClean="0"/>
              <a:t>ド</a:t>
            </a:r>
            <a:r>
              <a:rPr lang="ja-JP" altLang="en-US" dirty="0"/>
              <a:t>　</a:t>
            </a:r>
            <a:r>
              <a:rPr lang="ja-JP" altLang="en-US" dirty="0" smtClean="0"/>
              <a:t>（</a:t>
            </a:r>
            <a:r>
              <a:rPr lang="en-US" altLang="ja-JP" dirty="0" smtClean="0"/>
              <a:t>8/8)</a:t>
            </a:r>
            <a:endParaRPr lang="en-US" altLang="ja-JP" dirty="0"/>
          </a:p>
        </p:txBody>
      </p:sp>
      <p:sp>
        <p:nvSpPr>
          <p:cNvPr id="3" name="コンテンツ プレースホルダー 2"/>
          <p:cNvSpPr>
            <a:spLocks noGrp="1"/>
          </p:cNvSpPr>
          <p:nvPr>
            <p:ph sz="quarter" idx="10"/>
          </p:nvPr>
        </p:nvSpPr>
        <p:spPr/>
        <p:txBody>
          <a:bodyPr>
            <a:normAutofit fontScale="92500" lnSpcReduction="10000"/>
          </a:bodyPr>
          <a:lstStyle/>
          <a:p>
            <a:r>
              <a:rPr lang="ja-JP" altLang="en-US" sz="1600" dirty="0"/>
              <a:t>データベース管理文</a:t>
            </a:r>
            <a:endParaRPr kumimoji="1" lang="en-US" altLang="ja-JP" sz="1600" dirty="0" smtClean="0">
              <a:latin typeface="+mj-lt"/>
            </a:endParaRPr>
          </a:p>
          <a:p>
            <a:pPr>
              <a:buFont typeface="Arial" panose="020B0604020202020204" pitchFamily="34" charset="0"/>
              <a:buChar char="•"/>
            </a:pPr>
            <a:r>
              <a:rPr lang="en-US" altLang="ja-JP" sz="1400" dirty="0" smtClean="0">
                <a:latin typeface="+mj-lt"/>
              </a:rPr>
              <a:t>SHOW</a:t>
            </a:r>
            <a:r>
              <a:rPr lang="ja-JP" altLang="en-US" sz="1400" dirty="0"/>
              <a:t>構文</a:t>
            </a:r>
            <a:endParaRPr lang="en-US" altLang="ja-JP" sz="1400" dirty="0" smtClean="0">
              <a:latin typeface="+mj-lt"/>
            </a:endParaRPr>
          </a:p>
          <a:p>
            <a:pPr lvl="1"/>
            <a:r>
              <a:rPr kumimoji="1" lang="en-US" altLang="ja-JP" sz="1200" dirty="0" smtClean="0">
                <a:latin typeface="+mj-lt"/>
              </a:rPr>
              <a:t>SHOW </a:t>
            </a:r>
            <a:r>
              <a:rPr kumimoji="1" lang="en-US" altLang="ja-JP" sz="1200" dirty="0" smtClean="0">
                <a:latin typeface="+mj-lt"/>
              </a:rPr>
              <a:t>STATUS</a:t>
            </a:r>
          </a:p>
          <a:p>
            <a:pPr lvl="2"/>
            <a:r>
              <a:rPr lang="ja-JP" altLang="en-US" sz="1000" dirty="0"/>
              <a:t>構</a:t>
            </a:r>
            <a:r>
              <a:rPr lang="ja-JP" altLang="en-US" sz="1000" dirty="0" smtClean="0"/>
              <a:t>文：</a:t>
            </a:r>
            <a:r>
              <a:rPr lang="en-US" altLang="ja-JP" sz="1000" dirty="0" smtClean="0">
                <a:latin typeface="+mj-lt"/>
              </a:rPr>
              <a:t> </a:t>
            </a:r>
            <a:r>
              <a:rPr lang="en-US" altLang="ja-JP" sz="1000" dirty="0">
                <a:latin typeface="+mj-lt"/>
              </a:rPr>
              <a:t>SHOW [GLOBAL | SESSION] </a:t>
            </a:r>
            <a:r>
              <a:rPr lang="en-US" altLang="ja-JP" sz="1000" dirty="0" smtClean="0">
                <a:latin typeface="+mj-lt"/>
              </a:rPr>
              <a:t>STATUS [LIKE </a:t>
            </a:r>
            <a:r>
              <a:rPr lang="en-US" altLang="ja-JP" sz="1000" dirty="0">
                <a:latin typeface="+mj-lt"/>
              </a:rPr>
              <a:t>'pattern' | WHERE expr</a:t>
            </a:r>
            <a:r>
              <a:rPr lang="en-US" altLang="ja-JP" sz="1000" dirty="0" smtClean="0">
                <a:latin typeface="+mj-lt"/>
              </a:rPr>
              <a:t>]</a:t>
            </a:r>
          </a:p>
          <a:p>
            <a:pPr lvl="2"/>
            <a:r>
              <a:rPr lang="en-US" altLang="ja-JP" sz="1000" dirty="0"/>
              <a:t>SHOW STATUS</a:t>
            </a:r>
            <a:r>
              <a:rPr lang="ja-JP" altLang="en-US" sz="1000" dirty="0"/>
              <a:t>はサーバーの状態情報を提供しま</a:t>
            </a:r>
            <a:r>
              <a:rPr lang="ja-JP" altLang="en-US" sz="1000" dirty="0" smtClean="0"/>
              <a:t>す</a:t>
            </a:r>
            <a:endParaRPr lang="en-US" altLang="ja-JP" sz="1000" dirty="0" smtClean="0"/>
          </a:p>
          <a:p>
            <a:pPr lvl="2"/>
            <a:r>
              <a:rPr lang="ja-JP" altLang="en-US" sz="1000" dirty="0"/>
              <a:t>この文は特権を必要としません。 サーバーに接続する機能のみが必要です。</a:t>
            </a:r>
            <a:endParaRPr kumimoji="1" lang="en-US" altLang="ja-JP" sz="1000" dirty="0" smtClean="0">
              <a:latin typeface="+mj-lt"/>
            </a:endParaRPr>
          </a:p>
          <a:p>
            <a:pPr lvl="2"/>
            <a:r>
              <a:rPr lang="en-US" altLang="ja-JP" sz="1000" dirty="0">
                <a:latin typeface="+mj-lt"/>
              </a:rPr>
              <a:t>GLOBAL </a:t>
            </a:r>
            <a:r>
              <a:rPr lang="ja-JP" altLang="en-US" sz="1000" dirty="0">
                <a:latin typeface="+mj-lt"/>
              </a:rPr>
              <a:t>オプショ</a:t>
            </a:r>
            <a:r>
              <a:rPr lang="ja-JP" altLang="en-US" sz="1000" dirty="0" smtClean="0">
                <a:latin typeface="+mj-lt"/>
              </a:rPr>
              <a:t>ン：</a:t>
            </a:r>
            <a:r>
              <a:rPr lang="ja-JP" altLang="en-US" sz="1000" dirty="0"/>
              <a:t>このステートメントはグローバル状況値を表示します</a:t>
            </a:r>
            <a:r>
              <a:rPr lang="ja-JP" altLang="en-US" sz="1000" dirty="0" smtClean="0"/>
              <a:t>。</a:t>
            </a:r>
            <a:endParaRPr lang="en-US" altLang="ja-JP" sz="1000" dirty="0" smtClean="0"/>
          </a:p>
          <a:p>
            <a:pPr lvl="2"/>
            <a:r>
              <a:rPr lang="en-US" altLang="ja-JP" sz="1000" dirty="0" smtClean="0">
                <a:latin typeface="+mj-lt"/>
              </a:rPr>
              <a:t>SESSION</a:t>
            </a:r>
            <a:r>
              <a:rPr lang="ja-JP" altLang="en-US" sz="1000" dirty="0"/>
              <a:t>オプション</a:t>
            </a:r>
            <a:r>
              <a:rPr lang="ja-JP" altLang="en-US" sz="1000" dirty="0" smtClean="0"/>
              <a:t>：</a:t>
            </a:r>
            <a:r>
              <a:rPr lang="ja-JP" altLang="en-US" sz="1000" dirty="0"/>
              <a:t>ステートメントは現在の接続の状況変数値を表示します。</a:t>
            </a:r>
            <a:endParaRPr lang="en-US" altLang="ja-JP" sz="1000" dirty="0" smtClean="0">
              <a:latin typeface="+mj-lt"/>
            </a:endParaRPr>
          </a:p>
          <a:p>
            <a:pPr lvl="1"/>
            <a:r>
              <a:rPr lang="en-US" altLang="ja-JP" sz="1200" dirty="0" smtClean="0">
                <a:latin typeface="+mj-lt"/>
              </a:rPr>
              <a:t>SHOW TABLE STATUS</a:t>
            </a:r>
          </a:p>
          <a:p>
            <a:pPr lvl="2"/>
            <a:r>
              <a:rPr lang="ja-JP" altLang="en-US" sz="1000" dirty="0" smtClean="0"/>
              <a:t>構</a:t>
            </a:r>
            <a:r>
              <a:rPr lang="ja-JP" altLang="en-US" sz="1000" dirty="0"/>
              <a:t>文：</a:t>
            </a:r>
            <a:r>
              <a:rPr lang="en-US" altLang="ja-JP" sz="1000" dirty="0" smtClean="0">
                <a:latin typeface="+mj-lt"/>
              </a:rPr>
              <a:t> </a:t>
            </a:r>
            <a:r>
              <a:rPr lang="en-US" altLang="ja-JP" sz="1000" dirty="0">
                <a:latin typeface="+mj-lt"/>
              </a:rPr>
              <a:t>SHOW TABLE </a:t>
            </a:r>
            <a:r>
              <a:rPr lang="en-US" altLang="ja-JP" sz="1000" dirty="0" smtClean="0">
                <a:latin typeface="+mj-lt"/>
              </a:rPr>
              <a:t>STATUS [{</a:t>
            </a:r>
            <a:r>
              <a:rPr lang="en-US" altLang="ja-JP" sz="1000" dirty="0">
                <a:latin typeface="+mj-lt"/>
              </a:rPr>
              <a:t>FROM | IN} </a:t>
            </a:r>
            <a:r>
              <a:rPr lang="en-US" altLang="ja-JP" sz="1000" dirty="0" err="1">
                <a:latin typeface="+mj-lt"/>
              </a:rPr>
              <a:t>db_name</a:t>
            </a:r>
            <a:r>
              <a:rPr lang="en-US" altLang="ja-JP" sz="1000" dirty="0" smtClean="0">
                <a:latin typeface="+mj-lt"/>
              </a:rPr>
              <a:t>] [</a:t>
            </a:r>
            <a:r>
              <a:rPr lang="en-US" altLang="ja-JP" sz="1000" dirty="0">
                <a:latin typeface="+mj-lt"/>
              </a:rPr>
              <a:t>LIKE 'pattern' | WHERE expr</a:t>
            </a:r>
            <a:r>
              <a:rPr lang="en-US" altLang="ja-JP" sz="1000" dirty="0" smtClean="0">
                <a:latin typeface="+mj-lt"/>
              </a:rPr>
              <a:t>]</a:t>
            </a:r>
          </a:p>
          <a:p>
            <a:pPr lvl="2"/>
            <a:r>
              <a:rPr lang="ja-JP" altLang="en-US" sz="1000" dirty="0"/>
              <a:t>それは</a:t>
            </a:r>
            <a:r>
              <a:rPr lang="en-US" altLang="ja-JP" sz="1000" dirty="0"/>
              <a:t>SHOW TABLES</a:t>
            </a:r>
            <a:r>
              <a:rPr lang="ja-JP" altLang="en-US" sz="1000" dirty="0"/>
              <a:t>が好きですが、各非</a:t>
            </a:r>
            <a:r>
              <a:rPr lang="en-US" altLang="ja-JP" sz="1000" dirty="0"/>
              <a:t>TEMPORARY</a:t>
            </a:r>
            <a:r>
              <a:rPr lang="ja-JP" altLang="en-US" sz="1000" dirty="0"/>
              <a:t>テーブルに関する多くの情報を提供します</a:t>
            </a:r>
            <a:r>
              <a:rPr lang="ja-JP" altLang="en-US" sz="1000" dirty="0" smtClean="0"/>
              <a:t>。</a:t>
            </a:r>
            <a:endParaRPr lang="en-US" altLang="ja-JP" sz="1000" dirty="0" smtClean="0"/>
          </a:p>
          <a:p>
            <a:pPr lvl="1"/>
            <a:r>
              <a:rPr lang="en-US" altLang="ja-JP" sz="1200" dirty="0" smtClean="0"/>
              <a:t>SHOW </a:t>
            </a:r>
            <a:r>
              <a:rPr lang="en-US" altLang="ja-JP" sz="1200" dirty="0" smtClean="0"/>
              <a:t>MASTER STATUS</a:t>
            </a:r>
            <a:endParaRPr lang="en-US" altLang="ja-JP" sz="1200" dirty="0"/>
          </a:p>
          <a:p>
            <a:pPr lvl="2"/>
            <a:r>
              <a:rPr lang="ja-JP" altLang="en-US" sz="1000" dirty="0"/>
              <a:t>構文：</a:t>
            </a:r>
            <a:r>
              <a:rPr lang="en-US" altLang="ja-JP" sz="1000" dirty="0" smtClean="0"/>
              <a:t> </a:t>
            </a:r>
            <a:r>
              <a:rPr lang="en-US" altLang="ja-JP" sz="1000" dirty="0"/>
              <a:t>SHOW MASTER </a:t>
            </a:r>
            <a:r>
              <a:rPr lang="en-US" altLang="ja-JP" sz="1000" dirty="0" smtClean="0"/>
              <a:t>STATUS</a:t>
            </a:r>
            <a:r>
              <a:rPr lang="en-US" altLang="ja-JP" sz="1000" dirty="0"/>
              <a:t>; </a:t>
            </a:r>
            <a:r>
              <a:rPr lang="ja-JP" altLang="en-US" sz="1000" dirty="0" smtClean="0"/>
              <a:t>または</a:t>
            </a:r>
            <a:r>
              <a:rPr lang="en-US" altLang="ja-JP" sz="1000" dirty="0" smtClean="0"/>
              <a:t>SHOW </a:t>
            </a:r>
            <a:r>
              <a:rPr lang="en-US" altLang="ja-JP" sz="1000" dirty="0"/>
              <a:t>MASTER </a:t>
            </a:r>
            <a:r>
              <a:rPr lang="en-US" altLang="ja-JP" sz="1000" dirty="0" smtClean="0"/>
              <a:t>STATUS </a:t>
            </a:r>
            <a:r>
              <a:rPr lang="en-US" altLang="ja-JP" sz="1000" dirty="0"/>
              <a:t>\G;</a:t>
            </a:r>
          </a:p>
          <a:p>
            <a:pPr lvl="2"/>
            <a:r>
              <a:rPr lang="ja-JP" altLang="en-US" sz="1000" dirty="0"/>
              <a:t>マスターのバイナリログファイルに関するステータス情報を提供します。</a:t>
            </a:r>
            <a:endParaRPr lang="en-US" altLang="ja-JP" sz="1000" dirty="0"/>
          </a:p>
          <a:p>
            <a:pPr lvl="1"/>
            <a:r>
              <a:rPr lang="en-US" altLang="ja-JP" sz="1200" dirty="0"/>
              <a:t>SHOW SLAVE STATUS</a:t>
            </a:r>
          </a:p>
          <a:p>
            <a:pPr lvl="2"/>
            <a:r>
              <a:rPr lang="ja-JP" altLang="en-US" sz="1000" dirty="0"/>
              <a:t>構文：</a:t>
            </a:r>
            <a:r>
              <a:rPr lang="en-US" altLang="ja-JP" sz="1000" dirty="0" smtClean="0"/>
              <a:t> </a:t>
            </a:r>
            <a:r>
              <a:rPr lang="en-US" altLang="ja-JP" sz="1000" dirty="0"/>
              <a:t>SHOW SLAVE STATUS; </a:t>
            </a:r>
            <a:r>
              <a:rPr lang="ja-JP" altLang="en-US" sz="1000" dirty="0" smtClean="0"/>
              <a:t>または</a:t>
            </a:r>
            <a:r>
              <a:rPr lang="en-US" altLang="ja-JP" sz="1000" dirty="0" smtClean="0"/>
              <a:t>SHOW </a:t>
            </a:r>
            <a:r>
              <a:rPr lang="en-US" altLang="ja-JP" sz="1000" dirty="0"/>
              <a:t>SLAVE STATUS \G;</a:t>
            </a:r>
          </a:p>
          <a:p>
            <a:pPr lvl="2"/>
            <a:r>
              <a:rPr lang="ja-JP" altLang="en-US" sz="1000" dirty="0"/>
              <a:t>スレーブスレッドの必須パラメータに関するステータス情報を提供します</a:t>
            </a:r>
            <a:r>
              <a:rPr lang="ja-JP" altLang="en-US" sz="1000" dirty="0" smtClean="0"/>
              <a:t>。</a:t>
            </a:r>
            <a:endParaRPr lang="en-US" altLang="ja-JP" sz="1000" dirty="0" smtClean="0"/>
          </a:p>
          <a:p>
            <a:pPr lvl="1"/>
            <a:r>
              <a:rPr lang="en-US" altLang="ja-JP" sz="1200" dirty="0" smtClean="0">
                <a:latin typeface="+mj-lt"/>
              </a:rPr>
              <a:t>SHOW PROCESSLIST</a:t>
            </a:r>
          </a:p>
          <a:p>
            <a:pPr lvl="2"/>
            <a:r>
              <a:rPr lang="ja-JP" altLang="en-US" sz="1000" dirty="0" smtClean="0"/>
              <a:t>構</a:t>
            </a:r>
            <a:r>
              <a:rPr lang="ja-JP" altLang="en-US" sz="1000" dirty="0"/>
              <a:t>文：</a:t>
            </a:r>
            <a:r>
              <a:rPr lang="en-US" altLang="ja-JP" sz="1000" dirty="0" smtClean="0">
                <a:latin typeface="+mj-lt"/>
              </a:rPr>
              <a:t> </a:t>
            </a:r>
            <a:r>
              <a:rPr lang="en-US" altLang="ja-JP" sz="1000" dirty="0" smtClean="0">
                <a:latin typeface="+mj-lt"/>
              </a:rPr>
              <a:t>SHOW PROCESSLIST;</a:t>
            </a:r>
          </a:p>
          <a:p>
            <a:pPr lvl="2"/>
            <a:r>
              <a:rPr lang="ja-JP" altLang="en-US" sz="1000" dirty="0"/>
              <a:t>実行中のスレッドを示します。</a:t>
            </a:r>
            <a:endParaRPr lang="en-US" altLang="ja-JP" sz="1000" dirty="0" smtClean="0">
              <a:latin typeface="+mj-lt"/>
            </a:endParaRPr>
          </a:p>
          <a:p>
            <a:pPr lvl="2"/>
            <a:r>
              <a:rPr lang="ja-JP" altLang="en-US" sz="1000" dirty="0"/>
              <a:t>「接続が多すぎます」というエラーメッセージが表示され、何が起こっているのかを知りたい場合に非常に便利です</a:t>
            </a:r>
            <a:r>
              <a:rPr lang="ja-JP" altLang="en-US" sz="1000" dirty="0" smtClean="0"/>
              <a:t>。</a:t>
            </a:r>
            <a:endParaRPr lang="en-US" altLang="ja-JP" sz="1000" dirty="0" smtClean="0">
              <a:latin typeface="+mj-lt"/>
            </a:endParaRPr>
          </a:p>
          <a:p>
            <a:pPr lvl="1"/>
            <a:r>
              <a:rPr lang="en-US" altLang="ja-JP" sz="1200" dirty="0" smtClean="0">
                <a:latin typeface="+mj-lt"/>
              </a:rPr>
              <a:t>SHOW ENGINES</a:t>
            </a:r>
          </a:p>
          <a:p>
            <a:pPr lvl="2"/>
            <a:r>
              <a:rPr lang="ja-JP" altLang="en-US" sz="1000" dirty="0" smtClean="0"/>
              <a:t>構</a:t>
            </a:r>
            <a:r>
              <a:rPr lang="ja-JP" altLang="en-US" sz="1000" dirty="0"/>
              <a:t>文：</a:t>
            </a:r>
            <a:r>
              <a:rPr lang="en-US" altLang="ja-JP" sz="1000" dirty="0" smtClean="0">
                <a:latin typeface="+mj-lt"/>
              </a:rPr>
              <a:t> </a:t>
            </a:r>
            <a:r>
              <a:rPr lang="en-US" altLang="ja-JP" sz="1000" dirty="0" smtClean="0">
                <a:latin typeface="+mj-lt"/>
              </a:rPr>
              <a:t>SHOW ENGINES \G;</a:t>
            </a:r>
          </a:p>
          <a:p>
            <a:pPr lvl="2"/>
            <a:r>
              <a:rPr lang="ja-JP" altLang="en-US" sz="1000" dirty="0"/>
              <a:t>サーバーのストレージエンジンに関するステータス情報を表示します</a:t>
            </a:r>
            <a:r>
              <a:rPr lang="ja-JP" altLang="en-US" sz="1000" dirty="0" smtClean="0"/>
              <a:t>。</a:t>
            </a:r>
            <a:endParaRPr lang="en-US" altLang="ja-JP" sz="1000" dirty="0" smtClean="0"/>
          </a:p>
          <a:p>
            <a:pPr lvl="2"/>
            <a:r>
              <a:rPr lang="ja-JP" altLang="en-US" sz="1000" dirty="0"/>
              <a:t>ストレージエンジンがサポートされているかどうかをチェックしたり、デフォルトエンジンが何であるかを確認するのに便利で</a:t>
            </a:r>
            <a:r>
              <a:rPr lang="ja-JP" altLang="en-US" sz="1000" dirty="0" smtClean="0"/>
              <a:t>す。</a:t>
            </a:r>
            <a:endParaRPr lang="en-US" altLang="ja-JP" sz="1000" dirty="0" smtClean="0">
              <a:latin typeface="+mj-lt"/>
            </a:endParaRPr>
          </a:p>
          <a:p>
            <a:pPr lvl="1"/>
            <a:r>
              <a:rPr lang="en-US" altLang="ja-JP" sz="1200" dirty="0" smtClean="0">
                <a:latin typeface="+mj-lt"/>
              </a:rPr>
              <a:t>SHOW CREATE TABLE</a:t>
            </a:r>
          </a:p>
          <a:p>
            <a:pPr lvl="2"/>
            <a:r>
              <a:rPr lang="ja-JP" altLang="en-US" sz="1000" dirty="0" smtClean="0"/>
              <a:t>構</a:t>
            </a:r>
            <a:r>
              <a:rPr lang="ja-JP" altLang="en-US" sz="1000" dirty="0"/>
              <a:t>文：</a:t>
            </a:r>
            <a:r>
              <a:rPr lang="en-US" altLang="ja-JP" sz="1000" dirty="0" smtClean="0">
                <a:latin typeface="+mj-lt"/>
              </a:rPr>
              <a:t> </a:t>
            </a:r>
            <a:r>
              <a:rPr lang="en-US" altLang="ja-JP" sz="1000" dirty="0">
                <a:latin typeface="+mj-lt"/>
              </a:rPr>
              <a:t>SHOW CREATE TABLE </a:t>
            </a:r>
            <a:r>
              <a:rPr lang="en-US" altLang="ja-JP" sz="1000" dirty="0" err="1" smtClean="0">
                <a:latin typeface="+mj-lt"/>
              </a:rPr>
              <a:t>tbl_name</a:t>
            </a:r>
            <a:endParaRPr lang="en-US" altLang="ja-JP" sz="1000" dirty="0" smtClean="0">
              <a:latin typeface="+mj-lt"/>
            </a:endParaRPr>
          </a:p>
          <a:p>
            <a:pPr lvl="2"/>
            <a:r>
              <a:rPr lang="ja-JP" altLang="en-US" sz="1000" dirty="0"/>
              <a:t>名前付き表を作成する</a:t>
            </a:r>
            <a:r>
              <a:rPr lang="en-US" altLang="ja-JP" sz="1000" dirty="0"/>
              <a:t>CREATE TABLE</a:t>
            </a:r>
            <a:r>
              <a:rPr lang="ja-JP" altLang="en-US" sz="1000" dirty="0"/>
              <a:t>文が表示されます。</a:t>
            </a:r>
            <a:endParaRPr lang="en-US" altLang="ja-JP" sz="1600" dirty="0">
              <a:latin typeface="+mj-lt"/>
            </a:endParaRPr>
          </a:p>
        </p:txBody>
      </p:sp>
    </p:spTree>
    <p:extLst>
      <p:ext uri="{BB962C8B-B14F-4D97-AF65-F5344CB8AC3E}">
        <p14:creationId xmlns:p14="http://schemas.microsoft.com/office/powerpoint/2010/main" val="9940165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marL="342900" indent="-342900"/>
            <a:r>
              <a:rPr lang="en-US" altLang="ja-JP" dirty="0"/>
              <a:t>MySQL</a:t>
            </a:r>
            <a:r>
              <a:rPr lang="ja-JP" altLang="en-US" dirty="0"/>
              <a:t>クラスタ</a:t>
            </a:r>
            <a:r>
              <a:rPr lang="en-US" dirty="0"/>
              <a:t>:</a:t>
            </a:r>
            <a:r>
              <a:rPr lang="ja-JP" altLang="en-US" dirty="0"/>
              <a:t>バックアップ　</a:t>
            </a:r>
            <a:r>
              <a:rPr lang="ja-JP" altLang="en-US" dirty="0" smtClean="0"/>
              <a:t>（</a:t>
            </a:r>
            <a:r>
              <a:rPr lang="en-US" altLang="ja-JP" dirty="0" smtClean="0"/>
              <a:t>1/6)</a:t>
            </a:r>
            <a:endParaRPr lang="en-US" altLang="ja-JP" dirty="0"/>
          </a:p>
        </p:txBody>
      </p:sp>
      <p:sp>
        <p:nvSpPr>
          <p:cNvPr id="3" name="コンテンツ プレースホルダー 2"/>
          <p:cNvSpPr>
            <a:spLocks noGrp="1"/>
          </p:cNvSpPr>
          <p:nvPr>
            <p:ph sz="quarter" idx="10"/>
          </p:nvPr>
        </p:nvSpPr>
        <p:spPr/>
        <p:txBody>
          <a:bodyPr>
            <a:normAutofit/>
          </a:bodyPr>
          <a:lstStyle/>
          <a:p>
            <a:r>
              <a:rPr lang="ja-JP" altLang="en-US" sz="1600" dirty="0"/>
              <a:t>ネイティブ</a:t>
            </a:r>
            <a:r>
              <a:rPr lang="en-US" altLang="ja-JP" sz="1600" dirty="0"/>
              <a:t>NDB</a:t>
            </a:r>
            <a:r>
              <a:rPr lang="ja-JP" altLang="en-US" sz="1600" dirty="0"/>
              <a:t>クラスタバックアッ</a:t>
            </a:r>
            <a:r>
              <a:rPr lang="ja-JP" altLang="en-US" sz="1600" dirty="0" smtClean="0"/>
              <a:t>プ</a:t>
            </a:r>
            <a:endParaRPr lang="en-US" altLang="ja-JP" sz="1600" dirty="0" smtClean="0"/>
          </a:p>
          <a:p>
            <a:pPr lvl="1"/>
            <a:r>
              <a:rPr lang="ja-JP" altLang="en-US" sz="1200" dirty="0"/>
              <a:t>バックアップは、</a:t>
            </a:r>
            <a:r>
              <a:rPr lang="en-US" altLang="ja-JP" sz="1200" dirty="0" err="1"/>
              <a:t>ndb_mgm</a:t>
            </a:r>
            <a:r>
              <a:rPr lang="ja-JP" altLang="en-US" sz="1200" dirty="0"/>
              <a:t>管理クライアントで実行または実行されます。</a:t>
            </a:r>
            <a:endParaRPr lang="en-US" altLang="ja-JP" sz="1200" dirty="0" smtClean="0"/>
          </a:p>
          <a:p>
            <a:pPr lvl="1"/>
            <a:r>
              <a:rPr lang="en-US" altLang="ja-JP" sz="1200" dirty="0"/>
              <a:t>NDB Cluster</a:t>
            </a:r>
            <a:r>
              <a:rPr lang="ja-JP" altLang="en-US" sz="1200" dirty="0"/>
              <a:t>のオンラインバックアップとしても知られています。</a:t>
            </a:r>
            <a:endParaRPr kumimoji="1" lang="en-US" altLang="ja-JP" sz="1200" dirty="0" smtClean="0"/>
          </a:p>
          <a:p>
            <a:pPr lvl="1"/>
            <a:endParaRPr lang="en-US" altLang="ja-JP" sz="1200" dirty="0" smtClean="0"/>
          </a:p>
          <a:p>
            <a:r>
              <a:rPr lang="en-US" altLang="ja-JP" sz="1600" dirty="0"/>
              <a:t>NDB</a:t>
            </a:r>
            <a:r>
              <a:rPr lang="ja-JP" altLang="en-US" sz="1600" dirty="0"/>
              <a:t>クラスタバックアップの概念</a:t>
            </a:r>
            <a:endParaRPr kumimoji="1" lang="en-US" altLang="ja-JP" sz="1600" dirty="0" smtClean="0"/>
          </a:p>
          <a:p>
            <a:pPr lvl="1"/>
            <a:r>
              <a:rPr lang="ja-JP" altLang="en-US" sz="1200" dirty="0"/>
              <a:t>バックアップとは、特定の時点でのデータベースのスナップショットです。</a:t>
            </a:r>
            <a:endParaRPr lang="en-US" altLang="ja-JP" sz="1200" dirty="0" smtClean="0"/>
          </a:p>
          <a:p>
            <a:pPr lvl="1"/>
            <a:r>
              <a:rPr lang="ja-JP" altLang="en-US" sz="1200" dirty="0"/>
              <a:t>バックアップは、</a:t>
            </a:r>
            <a:r>
              <a:rPr lang="en-US" altLang="ja-JP" sz="1200" dirty="0"/>
              <a:t>3</a:t>
            </a:r>
            <a:r>
              <a:rPr lang="ja-JP" altLang="en-US" sz="1200" dirty="0"/>
              <a:t>つの主要な部分で構成されていま</a:t>
            </a:r>
            <a:r>
              <a:rPr lang="ja-JP" altLang="en-US" sz="1200" dirty="0" smtClean="0"/>
              <a:t>す：</a:t>
            </a:r>
            <a:endParaRPr kumimoji="1" lang="en-US" altLang="ja-JP" sz="1200" dirty="0" smtClean="0"/>
          </a:p>
          <a:p>
            <a:pPr lvl="2"/>
            <a:r>
              <a:rPr lang="ja-JP" altLang="en-US" sz="1000" b="1" dirty="0" smtClean="0"/>
              <a:t>メタデータ</a:t>
            </a:r>
            <a:r>
              <a:rPr lang="en-US" altLang="ja-JP" sz="1000" dirty="0" smtClean="0"/>
              <a:t>.	</a:t>
            </a:r>
            <a:r>
              <a:rPr lang="ja-JP" altLang="en-US" sz="1000" dirty="0" smtClean="0"/>
              <a:t>すべてのデータベーステーブルの名前と定義</a:t>
            </a:r>
            <a:endParaRPr lang="en-US" altLang="ja-JP" sz="1000" dirty="0" smtClean="0"/>
          </a:p>
          <a:p>
            <a:pPr marL="358775" lvl="2" indent="0">
              <a:buNone/>
            </a:pPr>
            <a:r>
              <a:rPr lang="en-US" altLang="ja-JP" sz="1000" i="1" dirty="0" smtClean="0"/>
              <a:t>		BACKUP-</a:t>
            </a:r>
            <a:r>
              <a:rPr lang="en-US" altLang="ja-JP" sz="1000" i="1" dirty="0" err="1" smtClean="0"/>
              <a:t>backup_id.node_id.ctl</a:t>
            </a:r>
            <a:r>
              <a:rPr lang="en-US" altLang="ja-JP" sz="1000" i="1" dirty="0" smtClean="0"/>
              <a:t>*</a:t>
            </a:r>
            <a:endParaRPr lang="en-US" altLang="ja-JP" sz="1000" i="1" dirty="0"/>
          </a:p>
          <a:p>
            <a:pPr marL="358775" lvl="2" indent="0">
              <a:buNone/>
            </a:pPr>
            <a:r>
              <a:rPr lang="en-US" altLang="ja-JP" sz="1000" dirty="0"/>
              <a:t>		</a:t>
            </a:r>
            <a:r>
              <a:rPr lang="ja-JP" altLang="en-US" sz="1000" dirty="0"/>
              <a:t>制御情報とメタデータを含む制御ファイル。 各ノードは、このファイルの独自のバージョンに同じテーブル定</a:t>
            </a:r>
            <a:r>
              <a:rPr lang="ja-JP" altLang="en-US" sz="1000" dirty="0" smtClean="0"/>
              <a:t>義</a:t>
            </a:r>
            <a:endParaRPr lang="en-US" altLang="ja-JP" sz="1000" dirty="0" smtClean="0"/>
          </a:p>
          <a:p>
            <a:pPr marL="358775" lvl="2" indent="0">
              <a:buNone/>
            </a:pPr>
            <a:r>
              <a:rPr lang="ja-JP" altLang="en-US" sz="1000" dirty="0"/>
              <a:t>　</a:t>
            </a:r>
            <a:r>
              <a:rPr lang="ja-JP" altLang="en-US" sz="1000" dirty="0" smtClean="0"/>
              <a:t>　　　　　　　　　　（</a:t>
            </a:r>
            <a:r>
              <a:rPr lang="ja-JP" altLang="en-US" sz="1000" dirty="0"/>
              <a:t>クラスタ内のすべてのテーブル用）を保存します。</a:t>
            </a:r>
            <a:endParaRPr lang="en-US" altLang="ja-JP" sz="1000" i="1" dirty="0" smtClean="0"/>
          </a:p>
          <a:p>
            <a:pPr lvl="2"/>
            <a:r>
              <a:rPr lang="ja-JP" altLang="en-US" sz="1000" b="1" dirty="0" smtClean="0"/>
              <a:t>テーブルレコード</a:t>
            </a:r>
            <a:r>
              <a:rPr lang="en-US" altLang="ja-JP" sz="1000" dirty="0" smtClean="0"/>
              <a:t>.</a:t>
            </a:r>
            <a:r>
              <a:rPr lang="en-US" altLang="ja-JP" sz="1000" dirty="0" smtClean="0"/>
              <a:t>	</a:t>
            </a:r>
            <a:r>
              <a:rPr lang="ja-JP" altLang="en-US" sz="1000" dirty="0"/>
              <a:t>ックアップが作成されたのと同時にデータベーステーブルに実際に格納されたデータ。</a:t>
            </a:r>
            <a:endParaRPr lang="en-US" altLang="ja-JP" sz="1000" dirty="0" smtClean="0"/>
          </a:p>
          <a:p>
            <a:pPr marL="358775" lvl="2" indent="0">
              <a:buNone/>
            </a:pPr>
            <a:r>
              <a:rPr lang="en-US" altLang="ja-JP" sz="1000" i="1" dirty="0" smtClean="0"/>
              <a:t>		BACKUP-backup_id-0.node_id.data*</a:t>
            </a:r>
            <a:endParaRPr lang="en-US" altLang="ja-JP" sz="1000" dirty="0" smtClean="0"/>
          </a:p>
          <a:p>
            <a:pPr marL="358775" lvl="2" indent="0">
              <a:buNone/>
            </a:pPr>
            <a:r>
              <a:rPr lang="en-US" altLang="ja-JP" sz="1000" dirty="0"/>
              <a:t>		</a:t>
            </a:r>
            <a:r>
              <a:rPr lang="ja-JP" altLang="en-US" sz="1000" dirty="0"/>
              <a:t>テーブルレコードを含むデータファイル。フラグメント単位で保存されます。 すなわち、異なるノードは</a:t>
            </a:r>
            <a:r>
              <a:rPr lang="ja-JP" altLang="en-US" sz="1000" dirty="0" smtClean="0"/>
              <a:t>、</a:t>
            </a:r>
            <a:endParaRPr lang="en-US" altLang="ja-JP" sz="1000" dirty="0" smtClean="0"/>
          </a:p>
          <a:p>
            <a:pPr marL="358775" lvl="2" indent="0">
              <a:buNone/>
            </a:pPr>
            <a:r>
              <a:rPr lang="en-US" altLang="ja-JP" sz="1000" dirty="0"/>
              <a:t>		</a:t>
            </a:r>
            <a:r>
              <a:rPr lang="ja-JP" altLang="en-US" sz="1000" dirty="0" smtClean="0"/>
              <a:t>バ</a:t>
            </a:r>
            <a:r>
              <a:rPr lang="ja-JP" altLang="en-US" sz="1000" dirty="0"/>
              <a:t>ックアップ中に異なる断片を保存する。 各ノードによって保存されたファイルは、レコードが属するテーブルを</a:t>
            </a:r>
            <a:r>
              <a:rPr lang="ja-JP" altLang="en-US" sz="1000" dirty="0" smtClean="0"/>
              <a:t>示</a:t>
            </a:r>
            <a:r>
              <a:rPr lang="en-US" altLang="ja-JP" sz="1000" dirty="0"/>
              <a:t>		</a:t>
            </a:r>
            <a:r>
              <a:rPr lang="ja-JP" altLang="en-US" sz="1000" dirty="0" smtClean="0"/>
              <a:t>す</a:t>
            </a:r>
            <a:r>
              <a:rPr lang="ja-JP" altLang="en-US" sz="1000" dirty="0"/>
              <a:t>ヘッダーで始まります。 レコードのリストに続いて、すべてのレコードのチェックサムを含むフッターがあります。</a:t>
            </a:r>
            <a:endParaRPr lang="en-US" altLang="ja-JP" sz="1000" i="1" dirty="0" smtClean="0"/>
          </a:p>
          <a:p>
            <a:pPr lvl="2"/>
            <a:r>
              <a:rPr lang="ja-JP" altLang="en-US" sz="1000" dirty="0"/>
              <a:t>トランザクションログ</a:t>
            </a:r>
            <a:r>
              <a:rPr lang="en-US" altLang="ja-JP" sz="1000" dirty="0" smtClean="0"/>
              <a:t>.</a:t>
            </a:r>
            <a:r>
              <a:rPr lang="en-US" altLang="ja-JP" sz="1000" dirty="0" smtClean="0"/>
              <a:t>	</a:t>
            </a:r>
            <a:r>
              <a:rPr lang="ja-JP" altLang="en-US" sz="1000" dirty="0"/>
              <a:t>データがどのようにいつデータベースに格納されたかを示す連続レコード</a:t>
            </a:r>
            <a:endParaRPr lang="en-US" altLang="ja-JP" sz="600" dirty="0"/>
          </a:p>
          <a:p>
            <a:pPr marL="358775" lvl="2" indent="0">
              <a:buNone/>
            </a:pPr>
            <a:r>
              <a:rPr lang="en-US" altLang="ja-JP" sz="1000" dirty="0"/>
              <a:t>		</a:t>
            </a:r>
            <a:r>
              <a:rPr lang="en-US" altLang="ja-JP" sz="1000" i="1" dirty="0" smtClean="0"/>
              <a:t>BACKUP-backup_id.node_id.log*</a:t>
            </a:r>
            <a:endParaRPr lang="en-US" altLang="ja-JP" sz="1000" dirty="0" smtClean="0"/>
          </a:p>
          <a:p>
            <a:pPr marL="358775" lvl="2" indent="0">
              <a:buNone/>
            </a:pPr>
            <a:r>
              <a:rPr lang="en-US" altLang="ja-JP" sz="1000" b="1" dirty="0"/>
              <a:t>		</a:t>
            </a:r>
            <a:r>
              <a:rPr lang="ja-JP" altLang="en-US" sz="1000" dirty="0"/>
              <a:t>コミットされたトランザクションのレコードを含むログファイル。 バックアップに格納されたテーブル</a:t>
            </a:r>
            <a:r>
              <a:rPr lang="ja-JP" altLang="en-US" sz="1000" dirty="0" smtClean="0"/>
              <a:t>の</a:t>
            </a:r>
            <a:endParaRPr lang="en-US" altLang="ja-JP" sz="1000" dirty="0" smtClean="0"/>
          </a:p>
          <a:p>
            <a:pPr marL="358775" lvl="2" indent="0">
              <a:buNone/>
            </a:pPr>
            <a:r>
              <a:rPr lang="en-US" altLang="ja-JP" sz="1000" b="1" dirty="0"/>
              <a:t>		</a:t>
            </a:r>
            <a:r>
              <a:rPr lang="ja-JP" altLang="en-US" sz="1000" dirty="0" smtClean="0"/>
              <a:t>ト</a:t>
            </a:r>
            <a:r>
              <a:rPr lang="ja-JP" altLang="en-US" sz="1000" dirty="0"/>
              <a:t>ランザクションのみがログに格納されます。 異なるノードが異なるデータベースの断片をホストするため</a:t>
            </a:r>
            <a:r>
              <a:rPr lang="ja-JP" altLang="en-US" sz="1000" dirty="0" smtClean="0"/>
              <a:t>、</a:t>
            </a:r>
            <a:endParaRPr lang="en-US" altLang="ja-JP" sz="1000" dirty="0" smtClean="0"/>
          </a:p>
          <a:p>
            <a:pPr marL="358775" lvl="2" indent="0">
              <a:buNone/>
            </a:pPr>
            <a:r>
              <a:rPr lang="en-US" altLang="ja-JP" sz="1000" b="1" dirty="0"/>
              <a:t>		</a:t>
            </a:r>
            <a:r>
              <a:rPr lang="ja-JP" altLang="en-US" sz="1000" dirty="0" smtClean="0"/>
              <a:t>バ</a:t>
            </a:r>
            <a:r>
              <a:rPr lang="ja-JP" altLang="en-US" sz="1000" dirty="0"/>
              <a:t>ックアップに関与するノードは異なるレコードを保存します。</a:t>
            </a:r>
            <a:endParaRPr lang="en-US" altLang="ja-JP" sz="1600" dirty="0" smtClean="0"/>
          </a:p>
          <a:p>
            <a:pPr marL="457200" lvl="2" indent="0">
              <a:buNone/>
            </a:pPr>
            <a:r>
              <a:rPr lang="en-US" altLang="ja-JP" sz="800" i="1" dirty="0"/>
              <a:t>*</a:t>
            </a:r>
            <a:r>
              <a:rPr lang="en-US" altLang="ja-JP" sz="800" i="1" dirty="0" err="1"/>
              <a:t>backup_id</a:t>
            </a:r>
            <a:r>
              <a:rPr lang="en-US" altLang="ja-JP" sz="800" i="1" dirty="0"/>
              <a:t> </a:t>
            </a:r>
            <a:r>
              <a:rPr lang="ja-JP" altLang="en-US" sz="800" i="1" dirty="0"/>
              <a:t>と</a:t>
            </a:r>
            <a:r>
              <a:rPr lang="ja-JP" altLang="en-US" sz="800" i="1" dirty="0" smtClean="0"/>
              <a:t>はバックアップの</a:t>
            </a:r>
            <a:r>
              <a:rPr lang="ja-JP" altLang="en-US" sz="800" dirty="0"/>
              <a:t>識別子</a:t>
            </a:r>
            <a:endParaRPr lang="en-US" altLang="ja-JP" sz="800" i="1" dirty="0" smtClean="0"/>
          </a:p>
          <a:p>
            <a:pPr marL="457200" lvl="2" indent="0">
              <a:buNone/>
            </a:pPr>
            <a:r>
              <a:rPr lang="en-US" altLang="ja-JP" sz="800" i="1" dirty="0" smtClean="0"/>
              <a:t>*</a:t>
            </a:r>
            <a:r>
              <a:rPr lang="en-US" altLang="ja-JP" sz="800" i="1" dirty="0" err="1" smtClean="0"/>
              <a:t>node_id</a:t>
            </a:r>
            <a:r>
              <a:rPr lang="en-US" altLang="ja-JP" sz="800" i="1" dirty="0" smtClean="0"/>
              <a:t> </a:t>
            </a:r>
            <a:r>
              <a:rPr lang="ja-JP" altLang="en-US" sz="800" i="1" dirty="0" smtClean="0"/>
              <a:t>とはファイルを作成するノードの</a:t>
            </a:r>
            <a:r>
              <a:rPr lang="ja-JP" altLang="en-US" sz="800" dirty="0"/>
              <a:t>一意の識別</a:t>
            </a:r>
            <a:r>
              <a:rPr lang="ja-JP" altLang="en-US" sz="800" dirty="0" smtClean="0"/>
              <a:t>子</a:t>
            </a:r>
            <a:endParaRPr lang="en-US" altLang="ja-JP" sz="800" i="1" dirty="0" smtClean="0"/>
          </a:p>
          <a:p>
            <a:pPr marL="457200" lvl="2" indent="0">
              <a:buNone/>
            </a:pPr>
            <a:r>
              <a:rPr lang="en-US" altLang="ja-JP" sz="800" i="1" dirty="0" smtClean="0"/>
              <a:t>*</a:t>
            </a:r>
            <a:r>
              <a:rPr lang="ja-JP" altLang="en-US" sz="800" i="1" dirty="0" smtClean="0"/>
              <a:t>バックアップファイルはデータノードにある</a:t>
            </a:r>
            <a:endParaRPr lang="en-US" altLang="ja-JP" sz="800" i="1" dirty="0"/>
          </a:p>
        </p:txBody>
      </p:sp>
    </p:spTree>
    <p:extLst>
      <p:ext uri="{BB962C8B-B14F-4D97-AF65-F5344CB8AC3E}">
        <p14:creationId xmlns:p14="http://schemas.microsoft.com/office/powerpoint/2010/main" val="16960736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t>MySQL</a:t>
            </a:r>
            <a:r>
              <a:rPr lang="ja-JP" altLang="en-US" dirty="0"/>
              <a:t>クラスタ</a:t>
            </a:r>
            <a:r>
              <a:rPr lang="en-US" dirty="0"/>
              <a:t>:</a:t>
            </a:r>
            <a:r>
              <a:rPr lang="ja-JP" altLang="en-US" dirty="0"/>
              <a:t>バックアップ　</a:t>
            </a:r>
            <a:r>
              <a:rPr lang="ja-JP" altLang="en-US" dirty="0" smtClean="0"/>
              <a:t>（</a:t>
            </a:r>
            <a:r>
              <a:rPr lang="en-US" altLang="ja-JP" dirty="0"/>
              <a:t>2</a:t>
            </a:r>
            <a:r>
              <a:rPr lang="en-US" altLang="ja-JP" dirty="0" smtClean="0"/>
              <a:t>/6)</a:t>
            </a:r>
            <a:endParaRPr kumimoji="1" lang="ja-JP" altLang="en-US" dirty="0"/>
          </a:p>
        </p:txBody>
      </p:sp>
      <p:sp>
        <p:nvSpPr>
          <p:cNvPr id="3" name="コンテンツ プレースホルダー 2"/>
          <p:cNvSpPr>
            <a:spLocks noGrp="1"/>
          </p:cNvSpPr>
          <p:nvPr>
            <p:ph sz="quarter" idx="10"/>
          </p:nvPr>
        </p:nvSpPr>
        <p:spPr/>
        <p:txBody>
          <a:bodyPr>
            <a:normAutofit/>
          </a:bodyPr>
          <a:lstStyle/>
          <a:p>
            <a:pPr lvl="1"/>
            <a:r>
              <a:rPr lang="ja-JP" altLang="en-US" sz="1200" dirty="0"/>
              <a:t>バックアップファイルの場所は、</a:t>
            </a:r>
            <a:r>
              <a:rPr lang="en-US" altLang="ja-JP" sz="1200" i="1" dirty="0" err="1"/>
              <a:t>BackupDataDir</a:t>
            </a:r>
            <a:r>
              <a:rPr lang="ja-JP" altLang="en-US" sz="1200" dirty="0"/>
              <a:t>パラメーターによって決まります。 </a:t>
            </a:r>
            <a:r>
              <a:rPr lang="en-US" altLang="ja-JP" sz="1200" dirty="0"/>
              <a:t>parameter</a:t>
            </a:r>
            <a:r>
              <a:rPr lang="ja-JP" altLang="en-US" sz="1200" dirty="0"/>
              <a:t>が指定されていない場合、グローバル設定ファイル</a:t>
            </a:r>
            <a:r>
              <a:rPr lang="en-US" altLang="ja-JP" sz="1200" dirty="0"/>
              <a:t>config.ini</a:t>
            </a:r>
            <a:r>
              <a:rPr lang="ja-JP" altLang="en-US" sz="1200" dirty="0"/>
              <a:t>で指定された</a:t>
            </a:r>
            <a:r>
              <a:rPr lang="en-US" altLang="ja-JP" sz="1200" i="1" dirty="0" err="1"/>
              <a:t>FileSystemPath</a:t>
            </a:r>
            <a:r>
              <a:rPr lang="ja-JP" altLang="en-US" sz="1200" dirty="0"/>
              <a:t>（デフォルト値は</a:t>
            </a:r>
            <a:r>
              <a:rPr lang="en-US" altLang="ja-JP" sz="1200" i="1" dirty="0" err="1"/>
              <a:t>DataDir</a:t>
            </a:r>
            <a:r>
              <a:rPr lang="ja-JP" altLang="en-US" sz="1200" dirty="0"/>
              <a:t>パラメータ）ディレクトリ内に</a:t>
            </a:r>
            <a:r>
              <a:rPr lang="en-US" altLang="ja-JP" sz="1200" i="1" dirty="0"/>
              <a:t>BACKUP</a:t>
            </a:r>
            <a:r>
              <a:rPr lang="ja-JP" altLang="en-US" sz="1200" dirty="0"/>
              <a:t>という名前のディレクトリが作成されます。</a:t>
            </a:r>
            <a:endParaRPr lang="en-US" altLang="ja-JP" sz="1200" dirty="0" smtClean="0"/>
          </a:p>
          <a:p>
            <a:pPr lvl="1"/>
            <a:endParaRPr kumimoji="1" lang="en-US" altLang="ja-JP" sz="1200" dirty="0"/>
          </a:p>
          <a:p>
            <a:r>
              <a:rPr lang="en-US" altLang="ja-JP" sz="1600" dirty="0"/>
              <a:t>NDB</a:t>
            </a:r>
            <a:r>
              <a:rPr lang="ja-JP" altLang="en-US" sz="1600" dirty="0"/>
              <a:t>クラスタバックアップの設</a:t>
            </a:r>
            <a:r>
              <a:rPr lang="ja-JP" altLang="en-US" sz="1600" dirty="0" smtClean="0"/>
              <a:t>定</a:t>
            </a:r>
            <a:endParaRPr lang="en-US" altLang="ja-JP" sz="1600" dirty="0" smtClean="0"/>
          </a:p>
          <a:p>
            <a:pPr lvl="1"/>
            <a:r>
              <a:rPr lang="ja-JP" altLang="en-US" sz="1200" dirty="0"/>
              <a:t>バックアップに</a:t>
            </a:r>
            <a:r>
              <a:rPr lang="ja-JP" altLang="en-US" sz="1200" dirty="0" smtClean="0"/>
              <a:t>は下記に</a:t>
            </a:r>
            <a:r>
              <a:rPr lang="en-US" altLang="ja-JP" sz="1200" dirty="0" smtClean="0"/>
              <a:t>5</a:t>
            </a:r>
            <a:r>
              <a:rPr lang="ja-JP" altLang="en-US" sz="1200" dirty="0"/>
              <a:t>つの設定パラメータが不可</a:t>
            </a:r>
            <a:r>
              <a:rPr lang="ja-JP" altLang="en-US" sz="1200" dirty="0" smtClean="0"/>
              <a:t>欠：</a:t>
            </a:r>
            <a:endParaRPr lang="en-US" altLang="ja-JP" sz="1200" dirty="0" smtClean="0"/>
          </a:p>
          <a:p>
            <a:pPr lvl="2"/>
            <a:r>
              <a:rPr lang="en-US" altLang="ja-JP" sz="1200" dirty="0" err="1" smtClean="0"/>
              <a:t>BackupDataBufferSize</a:t>
            </a:r>
            <a:endParaRPr lang="en-US" altLang="ja-JP" sz="1200" dirty="0" smtClean="0"/>
          </a:p>
          <a:p>
            <a:pPr marL="180000" lvl="1" indent="0">
              <a:buNone/>
            </a:pPr>
            <a:r>
              <a:rPr lang="en-US" altLang="ja-JP" sz="1200" dirty="0" smtClean="0"/>
              <a:t>	</a:t>
            </a:r>
            <a:r>
              <a:rPr lang="ja-JP" altLang="en-US" sz="1200" dirty="0"/>
              <a:t>ディスクに書き込まれる前にデータをバッファするために使用されるメモリの量。</a:t>
            </a:r>
            <a:endParaRPr lang="en-US" altLang="ja-JP" sz="1200" dirty="0"/>
          </a:p>
          <a:p>
            <a:pPr lvl="2"/>
            <a:r>
              <a:rPr lang="en-US" altLang="ja-JP" sz="1200" dirty="0" err="1" smtClean="0"/>
              <a:t>BackupLogBufferSize</a:t>
            </a:r>
            <a:endParaRPr lang="en-US" altLang="ja-JP" sz="1200" dirty="0"/>
          </a:p>
          <a:p>
            <a:pPr marL="180000" lvl="1" indent="0">
              <a:buNone/>
            </a:pPr>
            <a:r>
              <a:rPr lang="en-US" altLang="ja-JP" sz="1200" dirty="0" smtClean="0"/>
              <a:t>	</a:t>
            </a:r>
            <a:r>
              <a:rPr lang="ja-JP" altLang="en-US" sz="1200" dirty="0"/>
              <a:t>ディスクに書き込まれる前にデータをバファするために使用されるメモリの量。</a:t>
            </a:r>
            <a:endParaRPr lang="en-US" altLang="ja-JP" sz="1200" dirty="0"/>
          </a:p>
          <a:p>
            <a:pPr lvl="2"/>
            <a:r>
              <a:rPr lang="en-US" altLang="ja-JP" sz="1200" dirty="0" err="1" smtClean="0"/>
              <a:t>BackupMemory</a:t>
            </a:r>
            <a:endParaRPr lang="en-US" altLang="ja-JP" sz="1200" dirty="0" smtClean="0"/>
          </a:p>
          <a:p>
            <a:pPr marL="914400" lvl="1" indent="-735013">
              <a:buNone/>
            </a:pPr>
            <a:r>
              <a:rPr lang="en-US" altLang="ja-JP" sz="1200" dirty="0" smtClean="0"/>
              <a:t>	</a:t>
            </a:r>
            <a:r>
              <a:rPr lang="ja-JP" altLang="en-US" sz="1200" dirty="0"/>
              <a:t>バックアップのためにデータノードに割り当てられた合計メモリ。 これは、バックアップデータバッファに割り当てられたメモリとバックアップログバッファに割り当てられたメモリの合計である必要があります</a:t>
            </a:r>
            <a:r>
              <a:rPr lang="ja-JP" altLang="en-US" sz="1200" dirty="0" smtClean="0"/>
              <a:t>。</a:t>
            </a:r>
            <a:endParaRPr lang="en-US" altLang="ja-JP" sz="1200" dirty="0" smtClean="0"/>
          </a:p>
          <a:p>
            <a:pPr lvl="2"/>
            <a:r>
              <a:rPr lang="en-US" altLang="ja-JP" sz="1200" dirty="0" err="1" smtClean="0"/>
              <a:t>BackupWriteSize</a:t>
            </a:r>
            <a:endParaRPr lang="en-US" altLang="ja-JP" sz="1200" dirty="0" smtClean="0"/>
          </a:p>
          <a:p>
            <a:pPr marL="914400" lvl="1" indent="-735013">
              <a:buNone/>
            </a:pPr>
            <a:r>
              <a:rPr lang="en-US" altLang="ja-JP" sz="1200" dirty="0" smtClean="0"/>
              <a:t>	</a:t>
            </a:r>
            <a:r>
              <a:rPr lang="ja-JP" altLang="en-US" sz="1200" dirty="0"/>
              <a:t>ディスクに書き込まれるブロックのデフォルトサイズ。 これは、バックアップデータバッファとバックアップログバッファの両方に適用されます</a:t>
            </a:r>
            <a:r>
              <a:rPr lang="ja-JP" altLang="en-US" sz="1200" dirty="0" smtClean="0"/>
              <a:t>。</a:t>
            </a:r>
            <a:endParaRPr lang="en-US" altLang="ja-JP" sz="1200" dirty="0" smtClean="0"/>
          </a:p>
          <a:p>
            <a:pPr lvl="2"/>
            <a:r>
              <a:rPr lang="en-US" altLang="ja-JP" sz="1200" dirty="0" err="1" smtClean="0"/>
              <a:t>BackupMaxWriteSize</a:t>
            </a:r>
            <a:endParaRPr lang="en-US" altLang="ja-JP" sz="1200" dirty="0" smtClean="0"/>
          </a:p>
          <a:p>
            <a:pPr marL="914400" lvl="1" indent="-735013">
              <a:buNone/>
            </a:pPr>
            <a:r>
              <a:rPr lang="en-US" altLang="ja-JP" sz="1200" dirty="0" smtClean="0"/>
              <a:t>	</a:t>
            </a:r>
            <a:r>
              <a:rPr lang="ja-JP" altLang="en-US" sz="1200" dirty="0"/>
              <a:t>ディスクに書き込まれるブロックの最大サイズ。 これは、バックアップデータバッファとバックアップログバッファの両方に適用されます。</a:t>
            </a:r>
            <a:endParaRPr lang="en-US" altLang="ja-JP" sz="1200" dirty="0"/>
          </a:p>
          <a:p>
            <a:pPr marL="734400" indent="-735013">
              <a:buNone/>
            </a:pPr>
            <a:endParaRPr lang="en-US" altLang="ja-JP" dirty="0"/>
          </a:p>
          <a:p>
            <a:pPr marL="914400" lvl="1" indent="-735013">
              <a:buNone/>
            </a:pPr>
            <a:endParaRPr lang="en-US" altLang="ja-JP" sz="1200" dirty="0"/>
          </a:p>
          <a:p>
            <a:pPr marL="734400" indent="-735013">
              <a:buNone/>
            </a:pPr>
            <a:endParaRPr lang="en-US" altLang="ja-JP" dirty="0"/>
          </a:p>
        </p:txBody>
      </p:sp>
    </p:spTree>
    <p:extLst>
      <p:ext uri="{BB962C8B-B14F-4D97-AF65-F5344CB8AC3E}">
        <p14:creationId xmlns:p14="http://schemas.microsoft.com/office/powerpoint/2010/main" val="2732384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バックアップ　</a:t>
            </a:r>
            <a:r>
              <a:rPr lang="ja-JP" altLang="en-US" dirty="0" smtClean="0"/>
              <a:t>（</a:t>
            </a:r>
            <a:r>
              <a:rPr lang="en-US" altLang="ja-JP" dirty="0"/>
              <a:t>3</a:t>
            </a:r>
            <a:r>
              <a:rPr lang="en-US" altLang="ja-JP" dirty="0" smtClean="0"/>
              <a:t>/6)</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dirty="0"/>
              <a:t>NDB</a:t>
            </a:r>
            <a:r>
              <a:rPr lang="ja-JP" altLang="en-US" sz="1600" dirty="0"/>
              <a:t>クラスタ管理クライアントを使用したバックアップの作成</a:t>
            </a:r>
            <a:endParaRPr kumimoji="1" lang="en-US" altLang="ja-JP" sz="1600" dirty="0"/>
          </a:p>
          <a:p>
            <a:pPr lvl="1"/>
            <a:r>
              <a:rPr lang="en-US" altLang="ja-JP" sz="1200" dirty="0"/>
              <a:t>START BACKUP</a:t>
            </a:r>
            <a:r>
              <a:rPr lang="ja-JP" altLang="en-US" sz="1200" dirty="0"/>
              <a:t>コマンドを使用してバックアップを作成します。</a:t>
            </a:r>
            <a:endParaRPr kumimoji="1" lang="en-US" altLang="ja-JP" sz="1200" dirty="0" smtClean="0"/>
          </a:p>
          <a:p>
            <a:pPr lvl="1"/>
            <a:endParaRPr lang="en-US" altLang="ja-JP" sz="1200" dirty="0"/>
          </a:p>
          <a:p>
            <a:pPr lvl="1"/>
            <a:endParaRPr kumimoji="1" lang="en-US" altLang="ja-JP" sz="1200" dirty="0" smtClean="0"/>
          </a:p>
          <a:p>
            <a:pPr lvl="1"/>
            <a:endParaRPr lang="en-US" altLang="ja-JP" sz="1200" dirty="0"/>
          </a:p>
          <a:p>
            <a:pPr marL="180000" lvl="1" indent="0">
              <a:buNone/>
            </a:pPr>
            <a:endParaRPr kumimoji="1" lang="en-US" altLang="ja-JP" sz="1200" dirty="0" smtClean="0"/>
          </a:p>
          <a:p>
            <a:pPr marL="180000" lvl="1" indent="0">
              <a:buNone/>
            </a:pPr>
            <a:endParaRPr kumimoji="1" lang="en-US" altLang="ja-JP" sz="1200" dirty="0" smtClean="0"/>
          </a:p>
          <a:p>
            <a:pPr lvl="1"/>
            <a:r>
              <a:rPr lang="en-US" altLang="ja-JP" sz="1200" dirty="0" err="1" smtClean="0"/>
              <a:t>backup_id</a:t>
            </a:r>
            <a:endParaRPr lang="en-US" altLang="ja-JP" sz="1200" dirty="0" smtClean="0"/>
          </a:p>
          <a:p>
            <a:pPr lvl="2"/>
            <a:r>
              <a:rPr lang="ja-JP" altLang="en-US" sz="1000" dirty="0"/>
              <a:t>連続するバックアップは自動的に順番に識別されるため、</a:t>
            </a:r>
            <a:r>
              <a:rPr lang="en-US" altLang="ja-JP" sz="1000" dirty="0"/>
              <a:t>1</a:t>
            </a:r>
            <a:r>
              <a:rPr lang="ja-JP" altLang="en-US" sz="1000" dirty="0"/>
              <a:t>以上の整数の</a:t>
            </a:r>
            <a:r>
              <a:rPr lang="en-US" altLang="ja-JP" sz="1000" dirty="0" err="1"/>
              <a:t>backup_id</a:t>
            </a:r>
            <a:r>
              <a:rPr lang="ja-JP" altLang="en-US" sz="1000" dirty="0"/>
              <a:t>はオプションです。 省略された場合は、次に使用可能な値が使用されます。 既存の</a:t>
            </a:r>
            <a:r>
              <a:rPr lang="en-US" altLang="ja-JP" sz="1000" dirty="0" err="1"/>
              <a:t>backup_id</a:t>
            </a:r>
            <a:r>
              <a:rPr lang="ja-JP" altLang="en-US" sz="1000" dirty="0"/>
              <a:t>値が使用されている場合、バックアップは失敗しました。バックアップに失敗しました：ファイルは既に存在します。 使用する場合は、他のオプションを使用する前に、</a:t>
            </a:r>
            <a:r>
              <a:rPr lang="en-US" altLang="ja-JP" sz="1000" dirty="0" err="1"/>
              <a:t>backup_id</a:t>
            </a:r>
            <a:r>
              <a:rPr lang="ja-JP" altLang="en-US" sz="1000" dirty="0"/>
              <a:t>を</a:t>
            </a:r>
            <a:r>
              <a:rPr lang="en-US" altLang="ja-JP" sz="1000" dirty="0"/>
              <a:t>START BACKUP</a:t>
            </a:r>
            <a:r>
              <a:rPr lang="ja-JP" altLang="en-US" sz="1000" dirty="0"/>
              <a:t>の直後に置く必要があります</a:t>
            </a:r>
            <a:r>
              <a:rPr lang="ja-JP" altLang="en-US" sz="1000" dirty="0" smtClean="0"/>
              <a:t>。</a:t>
            </a:r>
            <a:endParaRPr lang="en-US" altLang="ja-JP" sz="1000" dirty="0" smtClean="0"/>
          </a:p>
          <a:p>
            <a:pPr lvl="1"/>
            <a:r>
              <a:rPr kumimoji="1" lang="en-US" altLang="ja-JP" sz="1200" dirty="0" err="1" smtClean="0"/>
              <a:t>wait_option</a:t>
            </a:r>
            <a:endParaRPr kumimoji="1" lang="en-US" altLang="ja-JP" sz="1200" dirty="0" smtClean="0"/>
          </a:p>
          <a:p>
            <a:pPr lvl="2"/>
            <a:r>
              <a:rPr lang="en-US" altLang="ja-JP" sz="1000" dirty="0" err="1"/>
              <a:t>wait_option</a:t>
            </a:r>
            <a:r>
              <a:rPr lang="ja-JP" altLang="en-US" sz="1000" dirty="0"/>
              <a:t>は、次のリストに示すように、</a:t>
            </a:r>
            <a:r>
              <a:rPr lang="en-US" altLang="ja-JP" sz="1000" dirty="0"/>
              <a:t>START BACKUP</a:t>
            </a:r>
            <a:r>
              <a:rPr lang="ja-JP" altLang="en-US" sz="1000" dirty="0"/>
              <a:t>コマンドが発行された後に制御が管理クライアントに返されるタイミングを決定するために使用できます。</a:t>
            </a:r>
            <a:endParaRPr lang="en-US" altLang="ja-JP" sz="1000" dirty="0" smtClean="0"/>
          </a:p>
          <a:p>
            <a:pPr lvl="2"/>
            <a:r>
              <a:rPr lang="en-US" altLang="ja-JP" sz="1000" dirty="0"/>
              <a:t>NOWAIT</a:t>
            </a:r>
            <a:r>
              <a:rPr lang="ja-JP" altLang="en-US" sz="1000" dirty="0"/>
              <a:t>が指定されている場合、管理クライアントは以下のようにすぐにプロンプトを表示します。 この場合、バックアッププロセスか</a:t>
            </a:r>
            <a:r>
              <a:rPr lang="ja-JP" altLang="en-US" sz="1000" dirty="0" smtClean="0"/>
              <a:t>ら進</a:t>
            </a:r>
            <a:r>
              <a:rPr lang="ja-JP" altLang="en-US" sz="1000" dirty="0"/>
              <a:t>捗情報を出力している間でも、管理クライアントを使用することができます</a:t>
            </a:r>
            <a:r>
              <a:rPr lang="ja-JP" altLang="en-US" sz="1000" dirty="0" smtClean="0"/>
              <a:t>。</a:t>
            </a:r>
            <a:endParaRPr lang="en-US" altLang="ja-JP" sz="1000" dirty="0" smtClean="0"/>
          </a:p>
          <a:p>
            <a:pPr lvl="2"/>
            <a:endParaRPr lang="en-US" altLang="ja-JP" sz="1000" dirty="0" smtClean="0"/>
          </a:p>
          <a:p>
            <a:pPr lvl="2"/>
            <a:endParaRPr lang="en-US" altLang="ja-JP" sz="1000" dirty="0" smtClean="0"/>
          </a:p>
          <a:p>
            <a:pPr lvl="2"/>
            <a:endParaRPr lang="en-US" altLang="ja-JP" sz="1000" dirty="0"/>
          </a:p>
          <a:p>
            <a:pPr lvl="2"/>
            <a:r>
              <a:rPr lang="en-US" altLang="ja-JP" sz="1000" dirty="0"/>
              <a:t>WAIT STARTED</a:t>
            </a:r>
            <a:r>
              <a:rPr lang="ja-JP" altLang="en-US" sz="1000" dirty="0"/>
              <a:t>を指定すると、管理クライアントはバックアップが開始されるまで待機してから、次のようにユーザーに制御を戻しま</a:t>
            </a:r>
            <a:r>
              <a:rPr lang="ja-JP" altLang="en-US" sz="1000" dirty="0" smtClean="0"/>
              <a:t>す：</a:t>
            </a:r>
            <a:endParaRPr lang="en-US" altLang="ja-JP" sz="1000" dirty="0" smtClean="0"/>
          </a:p>
        </p:txBody>
      </p:sp>
      <p:sp>
        <p:nvSpPr>
          <p:cNvPr id="4" name="Rectangle 3"/>
          <p:cNvSpPr/>
          <p:nvPr/>
        </p:nvSpPr>
        <p:spPr bwMode="auto">
          <a:xfrm>
            <a:off x="1026160" y="1421638"/>
            <a:ext cx="7091680" cy="1159002"/>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smtClean="0">
                <a:latin typeface="Calibri" panose="020F0502020204030204" pitchFamily="34" charset="0"/>
                <a:ea typeface="+mj-ea"/>
              </a:rPr>
              <a:t>START </a:t>
            </a:r>
            <a:r>
              <a:rPr lang="en-US" sz="1000" b="1" dirty="0">
                <a:latin typeface="Calibri" panose="020F0502020204030204" pitchFamily="34" charset="0"/>
                <a:ea typeface="+mj-ea"/>
              </a:rPr>
              <a:t>BACKUP [</a:t>
            </a:r>
            <a:r>
              <a:rPr lang="en-US" sz="1000" b="1" dirty="0" err="1">
                <a:latin typeface="Calibri" panose="020F0502020204030204" pitchFamily="34" charset="0"/>
                <a:ea typeface="+mj-ea"/>
              </a:rPr>
              <a:t>backup_id</a:t>
            </a:r>
            <a:r>
              <a:rPr lang="en-US" sz="1000" b="1" dirty="0">
                <a:latin typeface="Calibri" panose="020F0502020204030204" pitchFamily="34" charset="0"/>
                <a:ea typeface="+mj-ea"/>
              </a:rPr>
              <a:t>] [</a:t>
            </a:r>
            <a:r>
              <a:rPr lang="en-US" sz="1000" b="1" dirty="0" err="1">
                <a:latin typeface="Calibri" panose="020F0502020204030204" pitchFamily="34" charset="0"/>
                <a:ea typeface="+mj-ea"/>
              </a:rPr>
              <a:t>wait_option</a:t>
            </a:r>
            <a:r>
              <a:rPr lang="en-US" sz="1000" b="1" dirty="0">
                <a:latin typeface="Calibri" panose="020F0502020204030204" pitchFamily="34" charset="0"/>
                <a:ea typeface="+mj-ea"/>
              </a:rPr>
              <a:t>] [</a:t>
            </a:r>
            <a:r>
              <a:rPr lang="en-US" sz="1000" b="1" dirty="0" err="1">
                <a:latin typeface="Calibri" panose="020F0502020204030204" pitchFamily="34" charset="0"/>
                <a:ea typeface="+mj-ea"/>
              </a:rPr>
              <a:t>snapshot_option</a:t>
            </a:r>
            <a:r>
              <a:rPr lang="en-US" sz="1000" b="1" dirty="0">
                <a:latin typeface="Calibri" panose="020F0502020204030204" pitchFamily="34" charset="0"/>
                <a:ea typeface="+mj-ea"/>
              </a:rPr>
              <a:t>]</a:t>
            </a:r>
          </a:p>
          <a:p>
            <a:endParaRPr lang="en-US" sz="1000" b="1" dirty="0" smtClean="0">
              <a:latin typeface="Calibri" panose="020F0502020204030204" pitchFamily="34" charset="0"/>
              <a:ea typeface="+mj-ea"/>
            </a:endParaRPr>
          </a:p>
          <a:p>
            <a:r>
              <a:rPr lang="en-US" sz="1000" b="1" dirty="0" err="1" smtClean="0">
                <a:latin typeface="Calibri" panose="020F0502020204030204" pitchFamily="34" charset="0"/>
                <a:ea typeface="+mj-ea"/>
              </a:rPr>
              <a:t>wait_option</a:t>
            </a:r>
            <a:r>
              <a:rPr lang="en-US" sz="1000" b="1" dirty="0">
                <a:latin typeface="Calibri" panose="020F0502020204030204" pitchFamily="34" charset="0"/>
                <a:ea typeface="+mj-ea"/>
              </a:rPr>
              <a:t>:</a:t>
            </a:r>
          </a:p>
          <a:p>
            <a:r>
              <a:rPr lang="en-US" sz="1000" b="1" dirty="0">
                <a:latin typeface="Calibri" panose="020F0502020204030204" pitchFamily="34" charset="0"/>
                <a:ea typeface="+mj-ea"/>
              </a:rPr>
              <a:t>WAIT {STARTED | COMPLETED} | NOWAIT</a:t>
            </a:r>
          </a:p>
          <a:p>
            <a:endParaRPr lang="en-US" sz="1000" b="1" dirty="0" smtClean="0">
              <a:latin typeface="Calibri" panose="020F0502020204030204" pitchFamily="34" charset="0"/>
              <a:ea typeface="+mj-ea"/>
            </a:endParaRPr>
          </a:p>
          <a:p>
            <a:r>
              <a:rPr lang="en-US" sz="1000" b="1" dirty="0" err="1" smtClean="0">
                <a:latin typeface="Calibri" panose="020F0502020204030204" pitchFamily="34" charset="0"/>
                <a:ea typeface="+mj-ea"/>
              </a:rPr>
              <a:t>snapshot_option</a:t>
            </a:r>
            <a:r>
              <a:rPr lang="en-US" sz="1000" b="1" dirty="0">
                <a:latin typeface="Calibri" panose="020F0502020204030204" pitchFamily="34" charset="0"/>
                <a:ea typeface="+mj-ea"/>
              </a:rPr>
              <a:t>:</a:t>
            </a:r>
          </a:p>
          <a:p>
            <a:r>
              <a:rPr lang="en-US" sz="1000" b="1" dirty="0">
                <a:latin typeface="Calibri" panose="020F0502020204030204" pitchFamily="34" charset="0"/>
                <a:ea typeface="+mj-ea"/>
              </a:rPr>
              <a:t>SNAPSHOTSTART | SNAPSHOTEND</a:t>
            </a:r>
            <a:endParaRPr kumimoji="1" lang="en-US" sz="1000" b="1" dirty="0">
              <a:latin typeface="Calibri" panose="020F0502020204030204" pitchFamily="34" charset="0"/>
              <a:ea typeface="+mj-ea"/>
            </a:endParaRPr>
          </a:p>
        </p:txBody>
      </p:sp>
      <p:sp>
        <p:nvSpPr>
          <p:cNvPr id="5" name="Rectangle 4"/>
          <p:cNvSpPr/>
          <p:nvPr/>
        </p:nvSpPr>
        <p:spPr bwMode="auto">
          <a:xfrm>
            <a:off x="1026160" y="4416044"/>
            <a:ext cx="7091680" cy="457962"/>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 START BACKUP NOWAIT</a:t>
            </a:r>
          </a:p>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a:t>
            </a:r>
            <a:endParaRPr kumimoji="1" lang="en-US" sz="1000" b="1" dirty="0">
              <a:latin typeface="Calibri" panose="020F0502020204030204" pitchFamily="34" charset="0"/>
              <a:ea typeface="+mj-ea"/>
            </a:endParaRPr>
          </a:p>
        </p:txBody>
      </p:sp>
      <p:sp>
        <p:nvSpPr>
          <p:cNvPr id="6" name="Rectangle 5"/>
          <p:cNvSpPr/>
          <p:nvPr/>
        </p:nvSpPr>
        <p:spPr bwMode="auto">
          <a:xfrm>
            <a:off x="1026160" y="5392958"/>
            <a:ext cx="7091680" cy="690850"/>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 START BACKUP WAIT STARTED</a:t>
            </a:r>
          </a:p>
          <a:p>
            <a:r>
              <a:rPr lang="en-US" sz="1000" b="1" dirty="0">
                <a:latin typeface="Calibri" panose="020F0502020204030204" pitchFamily="34" charset="0"/>
                <a:ea typeface="+mj-ea"/>
              </a:rPr>
              <a:t>Waiting for started, this may take several minutes</a:t>
            </a:r>
          </a:p>
          <a:p>
            <a:r>
              <a:rPr lang="en-US" sz="1000" b="1" dirty="0">
                <a:latin typeface="Calibri" panose="020F0502020204030204" pitchFamily="34" charset="0"/>
                <a:ea typeface="+mj-ea"/>
              </a:rPr>
              <a:t>Node 2: Backup 3 started from node 1</a:t>
            </a:r>
          </a:p>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a:t>
            </a:r>
            <a:endParaRPr kumimoji="1" lang="en-US" sz="1000" b="1" dirty="0">
              <a:latin typeface="Calibri" panose="020F0502020204030204" pitchFamily="34" charset="0"/>
              <a:ea typeface="+mj-ea"/>
            </a:endParaRPr>
          </a:p>
        </p:txBody>
      </p:sp>
    </p:spTree>
    <p:extLst>
      <p:ext uri="{BB962C8B-B14F-4D97-AF65-F5344CB8AC3E}">
        <p14:creationId xmlns:p14="http://schemas.microsoft.com/office/powerpoint/2010/main" val="2732384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バックアップ　</a:t>
            </a:r>
            <a:r>
              <a:rPr lang="ja-JP" altLang="en-US" dirty="0" smtClean="0"/>
              <a:t>（</a:t>
            </a:r>
            <a:r>
              <a:rPr lang="en-US" altLang="ja-JP" dirty="0" smtClean="0"/>
              <a:t>4/6)</a:t>
            </a:r>
            <a:endParaRPr kumimoji="1" lang="ja-JP" altLang="en-US" dirty="0"/>
          </a:p>
        </p:txBody>
      </p:sp>
      <p:sp>
        <p:nvSpPr>
          <p:cNvPr id="3" name="コンテンツ プレースホルダー 2"/>
          <p:cNvSpPr>
            <a:spLocks noGrp="1"/>
          </p:cNvSpPr>
          <p:nvPr>
            <p:ph sz="quarter" idx="10"/>
          </p:nvPr>
        </p:nvSpPr>
        <p:spPr/>
        <p:txBody>
          <a:bodyPr>
            <a:normAutofit/>
          </a:bodyPr>
          <a:lstStyle/>
          <a:p>
            <a:pPr lvl="2"/>
            <a:r>
              <a:rPr lang="en-US" altLang="ja-JP" sz="1000" dirty="0"/>
              <a:t>WAIT COMPLETED</a:t>
            </a:r>
            <a:r>
              <a:rPr lang="ja-JP" altLang="en-US" sz="1000" dirty="0"/>
              <a:t>は、バックアッププロセスが完了するまで管理クライアントを待機させてから、制御をユーザーに戻します。</a:t>
            </a:r>
            <a:endParaRPr kumimoji="1" lang="en-US" altLang="ja-JP" sz="1000" dirty="0"/>
          </a:p>
          <a:p>
            <a:pPr lvl="2"/>
            <a:endParaRPr lang="en-US" altLang="ja-JP" sz="1000" dirty="0" smtClean="0"/>
          </a:p>
          <a:p>
            <a:pPr lvl="2"/>
            <a:endParaRPr kumimoji="1" lang="en-US" altLang="ja-JP" sz="1000" dirty="0"/>
          </a:p>
          <a:p>
            <a:pPr lvl="2"/>
            <a:endParaRPr lang="en-US" altLang="ja-JP" sz="1000" dirty="0" smtClean="0"/>
          </a:p>
          <a:p>
            <a:pPr lvl="2"/>
            <a:endParaRPr kumimoji="1" lang="en-US" altLang="ja-JP" sz="1000" dirty="0"/>
          </a:p>
          <a:p>
            <a:pPr lvl="2"/>
            <a:endParaRPr lang="en-US" altLang="ja-JP" sz="1000" dirty="0" smtClean="0"/>
          </a:p>
          <a:p>
            <a:pPr lvl="2"/>
            <a:endParaRPr kumimoji="1" lang="en-US" altLang="ja-JP" sz="1000" dirty="0" smtClean="0"/>
          </a:p>
          <a:p>
            <a:pPr lvl="1"/>
            <a:endParaRPr lang="en-US" altLang="ja-JP" sz="1000" dirty="0"/>
          </a:p>
          <a:p>
            <a:pPr lvl="1"/>
            <a:r>
              <a:rPr lang="en-US" altLang="ja-JP" sz="1200" dirty="0" err="1"/>
              <a:t>snapshot_option</a:t>
            </a:r>
            <a:r>
              <a:rPr lang="ja-JP" altLang="en-US" sz="1200" dirty="0"/>
              <a:t>を使用して、</a:t>
            </a:r>
            <a:r>
              <a:rPr lang="en-US" altLang="ja-JP" sz="1200" dirty="0"/>
              <a:t>START BACKUP</a:t>
            </a:r>
            <a:r>
              <a:rPr lang="ja-JP" altLang="en-US" sz="1200" dirty="0"/>
              <a:t>が発行されたとき、または完了したときにバックアップがクラスタの状態と一致するかどうかを判断できます</a:t>
            </a:r>
            <a:r>
              <a:rPr lang="ja-JP" altLang="en-US" sz="1200" dirty="0" smtClean="0"/>
              <a:t>。</a:t>
            </a:r>
            <a:endParaRPr lang="en-US" altLang="ja-JP" sz="1200" dirty="0" smtClean="0"/>
          </a:p>
          <a:p>
            <a:pPr lvl="2"/>
            <a:r>
              <a:rPr lang="en-US" altLang="ja-JP" sz="1000" dirty="0" smtClean="0"/>
              <a:t>SNAPSHOTSTART</a:t>
            </a:r>
            <a:r>
              <a:rPr lang="ja-JP" altLang="en-US" sz="1000" dirty="0" smtClean="0"/>
              <a:t>　</a:t>
            </a:r>
            <a:r>
              <a:rPr lang="ja-JP" altLang="en-US" sz="1000" dirty="0" smtClean="0"/>
              <a:t>バ</a:t>
            </a:r>
            <a:r>
              <a:rPr lang="ja-JP" altLang="en-US" sz="1000" dirty="0"/>
              <a:t>ックアップが開始されたときにバックアップがクラスタの状態と一致するようにします。</a:t>
            </a:r>
            <a:endParaRPr lang="en-US" altLang="ja-JP" sz="1000" dirty="0" smtClean="0"/>
          </a:p>
          <a:p>
            <a:pPr lvl="2"/>
            <a:r>
              <a:rPr lang="en-US" altLang="ja-JP" sz="1000" dirty="0" smtClean="0"/>
              <a:t>SNAPSHOTEND</a:t>
            </a:r>
            <a:r>
              <a:rPr lang="ja-JP" altLang="en-US" sz="1000" dirty="0" smtClean="0"/>
              <a:t>　</a:t>
            </a:r>
            <a:r>
              <a:rPr lang="ja-JP" altLang="en-US" sz="1000" dirty="0" smtClean="0"/>
              <a:t>バ</a:t>
            </a:r>
            <a:r>
              <a:rPr lang="ja-JP" altLang="en-US" sz="1000" dirty="0"/>
              <a:t>ックアップが完了したときに、バックアップにクラスタの状態が反映されます。</a:t>
            </a:r>
            <a:endParaRPr lang="en-US" altLang="ja-JP" sz="1000" dirty="0" smtClean="0"/>
          </a:p>
          <a:p>
            <a:pPr lvl="2"/>
            <a:r>
              <a:rPr lang="en-US" altLang="ja-JP" sz="1000" dirty="0" smtClean="0"/>
              <a:t>SNAPSHOTEND</a:t>
            </a:r>
            <a:r>
              <a:rPr lang="ja-JP" altLang="en-US" sz="1000" dirty="0" smtClean="0"/>
              <a:t>　</a:t>
            </a:r>
            <a:r>
              <a:rPr lang="ja-JP" altLang="en-US" sz="1000" dirty="0" smtClean="0"/>
              <a:t>以</a:t>
            </a:r>
            <a:r>
              <a:rPr lang="ja-JP" altLang="en-US" sz="1000" dirty="0"/>
              <a:t>前の</a:t>
            </a:r>
            <a:r>
              <a:rPr lang="en-US" altLang="ja-JP" sz="1000" dirty="0"/>
              <a:t>NDB Cluster</a:t>
            </a:r>
            <a:r>
              <a:rPr lang="ja-JP" altLang="en-US" sz="1000" dirty="0"/>
              <a:t>リリースの動作と一致します</a:t>
            </a:r>
            <a:r>
              <a:rPr lang="ja-JP" altLang="en-US" sz="1000" dirty="0" smtClean="0"/>
              <a:t>。</a:t>
            </a:r>
            <a:endParaRPr lang="en-US" altLang="ja-JP" sz="1000" dirty="0" smtClean="0"/>
          </a:p>
          <a:p>
            <a:pPr lvl="2"/>
            <a:endParaRPr lang="en-US" altLang="ja-JP" sz="1000" dirty="0" smtClean="0"/>
          </a:p>
          <a:p>
            <a:r>
              <a:rPr lang="ja-JP" altLang="en-US" sz="1600" dirty="0"/>
              <a:t>バックアップの取り消</a:t>
            </a:r>
            <a:r>
              <a:rPr lang="ja-JP" altLang="en-US" sz="1600" dirty="0" smtClean="0"/>
              <a:t>し</a:t>
            </a:r>
            <a:endParaRPr lang="en-US" altLang="ja-JP" sz="1600" dirty="0" smtClean="0"/>
          </a:p>
          <a:p>
            <a:pPr lvl="1"/>
            <a:r>
              <a:rPr lang="en-US" altLang="ja-JP" sz="1200" dirty="0"/>
              <a:t>ABORT BACKUP</a:t>
            </a:r>
            <a:r>
              <a:rPr lang="ja-JP" altLang="en-US" sz="1200" dirty="0"/>
              <a:t>コマンドを使用す</a:t>
            </a:r>
            <a:r>
              <a:rPr lang="ja-JP" altLang="en-US" sz="1200" dirty="0" smtClean="0"/>
              <a:t>る</a:t>
            </a:r>
            <a:endParaRPr lang="en-US" altLang="ja-JP" sz="1200" dirty="0" smtClean="0"/>
          </a:p>
          <a:p>
            <a:pPr lvl="1"/>
            <a:endParaRPr lang="en-US" altLang="ja-JP" dirty="0" smtClean="0"/>
          </a:p>
          <a:p>
            <a:pPr lvl="2"/>
            <a:endParaRPr lang="en-US" altLang="ja-JP" dirty="0"/>
          </a:p>
          <a:p>
            <a:pPr lvl="2"/>
            <a:endParaRPr lang="en-US" altLang="ja-JP" sz="1000" dirty="0" smtClean="0"/>
          </a:p>
          <a:p>
            <a:r>
              <a:rPr lang="ja-JP" altLang="en-US" sz="1600" dirty="0"/>
              <a:t>シェルからのバックアップの開始と打ち切り</a:t>
            </a:r>
            <a:endParaRPr lang="en-US" altLang="ja-JP" sz="1600" dirty="0"/>
          </a:p>
          <a:p>
            <a:pPr lvl="1"/>
            <a:r>
              <a:rPr lang="en-US" altLang="ja-JP" sz="1200" dirty="0" smtClean="0"/>
              <a:t>START: </a:t>
            </a:r>
            <a:r>
              <a:rPr lang="en-US" altLang="ja-JP" sz="1200" dirty="0"/>
              <a:t>shell# </a:t>
            </a:r>
            <a:r>
              <a:rPr lang="en-US" altLang="ja-JP" sz="1200" dirty="0" err="1"/>
              <a:t>ndb_mgm</a:t>
            </a:r>
            <a:r>
              <a:rPr lang="en-US" altLang="ja-JP" sz="1200" dirty="0"/>
              <a:t> -e "START BACKUP </a:t>
            </a:r>
            <a:r>
              <a:rPr lang="en-US" altLang="ja-JP" sz="1200" dirty="0" err="1"/>
              <a:t>backup_id</a:t>
            </a:r>
            <a:r>
              <a:rPr lang="en-US" altLang="ja-JP" sz="1200" dirty="0"/>
              <a:t> </a:t>
            </a:r>
            <a:r>
              <a:rPr lang="en-US" altLang="ja-JP" sz="1200" dirty="0" smtClean="0"/>
              <a:t>WAIT </a:t>
            </a:r>
            <a:r>
              <a:rPr lang="en-US" altLang="ja-JP" sz="1200" dirty="0"/>
              <a:t>COMPLETED SNAPSHOTSTART“</a:t>
            </a:r>
          </a:p>
          <a:p>
            <a:pPr lvl="2"/>
            <a:r>
              <a:rPr lang="ja-JP" altLang="en-US" sz="1000" dirty="0"/>
              <a:t>この方法で</a:t>
            </a:r>
            <a:r>
              <a:rPr lang="en-US" altLang="ja-JP" sz="1000" dirty="0"/>
              <a:t>START BACKUP</a:t>
            </a:r>
            <a:r>
              <a:rPr lang="ja-JP" altLang="en-US" sz="1000" dirty="0"/>
              <a:t>を使用する場合は、バックアップ</a:t>
            </a:r>
            <a:r>
              <a:rPr lang="en-US" altLang="ja-JP" sz="1000" dirty="0"/>
              <a:t>ID</a:t>
            </a:r>
            <a:r>
              <a:rPr lang="ja-JP" altLang="en-US" sz="1000" dirty="0"/>
              <a:t>を指定する必要があります。</a:t>
            </a:r>
            <a:endParaRPr lang="en-US" altLang="ja-JP" sz="1600" dirty="0"/>
          </a:p>
          <a:p>
            <a:pPr lvl="1"/>
            <a:r>
              <a:rPr lang="en-US" altLang="ja-JP" sz="1200" dirty="0" smtClean="0"/>
              <a:t>ABORT: </a:t>
            </a:r>
            <a:r>
              <a:rPr lang="en-US" altLang="ja-JP" sz="1200" dirty="0"/>
              <a:t>shell# </a:t>
            </a:r>
            <a:r>
              <a:rPr lang="en-US" altLang="ja-JP" sz="1200" dirty="0" err="1"/>
              <a:t>ndb_mgm</a:t>
            </a:r>
            <a:r>
              <a:rPr lang="en-US" altLang="ja-JP" sz="1200" dirty="0"/>
              <a:t> -e </a:t>
            </a:r>
            <a:r>
              <a:rPr lang="en-US" altLang="ja-JP" sz="1200" dirty="0" smtClean="0"/>
              <a:t>“ABORT BACKUP </a:t>
            </a:r>
            <a:r>
              <a:rPr lang="en-US" altLang="ja-JP" sz="1200" dirty="0" err="1" smtClean="0"/>
              <a:t>backup_id</a:t>
            </a:r>
            <a:r>
              <a:rPr lang="en-US" altLang="ja-JP" sz="1200" dirty="0" smtClean="0"/>
              <a:t>”</a:t>
            </a:r>
            <a:endParaRPr lang="en-US" altLang="ja-JP" sz="1200" dirty="0"/>
          </a:p>
          <a:p>
            <a:pPr lvl="1"/>
            <a:endParaRPr lang="en-US" altLang="ja-JP" sz="1200" dirty="0" smtClean="0"/>
          </a:p>
          <a:p>
            <a:pPr lvl="1"/>
            <a:endParaRPr lang="en-US" altLang="ja-JP" sz="1200" dirty="0" smtClean="0"/>
          </a:p>
          <a:p>
            <a:pPr lvl="2"/>
            <a:endParaRPr kumimoji="1" lang="en-US" altLang="ja-JP" sz="1000" dirty="0"/>
          </a:p>
        </p:txBody>
      </p:sp>
      <p:sp>
        <p:nvSpPr>
          <p:cNvPr id="4" name="Rectangle 3"/>
          <p:cNvSpPr/>
          <p:nvPr/>
        </p:nvSpPr>
        <p:spPr bwMode="auto">
          <a:xfrm>
            <a:off x="1026160" y="1101374"/>
            <a:ext cx="7091680" cy="1381730"/>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err="1" smtClean="0">
                <a:latin typeface="Calibri" panose="020F0502020204030204" pitchFamily="34" charset="0"/>
                <a:ea typeface="+mj-ea"/>
              </a:rPr>
              <a:t>ndb_mgm</a:t>
            </a:r>
            <a:r>
              <a:rPr lang="en-US" sz="1000" b="1" dirty="0">
                <a:latin typeface="Calibri" panose="020F0502020204030204" pitchFamily="34" charset="0"/>
                <a:ea typeface="+mj-ea"/>
              </a:rPr>
              <a:t>&gt; start backup</a:t>
            </a:r>
          </a:p>
          <a:p>
            <a:r>
              <a:rPr lang="en-US" sz="1000" b="1" dirty="0">
                <a:latin typeface="Calibri" panose="020F0502020204030204" pitchFamily="34" charset="0"/>
                <a:ea typeface="+mj-ea"/>
              </a:rPr>
              <a:t>Waiting for completed, this may take several minutes</a:t>
            </a:r>
          </a:p>
          <a:p>
            <a:r>
              <a:rPr lang="en-US" sz="1000" b="1" dirty="0">
                <a:latin typeface="Calibri" panose="020F0502020204030204" pitchFamily="34" charset="0"/>
                <a:ea typeface="+mj-ea"/>
              </a:rPr>
              <a:t>Node </a:t>
            </a:r>
            <a:r>
              <a:rPr lang="en-US" sz="1000" b="1" dirty="0" smtClean="0">
                <a:latin typeface="Calibri" panose="020F0502020204030204" pitchFamily="34" charset="0"/>
                <a:ea typeface="+mj-ea"/>
              </a:rPr>
              <a:t>2: </a:t>
            </a:r>
            <a:r>
              <a:rPr lang="en-US" sz="1000" b="1" dirty="0">
                <a:latin typeface="Calibri" panose="020F0502020204030204" pitchFamily="34" charset="0"/>
                <a:ea typeface="+mj-ea"/>
              </a:rPr>
              <a:t>Backup </a:t>
            </a:r>
            <a:r>
              <a:rPr lang="en-US" sz="1000" b="1" dirty="0" smtClean="0">
                <a:latin typeface="Calibri" panose="020F0502020204030204" pitchFamily="34" charset="0"/>
                <a:ea typeface="+mj-ea"/>
              </a:rPr>
              <a:t>3 </a:t>
            </a:r>
            <a:r>
              <a:rPr lang="en-US" sz="1000" b="1" dirty="0">
                <a:latin typeface="Calibri" panose="020F0502020204030204" pitchFamily="34" charset="0"/>
                <a:ea typeface="+mj-ea"/>
              </a:rPr>
              <a:t>started from node 1</a:t>
            </a:r>
          </a:p>
          <a:p>
            <a:r>
              <a:rPr lang="en-US" sz="1000" b="1" dirty="0">
                <a:latin typeface="Calibri" panose="020F0502020204030204" pitchFamily="34" charset="0"/>
                <a:ea typeface="+mj-ea"/>
              </a:rPr>
              <a:t>Node </a:t>
            </a:r>
            <a:r>
              <a:rPr lang="en-US" sz="1000" b="1" dirty="0" smtClean="0">
                <a:latin typeface="Calibri" panose="020F0502020204030204" pitchFamily="34" charset="0"/>
                <a:ea typeface="+mj-ea"/>
              </a:rPr>
              <a:t>2: </a:t>
            </a:r>
            <a:r>
              <a:rPr lang="en-US" sz="1000" b="1" dirty="0">
                <a:latin typeface="Calibri" panose="020F0502020204030204" pitchFamily="34" charset="0"/>
                <a:ea typeface="+mj-ea"/>
              </a:rPr>
              <a:t>Backup </a:t>
            </a:r>
            <a:r>
              <a:rPr lang="en-US" sz="1000" b="1" dirty="0" smtClean="0">
                <a:latin typeface="Calibri" panose="020F0502020204030204" pitchFamily="34" charset="0"/>
                <a:ea typeface="+mj-ea"/>
              </a:rPr>
              <a:t>3 </a:t>
            </a:r>
            <a:r>
              <a:rPr lang="en-US" sz="1000" b="1" dirty="0">
                <a:latin typeface="Calibri" panose="020F0502020204030204" pitchFamily="34" charset="0"/>
                <a:ea typeface="+mj-ea"/>
              </a:rPr>
              <a:t>started from node 1 completed</a:t>
            </a:r>
          </a:p>
          <a:p>
            <a:r>
              <a:rPr lang="en-US" sz="1000" b="1" dirty="0">
                <a:latin typeface="Calibri" panose="020F0502020204030204" pitchFamily="34" charset="0"/>
                <a:ea typeface="+mj-ea"/>
              </a:rPr>
              <a:t> </a:t>
            </a:r>
            <a:r>
              <a:rPr lang="en-US" sz="1000" b="1" dirty="0" err="1">
                <a:latin typeface="Calibri" panose="020F0502020204030204" pitchFamily="34" charset="0"/>
                <a:ea typeface="+mj-ea"/>
              </a:rPr>
              <a:t>StartGCP</a:t>
            </a:r>
            <a:r>
              <a:rPr lang="en-US" sz="1000" b="1" dirty="0">
                <a:latin typeface="Calibri" panose="020F0502020204030204" pitchFamily="34" charset="0"/>
                <a:ea typeface="+mj-ea"/>
              </a:rPr>
              <a:t>: 95121 </a:t>
            </a:r>
            <a:r>
              <a:rPr lang="en-US" sz="1000" b="1" dirty="0" err="1">
                <a:latin typeface="Calibri" panose="020F0502020204030204" pitchFamily="34" charset="0"/>
                <a:ea typeface="+mj-ea"/>
              </a:rPr>
              <a:t>StopGCP</a:t>
            </a:r>
            <a:r>
              <a:rPr lang="en-US" sz="1000" b="1" dirty="0">
                <a:latin typeface="Calibri" panose="020F0502020204030204" pitchFamily="34" charset="0"/>
                <a:ea typeface="+mj-ea"/>
              </a:rPr>
              <a:t>: 95124</a:t>
            </a:r>
          </a:p>
          <a:p>
            <a:r>
              <a:rPr lang="en-US" sz="1000" b="1" dirty="0">
                <a:latin typeface="Calibri" panose="020F0502020204030204" pitchFamily="34" charset="0"/>
                <a:ea typeface="+mj-ea"/>
              </a:rPr>
              <a:t> #Records: 3872 #</a:t>
            </a:r>
            <a:r>
              <a:rPr lang="en-US" sz="1000" b="1" dirty="0" err="1">
                <a:latin typeface="Calibri" panose="020F0502020204030204" pitchFamily="34" charset="0"/>
                <a:ea typeface="+mj-ea"/>
              </a:rPr>
              <a:t>LogRecords</a:t>
            </a:r>
            <a:r>
              <a:rPr lang="en-US" sz="1000" b="1" dirty="0">
                <a:latin typeface="Calibri" panose="020F0502020204030204" pitchFamily="34" charset="0"/>
                <a:ea typeface="+mj-ea"/>
              </a:rPr>
              <a:t>: 0</a:t>
            </a:r>
          </a:p>
          <a:p>
            <a:r>
              <a:rPr lang="en-US" sz="1000" b="1" dirty="0">
                <a:latin typeface="Calibri" panose="020F0502020204030204" pitchFamily="34" charset="0"/>
                <a:ea typeface="+mj-ea"/>
              </a:rPr>
              <a:t> Data: 198208 bytes Log: 0 bytes</a:t>
            </a:r>
          </a:p>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a:t>
            </a:r>
            <a:endParaRPr kumimoji="1" lang="en-US" sz="1000" b="1" dirty="0">
              <a:latin typeface="Calibri" panose="020F0502020204030204" pitchFamily="34" charset="0"/>
              <a:ea typeface="+mj-ea"/>
            </a:endParaRPr>
          </a:p>
        </p:txBody>
      </p:sp>
      <p:sp>
        <p:nvSpPr>
          <p:cNvPr id="6" name="Rectangle 5"/>
          <p:cNvSpPr/>
          <p:nvPr/>
        </p:nvSpPr>
        <p:spPr bwMode="auto">
          <a:xfrm>
            <a:off x="1026160" y="4611116"/>
            <a:ext cx="7091680" cy="457962"/>
          </a:xfrm>
          <a:prstGeom prst="rect">
            <a:avLst/>
          </a:prstGeom>
          <a:solidFill>
            <a:schemeClr val="bg1">
              <a:lumMod val="85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 </a:t>
            </a:r>
            <a:r>
              <a:rPr lang="en-US" sz="1000" b="1" dirty="0" smtClean="0">
                <a:latin typeface="Calibri" panose="020F0502020204030204" pitchFamily="34" charset="0"/>
                <a:ea typeface="+mj-ea"/>
              </a:rPr>
              <a:t>ABORT BACKUP </a:t>
            </a:r>
            <a:r>
              <a:rPr lang="en-US" sz="1000" b="1" dirty="0" err="1" smtClean="0">
                <a:latin typeface="Calibri" panose="020F0502020204030204" pitchFamily="34" charset="0"/>
                <a:ea typeface="+mj-ea"/>
              </a:rPr>
              <a:t>backup_id</a:t>
            </a:r>
            <a:endParaRPr lang="en-US" sz="1000" b="1" dirty="0">
              <a:latin typeface="Calibri" panose="020F0502020204030204" pitchFamily="34" charset="0"/>
              <a:ea typeface="+mj-ea"/>
            </a:endParaRPr>
          </a:p>
          <a:p>
            <a:r>
              <a:rPr lang="en-US" sz="1000" b="1" dirty="0" err="1">
                <a:latin typeface="Calibri" panose="020F0502020204030204" pitchFamily="34" charset="0"/>
                <a:ea typeface="+mj-ea"/>
              </a:rPr>
              <a:t>ndb_mgm</a:t>
            </a:r>
            <a:r>
              <a:rPr lang="en-US" sz="1000" b="1" dirty="0">
                <a:latin typeface="Calibri" panose="020F0502020204030204" pitchFamily="34" charset="0"/>
                <a:ea typeface="+mj-ea"/>
              </a:rPr>
              <a:t>&gt;</a:t>
            </a:r>
            <a:endParaRPr kumimoji="1" lang="en-US" sz="1000" b="1" dirty="0">
              <a:latin typeface="Calibri" panose="020F0502020204030204" pitchFamily="34" charset="0"/>
              <a:ea typeface="+mj-ea"/>
            </a:endParaRPr>
          </a:p>
        </p:txBody>
      </p:sp>
    </p:spTree>
    <p:extLst>
      <p:ext uri="{BB962C8B-B14F-4D97-AF65-F5344CB8AC3E}">
        <p14:creationId xmlns:p14="http://schemas.microsoft.com/office/powerpoint/2010/main" val="4502924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バックアップ　</a:t>
            </a:r>
            <a:r>
              <a:rPr lang="ja-JP" altLang="en-US" dirty="0" smtClean="0"/>
              <a:t>（</a:t>
            </a:r>
            <a:r>
              <a:rPr lang="en-US" altLang="ja-JP" dirty="0"/>
              <a:t>5</a:t>
            </a:r>
            <a:r>
              <a:rPr lang="en-US" altLang="ja-JP" dirty="0" smtClean="0"/>
              <a:t>/6)</a:t>
            </a:r>
            <a:endParaRPr kumimoji="1" lang="ja-JP" altLang="en-US" dirty="0"/>
          </a:p>
        </p:txBody>
      </p:sp>
      <p:sp>
        <p:nvSpPr>
          <p:cNvPr id="3" name="コンテンツ プレースホルダー 2"/>
          <p:cNvSpPr>
            <a:spLocks noGrp="1"/>
          </p:cNvSpPr>
          <p:nvPr>
            <p:ph sz="quarter" idx="10"/>
          </p:nvPr>
        </p:nvSpPr>
        <p:spPr>
          <a:xfrm>
            <a:off x="179512" y="836712"/>
            <a:ext cx="8964488" cy="5616476"/>
          </a:xfrm>
        </p:spPr>
        <p:txBody>
          <a:bodyPr>
            <a:normAutofit/>
          </a:bodyPr>
          <a:lstStyle/>
          <a:p>
            <a:r>
              <a:rPr lang="ja-JP" altLang="en-US" sz="1600" dirty="0"/>
              <a:t>考慮すべき事項</a:t>
            </a:r>
            <a:endParaRPr lang="en-US" altLang="ja-JP" sz="1600" dirty="0" smtClean="0"/>
          </a:p>
          <a:p>
            <a:pPr lvl="1"/>
            <a:r>
              <a:rPr lang="en-US" altLang="ja-JP" sz="1200" dirty="0" err="1"/>
              <a:t>BackupDataBufferSize</a:t>
            </a:r>
            <a:r>
              <a:rPr lang="ja-JP" altLang="en-US" sz="1200" dirty="0"/>
              <a:t>と</a:t>
            </a:r>
            <a:r>
              <a:rPr lang="en-US" altLang="ja-JP" sz="1200" dirty="0" err="1"/>
              <a:t>BackupLogBufferSize</a:t>
            </a:r>
            <a:r>
              <a:rPr lang="ja-JP" altLang="en-US" sz="1200" dirty="0"/>
              <a:t>を設定し、合計が</a:t>
            </a:r>
            <a:r>
              <a:rPr lang="en-US" altLang="ja-JP" sz="1200" dirty="0"/>
              <a:t>4MB</a:t>
            </a:r>
            <a:r>
              <a:rPr lang="ja-JP" altLang="en-US" sz="1200" dirty="0"/>
              <a:t>を超える場合は、</a:t>
            </a:r>
            <a:r>
              <a:rPr lang="en-US" altLang="ja-JP" sz="1200" dirty="0" err="1"/>
              <a:t>BackupMemory</a:t>
            </a:r>
            <a:r>
              <a:rPr lang="ja-JP" altLang="en-US" sz="1200" dirty="0"/>
              <a:t>も設定する必要があります。</a:t>
            </a:r>
            <a:endParaRPr lang="en-US" sz="1200" dirty="0" smtClean="0">
              <a:latin typeface="+mj-lt"/>
              <a:cs typeface="Courier New" panose="02070309020205020404" pitchFamily="49" charset="0"/>
            </a:endParaRPr>
          </a:p>
          <a:p>
            <a:pPr lvl="1"/>
            <a:r>
              <a:rPr lang="en-US" altLang="ja-JP" sz="1200" dirty="0" err="1"/>
              <a:t>wait_option</a:t>
            </a:r>
            <a:r>
              <a:rPr lang="ja-JP" altLang="en-US" sz="1200" dirty="0"/>
              <a:t>と</a:t>
            </a:r>
            <a:r>
              <a:rPr lang="en-US" altLang="ja-JP" sz="1200" dirty="0" err="1"/>
              <a:t>snapshot_option</a:t>
            </a:r>
            <a:r>
              <a:rPr lang="ja-JP" altLang="en-US" sz="1200" dirty="0"/>
              <a:t>の両方が使用されている場合は、いずれかの順序で指定できます。</a:t>
            </a:r>
            <a:endParaRPr lang="en-US" sz="1200" dirty="0">
              <a:latin typeface="+mj-lt"/>
              <a:cs typeface="Courier New" panose="02070309020205020404" pitchFamily="49" charset="0"/>
            </a:endParaRPr>
          </a:p>
          <a:p>
            <a:pPr lvl="1" fontAlgn="auto"/>
            <a:r>
              <a:rPr lang="ja-JP" altLang="en-US" sz="1200" dirty="0"/>
              <a:t>カスタム</a:t>
            </a:r>
            <a:r>
              <a:rPr lang="en-US" altLang="ja-JP" sz="1200" dirty="0"/>
              <a:t>ID</a:t>
            </a:r>
            <a:r>
              <a:rPr lang="ja-JP" altLang="en-US" sz="1200" dirty="0"/>
              <a:t>が指定されている場合は、他の待機およびスナップショットオプションの前に最初に指定する必要があります</a:t>
            </a:r>
            <a:r>
              <a:rPr lang="ja-JP" altLang="en-US" sz="1200" dirty="0" smtClean="0"/>
              <a:t>。</a:t>
            </a:r>
            <a:endParaRPr lang="en-US" sz="1200" dirty="0" smtClean="0">
              <a:latin typeface="+mj-lt"/>
              <a:cs typeface="Courier New" panose="02070309020205020404" pitchFamily="49" charset="0"/>
            </a:endParaRPr>
          </a:p>
          <a:p>
            <a:pPr lvl="1"/>
            <a:r>
              <a:rPr lang="ja-JP" altLang="en-US" sz="1200" dirty="0"/>
              <a:t>スナップショットと待機オプションの両方が指定されている場合は、これらを交換することができます</a:t>
            </a:r>
            <a:r>
              <a:rPr lang="ja-JP" altLang="en-US" sz="1200" dirty="0" smtClean="0"/>
              <a:t>。</a:t>
            </a:r>
            <a:endParaRPr lang="en-US" sz="1200" dirty="0" smtClean="0">
              <a:latin typeface="+mj-lt"/>
              <a:cs typeface="Courier New" panose="02070309020205020404" pitchFamily="49" charset="0"/>
            </a:endParaRPr>
          </a:p>
          <a:p>
            <a:pPr lvl="1"/>
            <a:r>
              <a:rPr lang="en-US" altLang="ja-JP" sz="1200" dirty="0"/>
              <a:t>ABORT BACKUP</a:t>
            </a:r>
            <a:r>
              <a:rPr lang="ja-JP" altLang="en-US" sz="1200" dirty="0"/>
              <a:t>が発行されたときに</a:t>
            </a:r>
            <a:r>
              <a:rPr lang="en-US" altLang="ja-JP" sz="1200" dirty="0"/>
              <a:t>ID </a:t>
            </a:r>
            <a:r>
              <a:rPr lang="en-US" altLang="ja-JP" sz="1200" dirty="0" err="1"/>
              <a:t>backup_id</a:t>
            </a:r>
            <a:r>
              <a:rPr lang="ja-JP" altLang="en-US" sz="1200" dirty="0"/>
              <a:t>が実行されているバックアップがない場合、管理クライアントは応答を出しません。また、無効な</a:t>
            </a:r>
            <a:r>
              <a:rPr lang="en-US" altLang="ja-JP" sz="1200" dirty="0"/>
              <a:t>abort</a:t>
            </a:r>
            <a:r>
              <a:rPr lang="ja-JP" altLang="en-US" sz="1200" dirty="0"/>
              <a:t>コマンドが送信されたことがクラスタログに示されません</a:t>
            </a:r>
            <a:r>
              <a:rPr lang="ja-JP" altLang="en-US" sz="1200" dirty="0" smtClean="0"/>
              <a:t>。</a:t>
            </a:r>
            <a:endParaRPr lang="en-US" sz="1200" dirty="0" smtClean="0">
              <a:latin typeface="+mj-lt"/>
              <a:cs typeface="Courier New" panose="02070309020205020404" pitchFamily="49" charset="0"/>
            </a:endParaRPr>
          </a:p>
          <a:p>
            <a:pPr lvl="1"/>
            <a:r>
              <a:rPr lang="ja-JP" altLang="en-US" sz="1200" dirty="0"/>
              <a:t>バックアッププロセスを中止する場合、クラスタノードが特定の順序で</a:t>
            </a:r>
            <a:r>
              <a:rPr lang="en-US" altLang="ja-JP" sz="1200" dirty="0"/>
              <a:t>ABORT BACKUP</a:t>
            </a:r>
            <a:r>
              <a:rPr lang="ja-JP" altLang="en-US" sz="1200" dirty="0"/>
              <a:t>コマンドに応答する保証</a:t>
            </a:r>
            <a:r>
              <a:rPr lang="ja-JP" altLang="en-US" sz="1200" dirty="0" smtClean="0"/>
              <a:t>は</a:t>
            </a:r>
            <a:endParaRPr lang="en-US" altLang="ja-JP" sz="1200" dirty="0" smtClean="0"/>
          </a:p>
          <a:p>
            <a:pPr marL="180000" lvl="1" indent="0">
              <a:buNone/>
            </a:pPr>
            <a:r>
              <a:rPr lang="ja-JP" altLang="en-US" sz="1200" dirty="0"/>
              <a:t>　</a:t>
            </a:r>
            <a:r>
              <a:rPr lang="ja-JP" altLang="en-US" sz="1200" dirty="0" smtClean="0"/>
              <a:t>あ</a:t>
            </a:r>
            <a:r>
              <a:rPr lang="ja-JP" altLang="en-US" sz="1200" dirty="0"/>
              <a:t>りません</a:t>
            </a:r>
            <a:r>
              <a:rPr lang="ja-JP" altLang="en-US" sz="1200" dirty="0" smtClean="0"/>
              <a:t>。</a:t>
            </a:r>
            <a:endParaRPr lang="en-US" altLang="ja-JP" sz="1200" dirty="0"/>
          </a:p>
          <a:p>
            <a:pPr lvl="1"/>
            <a:r>
              <a:rPr lang="en-US" altLang="ja-JP" sz="1200" dirty="0"/>
              <a:t>START BACKUP</a:t>
            </a:r>
            <a:r>
              <a:rPr lang="ja-JP" altLang="en-US" sz="1200" dirty="0"/>
              <a:t>で</a:t>
            </a:r>
            <a:r>
              <a:rPr lang="en-US" altLang="ja-JP" sz="1200" dirty="0"/>
              <a:t>SNAPSHOTSTART</a:t>
            </a:r>
            <a:r>
              <a:rPr lang="ja-JP" altLang="en-US" sz="1200" dirty="0"/>
              <a:t>オプションを使用し、</a:t>
            </a:r>
            <a:r>
              <a:rPr lang="en-US" altLang="ja-JP" sz="1200" dirty="0" err="1"/>
              <a:t>CompressedBackup</a:t>
            </a:r>
            <a:r>
              <a:rPr lang="ja-JP" altLang="en-US" sz="1200" dirty="0"/>
              <a:t>パラメータを有効にすると、データファイルと制御ファイルのみが圧縮されます。ログファイルは圧縮されません。</a:t>
            </a:r>
            <a:endParaRPr lang="en-US" altLang="ja-JP" dirty="0"/>
          </a:p>
          <a:p>
            <a:pPr marL="914400" lvl="1" indent="-735013">
              <a:buNone/>
            </a:pPr>
            <a:endParaRPr lang="en-US" altLang="ja-JP" sz="1200" dirty="0"/>
          </a:p>
          <a:p>
            <a:pPr marL="734400" indent="-735013">
              <a:buNone/>
            </a:pPr>
            <a:endParaRPr lang="en-US" altLang="ja-JP" dirty="0"/>
          </a:p>
        </p:txBody>
      </p:sp>
    </p:spTree>
    <p:extLst>
      <p:ext uri="{BB962C8B-B14F-4D97-AF65-F5344CB8AC3E}">
        <p14:creationId xmlns:p14="http://schemas.microsoft.com/office/powerpoint/2010/main" val="38074991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バックアップ　</a:t>
            </a:r>
            <a:r>
              <a:rPr lang="ja-JP" altLang="en-US" dirty="0" smtClean="0"/>
              <a:t>（</a:t>
            </a:r>
            <a:r>
              <a:rPr lang="en-US" altLang="ja-JP" dirty="0"/>
              <a:t>6</a:t>
            </a:r>
            <a:r>
              <a:rPr lang="en-US" altLang="ja-JP" dirty="0" smtClean="0"/>
              <a:t>/6)</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dirty="0" err="1" smtClean="0"/>
              <a:t>mysqldump</a:t>
            </a:r>
            <a:endParaRPr lang="en-US" altLang="ja-JP" sz="1600" dirty="0" smtClean="0"/>
          </a:p>
          <a:p>
            <a:pPr lvl="1"/>
            <a:r>
              <a:rPr lang="en-US" altLang="ja-JP" sz="1200" dirty="0" err="1"/>
              <a:t>mysqldump</a:t>
            </a:r>
            <a:r>
              <a:rPr lang="ja-JP" altLang="en-US" sz="1200" dirty="0"/>
              <a:t>クライアントユーティリティは、論理バックアップを実行して、元のデータベースオブジェクト定義とテーブルデータを再現するために実行できる一連の</a:t>
            </a:r>
            <a:r>
              <a:rPr lang="en-US" altLang="ja-JP" sz="1200" dirty="0"/>
              <a:t>SQL</a:t>
            </a:r>
            <a:r>
              <a:rPr lang="ja-JP" altLang="en-US" sz="1200" dirty="0"/>
              <a:t>文を生成します。 バックアップまたは別の</a:t>
            </a:r>
            <a:r>
              <a:rPr lang="en-US" altLang="ja-JP" sz="1200" dirty="0"/>
              <a:t>SQL</a:t>
            </a:r>
            <a:r>
              <a:rPr lang="ja-JP" altLang="en-US" sz="1200" dirty="0"/>
              <a:t>サーバへの転送のために、</a:t>
            </a:r>
            <a:r>
              <a:rPr lang="en-US" altLang="ja-JP" sz="1200" dirty="0"/>
              <a:t>1</a:t>
            </a:r>
            <a:r>
              <a:rPr lang="ja-JP" altLang="en-US" sz="1200" dirty="0"/>
              <a:t>つまたは複数の</a:t>
            </a:r>
            <a:r>
              <a:rPr lang="en-US" altLang="ja-JP" sz="1200" dirty="0"/>
              <a:t>MySQL</a:t>
            </a:r>
            <a:r>
              <a:rPr lang="ja-JP" altLang="en-US" sz="1200" dirty="0"/>
              <a:t>データベースをダンプします。</a:t>
            </a:r>
            <a:r>
              <a:rPr lang="en-US" sz="1200" dirty="0" smtClean="0">
                <a:latin typeface="+mj-lt"/>
                <a:cs typeface="Courier New" panose="02070309020205020404" pitchFamily="49" charset="0"/>
              </a:rPr>
              <a:t> </a:t>
            </a:r>
            <a:endParaRPr lang="en-US" sz="1200" dirty="0" smtClean="0">
              <a:latin typeface="+mj-lt"/>
              <a:cs typeface="Courier New" panose="02070309020205020404" pitchFamily="49" charset="0"/>
            </a:endParaRPr>
          </a:p>
          <a:p>
            <a:pPr lvl="1"/>
            <a:r>
              <a:rPr lang="en-US" altLang="ja-JP" sz="1200" dirty="0" err="1"/>
              <a:t>mysqldump</a:t>
            </a:r>
            <a:r>
              <a:rPr lang="ja-JP" altLang="en-US" sz="1200" dirty="0"/>
              <a:t>コマンドは、次のように出力を生成することもできま</a:t>
            </a:r>
            <a:r>
              <a:rPr lang="ja-JP" altLang="en-US" sz="1200" dirty="0" smtClean="0"/>
              <a:t>す：</a:t>
            </a:r>
            <a:endParaRPr lang="en-US" sz="1200" dirty="0" smtClean="0">
              <a:latin typeface="+mj-lt"/>
              <a:cs typeface="Courier New" panose="02070309020205020404" pitchFamily="49" charset="0"/>
            </a:endParaRPr>
          </a:p>
          <a:p>
            <a:pPr lvl="2"/>
            <a:r>
              <a:rPr lang="en-US" sz="1000" dirty="0" smtClean="0">
                <a:latin typeface="+mj-lt"/>
                <a:cs typeface="Courier New" panose="02070309020205020404" pitchFamily="49" charset="0"/>
              </a:rPr>
              <a:t>CSV;</a:t>
            </a:r>
          </a:p>
          <a:p>
            <a:pPr lvl="2"/>
            <a:r>
              <a:rPr lang="en-US" sz="1000" dirty="0" smtClean="0">
                <a:latin typeface="+mj-lt"/>
                <a:cs typeface="Courier New" panose="02070309020205020404" pitchFamily="49" charset="0"/>
              </a:rPr>
              <a:t>other </a:t>
            </a:r>
            <a:r>
              <a:rPr lang="en-US" sz="1000" dirty="0">
                <a:latin typeface="+mj-lt"/>
                <a:cs typeface="Courier New" panose="02070309020205020404" pitchFamily="49" charset="0"/>
              </a:rPr>
              <a:t>delimited </a:t>
            </a:r>
            <a:r>
              <a:rPr lang="en-US" sz="1000" dirty="0" smtClean="0">
                <a:latin typeface="+mj-lt"/>
                <a:cs typeface="Courier New" panose="02070309020205020404" pitchFamily="49" charset="0"/>
              </a:rPr>
              <a:t>text; </a:t>
            </a:r>
            <a:r>
              <a:rPr lang="en-US" sz="1000" dirty="0">
                <a:latin typeface="+mj-lt"/>
                <a:cs typeface="Courier New" panose="02070309020205020404" pitchFamily="49" charset="0"/>
              </a:rPr>
              <a:t>or </a:t>
            </a:r>
            <a:endParaRPr lang="en-US" sz="1000" dirty="0" smtClean="0">
              <a:latin typeface="+mj-lt"/>
              <a:cs typeface="Courier New" panose="02070309020205020404" pitchFamily="49" charset="0"/>
            </a:endParaRPr>
          </a:p>
          <a:p>
            <a:pPr lvl="2"/>
            <a:r>
              <a:rPr lang="en-US" sz="1000" dirty="0" smtClean="0">
                <a:latin typeface="+mj-lt"/>
                <a:cs typeface="Courier New" panose="02070309020205020404" pitchFamily="49" charset="0"/>
              </a:rPr>
              <a:t>XML format</a:t>
            </a:r>
          </a:p>
          <a:p>
            <a:pPr lvl="1"/>
            <a:r>
              <a:rPr lang="en-US" altLang="ja-JP" sz="1200" dirty="0" err="1"/>
              <a:t>mysqldump</a:t>
            </a:r>
            <a:r>
              <a:rPr lang="ja-JP" altLang="en-US" sz="1200" dirty="0"/>
              <a:t>には少なくともダンプされたテーブルの</a:t>
            </a:r>
            <a:r>
              <a:rPr lang="en-US" altLang="ja-JP" sz="1200" dirty="0"/>
              <a:t>SELECT</a:t>
            </a:r>
            <a:r>
              <a:rPr lang="ja-JP" altLang="en-US" sz="1200" dirty="0"/>
              <a:t>特権、ダンプされたビューの場合は</a:t>
            </a:r>
            <a:r>
              <a:rPr lang="en-US" altLang="ja-JP" sz="1200" dirty="0"/>
              <a:t>SHOW VIEW</a:t>
            </a:r>
            <a:r>
              <a:rPr lang="ja-JP" altLang="en-US" sz="1200" dirty="0"/>
              <a:t>、ダンプされたトリガーの場合は</a:t>
            </a:r>
            <a:r>
              <a:rPr lang="en-US" altLang="ja-JP" sz="1200" dirty="0"/>
              <a:t>TRIGGER</a:t>
            </a:r>
            <a:r>
              <a:rPr lang="ja-JP" altLang="en-US" sz="1200" dirty="0"/>
              <a:t>、</a:t>
            </a:r>
            <a:r>
              <a:rPr lang="en-US" altLang="ja-JP" sz="1200" dirty="0"/>
              <a:t>--single-transaction</a:t>
            </a:r>
            <a:r>
              <a:rPr lang="ja-JP" altLang="en-US" sz="1200" dirty="0"/>
              <a:t>オプションが使用されていない場合は</a:t>
            </a:r>
            <a:r>
              <a:rPr lang="en-US" altLang="ja-JP" sz="1200" dirty="0"/>
              <a:t>LOCK TABLES</a:t>
            </a:r>
            <a:r>
              <a:rPr lang="ja-JP" altLang="en-US" sz="1200" dirty="0"/>
              <a:t>が必要です。</a:t>
            </a:r>
            <a:endParaRPr lang="en-US" sz="1200" dirty="0" smtClean="0">
              <a:latin typeface="+mj-lt"/>
              <a:cs typeface="Courier New" panose="02070309020205020404" pitchFamily="49" charset="0"/>
            </a:endParaRPr>
          </a:p>
          <a:p>
            <a:pPr marL="180000" lvl="1" indent="0">
              <a:buNone/>
            </a:pPr>
            <a:endParaRPr lang="en-US" sz="1200" dirty="0" smtClean="0">
              <a:latin typeface="+mj-lt"/>
              <a:cs typeface="Courier New" panose="02070309020205020404" pitchFamily="49" charset="0"/>
            </a:endParaRPr>
          </a:p>
          <a:p>
            <a:pPr lvl="1"/>
            <a:endParaRPr lang="en-US" sz="1200" dirty="0" smtClean="0">
              <a:latin typeface="+mj-lt"/>
              <a:cs typeface="Courier New" panose="02070309020205020404" pitchFamily="49" charset="0"/>
            </a:endParaRPr>
          </a:p>
          <a:p>
            <a:pPr lvl="1"/>
            <a:endParaRPr lang="en-US" altLang="ja-JP" sz="1200" dirty="0"/>
          </a:p>
          <a:p>
            <a:pPr marL="734400" indent="-735013">
              <a:buNone/>
            </a:pPr>
            <a:endParaRPr lang="en-US" altLang="ja-JP" dirty="0"/>
          </a:p>
        </p:txBody>
      </p:sp>
    </p:spTree>
    <p:extLst>
      <p:ext uri="{BB962C8B-B14F-4D97-AF65-F5344CB8AC3E}">
        <p14:creationId xmlns:p14="http://schemas.microsoft.com/office/powerpoint/2010/main" val="7590561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smtClean="0"/>
              <a:t>:</a:t>
            </a:r>
            <a:r>
              <a:rPr lang="ja-JP" altLang="en-US" dirty="0"/>
              <a:t>リストア　</a:t>
            </a:r>
            <a:r>
              <a:rPr lang="ja-JP" altLang="en-US" dirty="0" smtClean="0"/>
              <a:t>（</a:t>
            </a:r>
            <a:r>
              <a:rPr lang="en-US" altLang="ja-JP" dirty="0" smtClean="0"/>
              <a:t>1/4)</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ja-JP" altLang="en-US" sz="1600" dirty="0"/>
              <a:t>ネイティブ</a:t>
            </a:r>
            <a:r>
              <a:rPr lang="en-US" altLang="ja-JP" sz="1600" dirty="0"/>
              <a:t>NDB</a:t>
            </a:r>
            <a:r>
              <a:rPr lang="ja-JP" altLang="en-US" sz="1600" dirty="0"/>
              <a:t>クラスタのリストア</a:t>
            </a:r>
            <a:endParaRPr kumimoji="1" lang="en-US" altLang="ja-JP" sz="1600" dirty="0" smtClean="0"/>
          </a:p>
          <a:p>
            <a:pPr lvl="1"/>
            <a:r>
              <a:rPr lang="ja-JP" altLang="en-US" sz="1200" dirty="0"/>
              <a:t>クラスタ復元プログラムは、別のコマンドラインユーティリティ</a:t>
            </a:r>
            <a:r>
              <a:rPr lang="en-US" altLang="ja-JP" sz="1200" dirty="0" err="1"/>
              <a:t>ndb_restore</a:t>
            </a:r>
            <a:r>
              <a:rPr lang="ja-JP" altLang="en-US" sz="1200" dirty="0"/>
              <a:t>として実装されています。通常は、</a:t>
            </a:r>
            <a:r>
              <a:rPr lang="en-US" altLang="ja-JP" sz="1200" dirty="0"/>
              <a:t>MySQL</a:t>
            </a:r>
            <a:r>
              <a:rPr lang="ja-JP" altLang="en-US" sz="1200" dirty="0"/>
              <a:t>の</a:t>
            </a:r>
            <a:r>
              <a:rPr lang="en-US" altLang="ja-JP" sz="1200" dirty="0"/>
              <a:t>bin</a:t>
            </a:r>
            <a:r>
              <a:rPr lang="ja-JP" altLang="en-US" sz="1200" dirty="0"/>
              <a:t>ディレクトリにあります。 このプログラムは、バックアップの結果として作成されたファイルを読み取り、格納された情報をデータベースに挿入します</a:t>
            </a:r>
            <a:r>
              <a:rPr lang="ja-JP" altLang="en-US" sz="1200" dirty="0" smtClean="0"/>
              <a:t>。</a:t>
            </a:r>
            <a:endParaRPr lang="en-US" altLang="ja-JP" sz="1200" dirty="0" smtClean="0"/>
          </a:p>
          <a:p>
            <a:pPr lvl="1"/>
            <a:r>
              <a:rPr lang="ja-JP" altLang="en-US" sz="1200" dirty="0"/>
              <a:t>オンライン復元とも呼ばれる</a:t>
            </a:r>
            <a:endParaRPr lang="en-US" altLang="ja-JP" sz="1200" dirty="0" smtClean="0"/>
          </a:p>
          <a:p>
            <a:pPr lvl="1"/>
            <a:r>
              <a:rPr lang="en-US" altLang="ja-JP" sz="1200" dirty="0" err="1"/>
              <a:t>ndb_restore</a:t>
            </a:r>
            <a:r>
              <a:rPr lang="ja-JP" altLang="en-US" sz="1200" dirty="0"/>
              <a:t>は、バックアップの作成に使用された</a:t>
            </a:r>
            <a:r>
              <a:rPr lang="en-US" altLang="ja-JP" sz="1200" dirty="0"/>
              <a:t>START BACKUP</a:t>
            </a:r>
            <a:r>
              <a:rPr lang="ja-JP" altLang="en-US" sz="1200" dirty="0"/>
              <a:t>コマンドで作成された各バックアップファイルに対して</a:t>
            </a:r>
            <a:r>
              <a:rPr lang="en-US" altLang="ja-JP" sz="1200" dirty="0"/>
              <a:t>1</a:t>
            </a:r>
            <a:r>
              <a:rPr lang="ja-JP" altLang="en-US" sz="1200" dirty="0"/>
              <a:t>回実行する必要があります</a:t>
            </a:r>
            <a:endParaRPr lang="en-US" altLang="ja-JP" sz="1200" dirty="0" smtClean="0"/>
          </a:p>
          <a:p>
            <a:pPr lvl="1"/>
            <a:r>
              <a:rPr lang="en-US" altLang="ja-JP" sz="1200" dirty="0" err="1"/>
              <a:t>ndb_restore</a:t>
            </a:r>
            <a:r>
              <a:rPr lang="ja-JP" altLang="en-US" sz="1200" dirty="0"/>
              <a:t>には無料の</a:t>
            </a:r>
            <a:r>
              <a:rPr lang="en-US" altLang="ja-JP" sz="1200" dirty="0"/>
              <a:t>[API]</a:t>
            </a:r>
            <a:r>
              <a:rPr lang="ja-JP" altLang="en-US" sz="1200" dirty="0"/>
              <a:t>ノードまたは</a:t>
            </a:r>
            <a:r>
              <a:rPr lang="en-US" altLang="ja-JP" sz="1200" dirty="0"/>
              <a:t>[</a:t>
            </a:r>
            <a:r>
              <a:rPr lang="en-US" altLang="ja-JP" sz="1200" dirty="0" err="1"/>
              <a:t>mysqld</a:t>
            </a:r>
            <a:r>
              <a:rPr lang="en-US" altLang="ja-JP" sz="1200" dirty="0"/>
              <a:t>]</a:t>
            </a:r>
            <a:r>
              <a:rPr lang="ja-JP" altLang="en-US" sz="1200" dirty="0"/>
              <a:t>ノードが必要です</a:t>
            </a:r>
            <a:endParaRPr lang="en-US" altLang="ja-JP" sz="1200" dirty="0" smtClean="0"/>
          </a:p>
          <a:p>
            <a:pPr lvl="1"/>
            <a:r>
              <a:rPr lang="ja-JP" altLang="en-US" sz="1200" dirty="0"/>
              <a:t>通常、</a:t>
            </a:r>
            <a:r>
              <a:rPr lang="en-US" altLang="ja-JP" sz="1200" dirty="0"/>
              <a:t>NDB Cluster</a:t>
            </a:r>
            <a:r>
              <a:rPr lang="ja-JP" altLang="en-US" sz="1200" dirty="0"/>
              <a:t>バックアップからリストアする場合、</a:t>
            </a:r>
            <a:r>
              <a:rPr lang="en-US" altLang="ja-JP" sz="1200" dirty="0" err="1"/>
              <a:t>ndb_restore</a:t>
            </a:r>
            <a:r>
              <a:rPr lang="ja-JP" altLang="en-US" sz="1200" dirty="0"/>
              <a:t>には最低でも</a:t>
            </a:r>
            <a:r>
              <a:rPr lang="en-US" altLang="ja-JP" sz="1200" dirty="0"/>
              <a:t>--</a:t>
            </a:r>
            <a:r>
              <a:rPr lang="en-US" altLang="ja-JP" sz="1200" dirty="0" err="1"/>
              <a:t>nodeid</a:t>
            </a:r>
            <a:r>
              <a:rPr lang="ja-JP" altLang="en-US" sz="1200" dirty="0"/>
              <a:t>（短い形式：</a:t>
            </a:r>
            <a:r>
              <a:rPr lang="en-US" altLang="ja-JP" sz="1200" dirty="0"/>
              <a:t>-n</a:t>
            </a:r>
            <a:r>
              <a:rPr lang="ja-JP" altLang="en-US" sz="1200" dirty="0"/>
              <a:t>）、 </a:t>
            </a:r>
            <a:r>
              <a:rPr lang="en-US" altLang="ja-JP" sz="1200" dirty="0"/>
              <a:t>- </a:t>
            </a:r>
            <a:r>
              <a:rPr lang="en-US" altLang="ja-JP" sz="1200" dirty="0" err="1"/>
              <a:t>backupid</a:t>
            </a:r>
            <a:r>
              <a:rPr lang="ja-JP" altLang="en-US" sz="1200" dirty="0"/>
              <a:t>（短い形式：</a:t>
            </a:r>
            <a:r>
              <a:rPr lang="en-US" altLang="ja-JP" sz="1200" dirty="0"/>
              <a:t>-b</a:t>
            </a:r>
            <a:r>
              <a:rPr lang="ja-JP" altLang="en-US" sz="1200" dirty="0"/>
              <a:t>）、</a:t>
            </a:r>
            <a:r>
              <a:rPr lang="en-US" altLang="ja-JP" sz="1200" dirty="0"/>
              <a:t>--</a:t>
            </a:r>
            <a:r>
              <a:rPr lang="en-US" altLang="ja-JP" sz="1200" dirty="0" err="1"/>
              <a:t>backup_path</a:t>
            </a:r>
            <a:r>
              <a:rPr lang="ja-JP" altLang="en-US" sz="1200" dirty="0"/>
              <a:t>オプションが必要です。 さらに、</a:t>
            </a:r>
            <a:r>
              <a:rPr lang="en-US" altLang="ja-JP" sz="1200" dirty="0" err="1"/>
              <a:t>ndb_restore</a:t>
            </a:r>
            <a:r>
              <a:rPr lang="ja-JP" altLang="en-US" sz="1200" dirty="0"/>
              <a:t>を使用して一意のインデックスを含むテーブルを復元する場合は、</a:t>
            </a:r>
            <a:r>
              <a:rPr lang="en-US" altLang="ja-JP" sz="1200" dirty="0"/>
              <a:t>--disable-indexes</a:t>
            </a:r>
            <a:r>
              <a:rPr lang="ja-JP" altLang="en-US" sz="1200" dirty="0"/>
              <a:t>または</a:t>
            </a:r>
            <a:r>
              <a:rPr lang="en-US" altLang="ja-JP" sz="1200" dirty="0"/>
              <a:t>--rebuild-indexes</a:t>
            </a:r>
            <a:r>
              <a:rPr lang="ja-JP" altLang="en-US" sz="1200" dirty="0"/>
              <a:t>を含める必要があります。</a:t>
            </a:r>
            <a:endParaRPr lang="en-US" altLang="ja-JP" sz="1200" dirty="0" smtClean="0"/>
          </a:p>
          <a:p>
            <a:pPr lvl="2"/>
            <a:r>
              <a:rPr lang="ja-JP" altLang="en-US" sz="1000" dirty="0" smtClean="0"/>
              <a:t>コマンド</a:t>
            </a:r>
            <a:r>
              <a:rPr lang="en-US" altLang="ja-JP" sz="1000" dirty="0" smtClean="0"/>
              <a:t>: </a:t>
            </a:r>
            <a:r>
              <a:rPr lang="en-US" altLang="ja-JP" sz="1000" dirty="0" err="1" smtClean="0"/>
              <a:t>ndb_restore</a:t>
            </a:r>
            <a:r>
              <a:rPr lang="en-US" altLang="ja-JP" sz="1000" dirty="0" smtClean="0"/>
              <a:t> [-c </a:t>
            </a:r>
            <a:r>
              <a:rPr lang="en-US" altLang="ja-JP" sz="1000" dirty="0" err="1" smtClean="0"/>
              <a:t>connection_string</a:t>
            </a:r>
            <a:r>
              <a:rPr lang="en-US" altLang="ja-JP" sz="1000" dirty="0" smtClean="0"/>
              <a:t>] -n </a:t>
            </a:r>
            <a:r>
              <a:rPr lang="en-US" altLang="ja-JP" sz="1000" dirty="0" err="1" smtClean="0"/>
              <a:t>node_id</a:t>
            </a:r>
            <a:r>
              <a:rPr lang="en-US" altLang="ja-JP" sz="1000" dirty="0" smtClean="0"/>
              <a:t> -b </a:t>
            </a:r>
            <a:r>
              <a:rPr lang="en-US" altLang="ja-JP" sz="1000" dirty="0" err="1" smtClean="0"/>
              <a:t>backup_id</a:t>
            </a:r>
            <a:r>
              <a:rPr lang="en-US" altLang="ja-JP" sz="1000" dirty="0" smtClean="0"/>
              <a:t> \ [-m] -r --</a:t>
            </a:r>
            <a:r>
              <a:rPr lang="en-US" altLang="ja-JP" sz="1000" dirty="0" err="1" smtClean="0"/>
              <a:t>backup_path</a:t>
            </a:r>
            <a:r>
              <a:rPr lang="en-US" altLang="ja-JP" sz="1000" dirty="0" smtClean="0"/>
              <a:t>=/path/to/backup/files</a:t>
            </a:r>
          </a:p>
          <a:p>
            <a:pPr lvl="1"/>
            <a:r>
              <a:rPr lang="ja-JP" altLang="en-US" sz="1200" dirty="0"/>
              <a:t>より多くのノードが小さい方の数の偶数倍であれば、データノードの数が元のものよりも少ないクラスタに復元できます</a:t>
            </a:r>
            <a:r>
              <a:rPr lang="ja-JP" altLang="en-US" sz="1200" dirty="0" smtClean="0"/>
              <a:t>。</a:t>
            </a:r>
            <a:r>
              <a:rPr lang="en-US" altLang="ja-JP" sz="1200" dirty="0" smtClean="0"/>
              <a:t> </a:t>
            </a:r>
          </a:p>
          <a:p>
            <a:pPr lvl="1"/>
            <a:r>
              <a:rPr lang="ja-JP" altLang="en-US" sz="1200" dirty="0"/>
              <a:t>テーブルのメタデータが既に存在すると仮定して、テーブルのメタデータを復元せずにデータを復元することは可能です。 これを行うときのデフォルトの動作は、テーブルのデータがテーブルのスキーマと一致しない場合、</a:t>
            </a:r>
            <a:r>
              <a:rPr lang="en-US" altLang="ja-JP" sz="1200" dirty="0" err="1"/>
              <a:t>ndb_restore</a:t>
            </a:r>
            <a:r>
              <a:rPr lang="ja-JP" altLang="en-US" sz="1200" dirty="0"/>
              <a:t>がエラーで失敗することです。 これは</a:t>
            </a:r>
            <a:r>
              <a:rPr lang="en-US" altLang="ja-JP" sz="1200" dirty="0"/>
              <a:t>--skip-table-check</a:t>
            </a:r>
            <a:r>
              <a:rPr lang="ja-JP" altLang="en-US" sz="1200" dirty="0"/>
              <a:t>または</a:t>
            </a:r>
            <a:r>
              <a:rPr lang="en-US" altLang="ja-JP" sz="1200" dirty="0"/>
              <a:t>-s</a:t>
            </a:r>
            <a:r>
              <a:rPr lang="ja-JP" altLang="en-US" sz="1200" dirty="0"/>
              <a:t>オプションを使って上書きすることができます。</a:t>
            </a:r>
            <a:endParaRPr lang="en-US" altLang="ja-JP" sz="1200" dirty="0"/>
          </a:p>
          <a:p>
            <a:pPr lvl="1"/>
            <a:endParaRPr kumimoji="1" lang="ja-JP" altLang="en-US" sz="1200" dirty="0"/>
          </a:p>
        </p:txBody>
      </p:sp>
    </p:spTree>
    <p:extLst>
      <p:ext uri="{BB962C8B-B14F-4D97-AF65-F5344CB8AC3E}">
        <p14:creationId xmlns:p14="http://schemas.microsoft.com/office/powerpoint/2010/main" val="4502924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リストア　</a:t>
            </a:r>
            <a:r>
              <a:rPr lang="ja-JP" altLang="en-US" dirty="0" smtClean="0"/>
              <a:t>（</a:t>
            </a:r>
            <a:r>
              <a:rPr lang="en-US" altLang="ja-JP" dirty="0" smtClean="0"/>
              <a:t>2/4</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ja-JP" altLang="en-US" sz="1600" dirty="0"/>
              <a:t>サンプルのリストアの実行</a:t>
            </a:r>
            <a:endParaRPr kumimoji="1" lang="ja-JP" altLang="en-US" sz="1600" dirty="0"/>
          </a:p>
        </p:txBody>
      </p:sp>
      <p:sp>
        <p:nvSpPr>
          <p:cNvPr id="4" name="TextBox 2"/>
          <p:cNvSpPr txBox="1"/>
          <p:nvPr/>
        </p:nvSpPr>
        <p:spPr>
          <a:xfrm>
            <a:off x="746295" y="1316267"/>
            <a:ext cx="7651411" cy="4093428"/>
          </a:xfrm>
          <a:prstGeom prst="rect">
            <a:avLst/>
          </a:prstGeom>
          <a:solidFill>
            <a:schemeClr val="bg1">
              <a:lumMod val="85000"/>
            </a:schemeClr>
          </a:solidFill>
          <a:ln>
            <a:solidFill>
              <a:sysClr val="windowText" lastClr="000000"/>
            </a:solidFill>
          </a:ln>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sz="1000" dirty="0">
                <a:latin typeface="Courier New" panose="02070309020205020404" pitchFamily="49" charset="0"/>
                <a:cs typeface="Courier New" panose="02070309020205020404" pitchFamily="49" charset="0"/>
              </a:rPr>
              <a:t>[root@db-server01 ~]# </a:t>
            </a:r>
            <a:r>
              <a:rPr lang="en-US" sz="1000" dirty="0" err="1">
                <a:latin typeface="Courier New" panose="02070309020205020404" pitchFamily="49" charset="0"/>
                <a:cs typeface="Courier New" panose="02070309020205020404" pitchFamily="49" charset="0"/>
              </a:rPr>
              <a:t>ndb_restore</a:t>
            </a:r>
            <a:r>
              <a:rPr lang="en-US" sz="1000" dirty="0">
                <a:latin typeface="Courier New" panose="02070309020205020404" pitchFamily="49" charset="0"/>
                <a:cs typeface="Courier New" panose="02070309020205020404" pitchFamily="49" charset="0"/>
              </a:rPr>
              <a:t> -n 2 -b 6 -r --</a:t>
            </a:r>
            <a:r>
              <a:rPr lang="en-US" sz="1000" dirty="0" err="1">
                <a:latin typeface="Courier New" panose="02070309020205020404" pitchFamily="49" charset="0"/>
                <a:cs typeface="Courier New" panose="02070309020205020404" pitchFamily="49" charset="0"/>
              </a:rPr>
              <a:t>backup_path</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usr</a:t>
            </a:r>
            <a:r>
              <a:rPr lang="en-US" sz="1000" dirty="0">
                <a:latin typeface="Courier New" panose="02070309020205020404" pitchFamily="49" charset="0"/>
                <a:cs typeface="Courier New" panose="02070309020205020404" pitchFamily="49" charset="0"/>
              </a:rPr>
              <a:t>/local/</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/data/BACKUP/BACKUP-6/ -m</a:t>
            </a:r>
          </a:p>
          <a:p>
            <a:r>
              <a:rPr lang="en-US" sz="1000" dirty="0" err="1">
                <a:latin typeface="Courier New" panose="02070309020205020404" pitchFamily="49" charset="0"/>
                <a:cs typeface="Courier New" panose="02070309020205020404" pitchFamily="49" charset="0"/>
              </a:rPr>
              <a:t>Nodeid</a:t>
            </a:r>
            <a:r>
              <a:rPr lang="en-US" sz="1000" dirty="0">
                <a:latin typeface="Courier New" panose="02070309020205020404" pitchFamily="49" charset="0"/>
                <a:cs typeface="Courier New" panose="02070309020205020404" pitchFamily="49" charset="0"/>
              </a:rPr>
              <a:t> = 2</a:t>
            </a:r>
          </a:p>
          <a:p>
            <a:r>
              <a:rPr lang="en-US" sz="1000" dirty="0">
                <a:latin typeface="Courier New" panose="02070309020205020404" pitchFamily="49" charset="0"/>
                <a:cs typeface="Courier New" panose="02070309020205020404" pitchFamily="49" charset="0"/>
              </a:rPr>
              <a:t>Backup Id = 6</a:t>
            </a:r>
          </a:p>
          <a:p>
            <a:r>
              <a:rPr lang="en-US" sz="1000" dirty="0">
                <a:latin typeface="Courier New" panose="02070309020205020404" pitchFamily="49" charset="0"/>
                <a:cs typeface="Courier New" panose="02070309020205020404" pitchFamily="49" charset="0"/>
              </a:rPr>
              <a:t>backup path = /</a:t>
            </a:r>
            <a:r>
              <a:rPr lang="en-US" sz="1000" dirty="0" err="1">
                <a:latin typeface="Courier New" panose="02070309020205020404" pitchFamily="49" charset="0"/>
                <a:cs typeface="Courier New" panose="02070309020205020404" pitchFamily="49" charset="0"/>
              </a:rPr>
              <a:t>usr</a:t>
            </a:r>
            <a:r>
              <a:rPr lang="en-US" sz="1000" dirty="0">
                <a:latin typeface="Courier New" panose="02070309020205020404" pitchFamily="49" charset="0"/>
                <a:cs typeface="Courier New" panose="02070309020205020404" pitchFamily="49" charset="0"/>
              </a:rPr>
              <a:t>/local/</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/data/BACKUP/BACKUP-6/</a:t>
            </a:r>
          </a:p>
          <a:p>
            <a:r>
              <a:rPr lang="en-US" sz="1000" dirty="0">
                <a:latin typeface="Courier New" panose="02070309020205020404" pitchFamily="49" charset="0"/>
                <a:cs typeface="Courier New" panose="02070309020205020404" pitchFamily="49" charset="0"/>
              </a:rPr>
              <a:t>2017-05-19 16:51:37 [</a:t>
            </a:r>
            <a:r>
              <a:rPr lang="en-US" sz="1000" dirty="0" err="1">
                <a:latin typeface="Courier New" panose="02070309020205020404" pitchFamily="49" charset="0"/>
                <a:cs typeface="Courier New" panose="02070309020205020404" pitchFamily="49" charset="0"/>
              </a:rPr>
              <a:t>restore_metadata</a:t>
            </a:r>
            <a:r>
              <a:rPr lang="en-US" sz="1000" dirty="0">
                <a:latin typeface="Courier New" panose="02070309020205020404" pitchFamily="49" charset="0"/>
                <a:cs typeface="Courier New" panose="02070309020205020404" pitchFamily="49" charset="0"/>
              </a:rPr>
              <a:t>] Read meta data file header</a:t>
            </a:r>
          </a:p>
          <a:p>
            <a:r>
              <a:rPr lang="en-US" sz="1000" dirty="0">
                <a:latin typeface="Courier New" panose="02070309020205020404" pitchFamily="49" charset="0"/>
                <a:cs typeface="Courier New" panose="02070309020205020404" pitchFamily="49" charset="0"/>
              </a:rPr>
              <a:t>Opening file '/</a:t>
            </a:r>
            <a:r>
              <a:rPr lang="en-US" sz="1000" dirty="0" err="1">
                <a:latin typeface="Courier New" panose="02070309020205020404" pitchFamily="49" charset="0"/>
                <a:cs typeface="Courier New" panose="02070309020205020404" pitchFamily="49" charset="0"/>
              </a:rPr>
              <a:t>usr</a:t>
            </a:r>
            <a:r>
              <a:rPr lang="en-US" sz="1000" dirty="0">
                <a:latin typeface="Courier New" panose="02070309020205020404" pitchFamily="49" charset="0"/>
                <a:cs typeface="Courier New" panose="02070309020205020404" pitchFamily="49" charset="0"/>
              </a:rPr>
              <a:t>/local/</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/data/BACKUP/BACKUP-6/BACKUP-6.2.ctl'</a:t>
            </a:r>
          </a:p>
          <a:p>
            <a:r>
              <a:rPr lang="en-US" sz="1000" dirty="0">
                <a:latin typeface="Courier New" panose="02070309020205020404" pitchFamily="49" charset="0"/>
                <a:cs typeface="Courier New" panose="02070309020205020404" pitchFamily="49" charset="0"/>
              </a:rPr>
              <a:t>File size 23172 bytes</a:t>
            </a:r>
          </a:p>
          <a:p>
            <a:r>
              <a:rPr lang="en-US" sz="1000" dirty="0">
                <a:latin typeface="Courier New" panose="02070309020205020404" pitchFamily="49" charset="0"/>
                <a:cs typeface="Courier New" panose="02070309020205020404" pitchFamily="49" charset="0"/>
              </a:rPr>
              <a:t>Backup version in files: ndb-6.3.11 </a:t>
            </a:r>
            <a:r>
              <a:rPr lang="en-US" sz="1000" dirty="0" err="1">
                <a:latin typeface="Courier New" panose="02070309020205020404" pitchFamily="49" charset="0"/>
                <a:cs typeface="Courier New" panose="02070309020205020404" pitchFamily="49" charset="0"/>
              </a:rPr>
              <a:t>ndb</a:t>
            </a:r>
            <a:r>
              <a:rPr lang="en-US" sz="1000" dirty="0">
                <a:latin typeface="Courier New" panose="02070309020205020404" pitchFamily="49" charset="0"/>
                <a:cs typeface="Courier New" panose="02070309020205020404" pitchFamily="49" charset="0"/>
              </a:rPr>
              <a:t> version: mysql-5.7.18 ndb-7.5.6</a:t>
            </a:r>
          </a:p>
          <a:p>
            <a:r>
              <a:rPr lang="en-US" sz="1000" dirty="0">
                <a:latin typeface="Courier New" panose="02070309020205020404" pitchFamily="49" charset="0"/>
                <a:cs typeface="Courier New" panose="02070309020205020404" pitchFamily="49" charset="0"/>
              </a:rPr>
              <a:t>2017-05-19 16:51:37 [</a:t>
            </a:r>
            <a:r>
              <a:rPr lang="en-US" sz="1000" dirty="0" err="1">
                <a:latin typeface="Courier New" panose="02070309020205020404" pitchFamily="49" charset="0"/>
                <a:cs typeface="Courier New" panose="02070309020205020404" pitchFamily="49" charset="0"/>
              </a:rPr>
              <a:t>restore_metadata</a:t>
            </a:r>
            <a:r>
              <a:rPr lang="en-US" sz="1000" dirty="0">
                <a:latin typeface="Courier New" panose="02070309020205020404" pitchFamily="49" charset="0"/>
                <a:cs typeface="Courier New" panose="02070309020205020404" pitchFamily="49" charset="0"/>
              </a:rPr>
              <a:t>] Load content</a:t>
            </a:r>
          </a:p>
          <a:p>
            <a:r>
              <a:rPr lang="en-US" sz="1000" dirty="0">
                <a:latin typeface="Courier New" panose="02070309020205020404" pitchFamily="49" charset="0"/>
                <a:cs typeface="Courier New" panose="02070309020205020404" pitchFamily="49" charset="0"/>
              </a:rPr>
              <a:t>Stop GCP of Backup: 68318</a:t>
            </a:r>
          </a:p>
          <a:p>
            <a:r>
              <a:rPr lang="en-US" sz="1000" dirty="0">
                <a:latin typeface="Courier New" panose="02070309020205020404" pitchFamily="49" charset="0"/>
                <a:cs typeface="Courier New" panose="02070309020205020404" pitchFamily="49" charset="0"/>
              </a:rPr>
              <a:t>2017-05-19 16:51:37 [</a:t>
            </a:r>
            <a:r>
              <a:rPr lang="en-US" sz="1000" dirty="0" err="1">
                <a:latin typeface="Courier New" panose="02070309020205020404" pitchFamily="49" charset="0"/>
                <a:cs typeface="Courier New" panose="02070309020205020404" pitchFamily="49" charset="0"/>
              </a:rPr>
              <a:t>restore_metadata</a:t>
            </a:r>
            <a:r>
              <a:rPr lang="en-US" sz="1000" dirty="0">
                <a:latin typeface="Courier New" panose="02070309020205020404" pitchFamily="49" charset="0"/>
                <a:cs typeface="Courier New" panose="02070309020205020404" pitchFamily="49" charset="0"/>
              </a:rPr>
              <a:t>] Get number of Tables</a:t>
            </a:r>
          </a:p>
          <a:p>
            <a:r>
              <a:rPr lang="en-US" sz="1000" dirty="0">
                <a:latin typeface="Courier New" panose="02070309020205020404" pitchFamily="49" charset="0"/>
                <a:cs typeface="Courier New" panose="02070309020205020404" pitchFamily="49" charset="0"/>
              </a:rPr>
              <a:t>2017-05-19 16:51:37 [</a:t>
            </a:r>
            <a:r>
              <a:rPr lang="en-US" sz="1000" dirty="0" err="1">
                <a:latin typeface="Courier New" panose="02070309020205020404" pitchFamily="49" charset="0"/>
                <a:cs typeface="Courier New" panose="02070309020205020404" pitchFamily="49" charset="0"/>
              </a:rPr>
              <a:t>restore_metadata</a:t>
            </a:r>
            <a:r>
              <a:rPr lang="en-US" sz="1000" dirty="0">
                <a:latin typeface="Courier New" panose="02070309020205020404" pitchFamily="49" charset="0"/>
                <a:cs typeface="Courier New" panose="02070309020205020404" pitchFamily="49" charset="0"/>
              </a:rPr>
              <a:t>] Validate Footer</a:t>
            </a:r>
          </a:p>
          <a:p>
            <a:r>
              <a:rPr lang="en-US" sz="1000" dirty="0">
                <a:latin typeface="Courier New" panose="02070309020205020404" pitchFamily="49" charset="0"/>
                <a:cs typeface="Courier New" panose="02070309020205020404" pitchFamily="49" charset="0"/>
              </a:rPr>
              <a:t>Connected to </a:t>
            </a:r>
            <a:r>
              <a:rPr lang="en-US" sz="1000" dirty="0" err="1">
                <a:latin typeface="Courier New" panose="02070309020205020404" pitchFamily="49" charset="0"/>
                <a:cs typeface="Courier New" panose="02070309020205020404" pitchFamily="49" charset="0"/>
              </a:rPr>
              <a:t>ndb</a:t>
            </a:r>
            <a:r>
              <a:rPr lang="en-US" sz="1000" dirty="0">
                <a:latin typeface="Courier New" panose="02070309020205020404" pitchFamily="49" charset="0"/>
                <a:cs typeface="Courier New" panose="02070309020205020404" pitchFamily="49" charset="0"/>
              </a:rPr>
              <a:t>!!</a:t>
            </a:r>
          </a:p>
          <a:p>
            <a:r>
              <a:rPr lang="en-US" sz="1000" dirty="0">
                <a:latin typeface="Courier New" panose="02070309020205020404" pitchFamily="49" charset="0"/>
                <a:cs typeface="Courier New" panose="02070309020205020404" pitchFamily="49" charset="0"/>
              </a:rPr>
              <a:t>2017-05-19 16:51:38 [</a:t>
            </a:r>
            <a:r>
              <a:rPr lang="en-US" sz="1000" dirty="0" err="1">
                <a:latin typeface="Courier New" panose="02070309020205020404" pitchFamily="49" charset="0"/>
                <a:cs typeface="Courier New" panose="02070309020205020404" pitchFamily="49" charset="0"/>
              </a:rPr>
              <a:t>restore_metadata</a:t>
            </a:r>
            <a:r>
              <a:rPr lang="en-US" sz="1000" dirty="0">
                <a:latin typeface="Courier New" panose="02070309020205020404" pitchFamily="49" charset="0"/>
                <a:cs typeface="Courier New" panose="02070309020205020404" pitchFamily="49" charset="0"/>
              </a:rPr>
              <a:t>] Restore objects (tablespaces, ..)</a:t>
            </a:r>
          </a:p>
          <a:p>
            <a:r>
              <a:rPr lang="en-US" sz="1000" dirty="0">
                <a:latin typeface="Courier New" panose="02070309020205020404" pitchFamily="49" charset="0"/>
                <a:cs typeface="Courier New" panose="02070309020205020404" pitchFamily="49" charset="0"/>
              </a:rPr>
              <a:t>2017-05-19 16:51:38 [</a:t>
            </a:r>
            <a:r>
              <a:rPr lang="en-US" sz="1000" dirty="0" err="1">
                <a:latin typeface="Courier New" panose="02070309020205020404" pitchFamily="49" charset="0"/>
                <a:cs typeface="Courier New" panose="02070309020205020404" pitchFamily="49" charset="0"/>
              </a:rPr>
              <a:t>restore_metadata</a:t>
            </a:r>
            <a:r>
              <a:rPr lang="en-US" sz="1000" dirty="0">
                <a:latin typeface="Courier New" panose="02070309020205020404" pitchFamily="49" charset="0"/>
                <a:cs typeface="Courier New" panose="02070309020205020404" pitchFamily="49" charset="0"/>
              </a:rPr>
              <a:t>] Restoring tables</a:t>
            </a:r>
          </a:p>
          <a:p>
            <a:r>
              <a:rPr lang="en-US" sz="1000" dirty="0">
                <a:latin typeface="Courier New" panose="02070309020205020404" pitchFamily="49" charset="0"/>
                <a:cs typeface="Courier New" panose="02070309020205020404" pitchFamily="49" charset="0"/>
              </a:rPr>
              <a:t>Successfully restored table `</a:t>
            </a:r>
            <a:r>
              <a:rPr lang="en-US" sz="1000" dirty="0" err="1">
                <a:latin typeface="Courier New" panose="02070309020205020404" pitchFamily="49" charset="0"/>
                <a:cs typeface="Courier New" panose="02070309020205020404" pitchFamily="49" charset="0"/>
              </a:rPr>
              <a:t>test_db</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def</a:t>
            </a:r>
            <a:r>
              <a:rPr lang="en-US" sz="1000" dirty="0">
                <a:latin typeface="Courier New" panose="02070309020205020404" pitchFamily="49" charset="0"/>
                <a:cs typeface="Courier New" panose="02070309020205020404" pitchFamily="49" charset="0"/>
              </a:rPr>
              <a:t>/City`</a:t>
            </a:r>
          </a:p>
          <a:p>
            <a:r>
              <a:rPr lang="en-US" sz="1000" dirty="0">
                <a:latin typeface="Courier New" panose="02070309020205020404" pitchFamily="49" charset="0"/>
                <a:cs typeface="Courier New" panose="02070309020205020404" pitchFamily="49" charset="0"/>
              </a:rPr>
              <a:t>Successfully restored table event </a:t>
            </a:r>
            <a:r>
              <a:rPr lang="en-US" sz="1000" dirty="0" err="1">
                <a:latin typeface="Courier New" panose="02070309020205020404" pitchFamily="49" charset="0"/>
                <a:cs typeface="Courier New" panose="02070309020205020404" pitchFamily="49" charset="0"/>
              </a:rPr>
              <a:t>REPL$test_db</a:t>
            </a:r>
            <a:r>
              <a:rPr lang="en-US" sz="1000" dirty="0">
                <a:latin typeface="Courier New" panose="02070309020205020404" pitchFamily="49" charset="0"/>
                <a:cs typeface="Courier New" panose="02070309020205020404" pitchFamily="49" charset="0"/>
              </a:rPr>
              <a:t>/City</a:t>
            </a:r>
          </a:p>
          <a:p>
            <a:r>
              <a:rPr lang="en-US" sz="1000" dirty="0">
                <a:latin typeface="Courier New" panose="02070309020205020404" pitchFamily="49" charset="0"/>
                <a:cs typeface="Courier New" panose="02070309020205020404" pitchFamily="49" charset="0"/>
              </a:rPr>
              <a:t>2017-05-19 16:51:38 [</a:t>
            </a:r>
            <a:r>
              <a:rPr lang="en-US" sz="1000" dirty="0" err="1">
                <a:latin typeface="Courier New" panose="02070309020205020404" pitchFamily="49" charset="0"/>
                <a:cs typeface="Courier New" panose="02070309020205020404" pitchFamily="49" charset="0"/>
              </a:rPr>
              <a:t>restore_metadata</a:t>
            </a:r>
            <a:r>
              <a:rPr lang="en-US" sz="1000" dirty="0">
                <a:latin typeface="Courier New" panose="02070309020205020404" pitchFamily="49" charset="0"/>
                <a:cs typeface="Courier New" panose="02070309020205020404" pitchFamily="49" charset="0"/>
              </a:rPr>
              <a:t>] Save foreign key info</a:t>
            </a:r>
          </a:p>
          <a:p>
            <a:r>
              <a:rPr lang="en-US" sz="1000" dirty="0">
                <a:latin typeface="Courier New" panose="02070309020205020404" pitchFamily="49" charset="0"/>
                <a:cs typeface="Courier New" panose="02070309020205020404" pitchFamily="49" charset="0"/>
              </a:rPr>
              <a:t>Successfully created index `PRIMARY` on `City`</a:t>
            </a:r>
          </a:p>
          <a:p>
            <a:r>
              <a:rPr lang="en-US" sz="1000" dirty="0">
                <a:latin typeface="Courier New" panose="02070309020205020404" pitchFamily="49" charset="0"/>
                <a:cs typeface="Courier New" panose="02070309020205020404" pitchFamily="49" charset="0"/>
              </a:rPr>
              <a:t>Create foreign keys</a:t>
            </a:r>
          </a:p>
          <a:p>
            <a:r>
              <a:rPr lang="en-US" sz="1000" dirty="0">
                <a:latin typeface="Courier New" panose="02070309020205020404" pitchFamily="49" charset="0"/>
                <a:cs typeface="Courier New" panose="02070309020205020404" pitchFamily="49" charset="0"/>
              </a:rPr>
              <a:t>Create foreign keys done</a:t>
            </a:r>
          </a:p>
          <a:p>
            <a:r>
              <a:rPr lang="en-US" sz="1000" dirty="0">
                <a:latin typeface="Courier New" panose="02070309020205020404" pitchFamily="49" charset="0"/>
                <a:cs typeface="Courier New" panose="02070309020205020404" pitchFamily="49" charset="0"/>
              </a:rPr>
              <a:t>2017-05-19 16:51:38 [</a:t>
            </a:r>
            <a:r>
              <a:rPr lang="en-US" sz="1000" dirty="0" err="1">
                <a:latin typeface="Courier New" panose="02070309020205020404" pitchFamily="49" charset="0"/>
                <a:cs typeface="Courier New" panose="02070309020205020404" pitchFamily="49" charset="0"/>
              </a:rPr>
              <a:t>restore_data</a:t>
            </a:r>
            <a:r>
              <a:rPr lang="en-US" sz="1000" dirty="0">
                <a:latin typeface="Courier New" panose="02070309020205020404" pitchFamily="49" charset="0"/>
                <a:cs typeface="Courier New" panose="02070309020205020404" pitchFamily="49" charset="0"/>
              </a:rPr>
              <a:t>] Start restoring table data</a:t>
            </a:r>
          </a:p>
          <a:p>
            <a:r>
              <a:rPr lang="en-US" sz="1000" dirty="0">
                <a:latin typeface="Courier New" panose="02070309020205020404" pitchFamily="49" charset="0"/>
                <a:cs typeface="Courier New" panose="02070309020205020404" pitchFamily="49" charset="0"/>
              </a:rPr>
              <a:t>2017-05-19 16:51:38 [</a:t>
            </a:r>
            <a:r>
              <a:rPr lang="en-US" sz="1000" dirty="0" err="1">
                <a:latin typeface="Courier New" panose="02070309020205020404" pitchFamily="49" charset="0"/>
                <a:cs typeface="Courier New" panose="02070309020205020404" pitchFamily="49" charset="0"/>
              </a:rPr>
              <a:t>restore_data</a:t>
            </a:r>
            <a:r>
              <a:rPr lang="en-US" sz="1000" dirty="0">
                <a:latin typeface="Courier New" panose="02070309020205020404" pitchFamily="49" charset="0"/>
                <a:cs typeface="Courier New" panose="02070309020205020404" pitchFamily="49" charset="0"/>
              </a:rPr>
              <a:t>] Read data file header</a:t>
            </a:r>
          </a:p>
          <a:p>
            <a:r>
              <a:rPr lang="en-US" sz="1000" dirty="0">
                <a:latin typeface="Courier New" panose="02070309020205020404" pitchFamily="49" charset="0"/>
                <a:cs typeface="Courier New" panose="02070309020205020404" pitchFamily="49" charset="0"/>
              </a:rPr>
              <a:t>Opening file '/</a:t>
            </a:r>
            <a:r>
              <a:rPr lang="en-US" sz="1000" dirty="0" err="1">
                <a:latin typeface="Courier New" panose="02070309020205020404" pitchFamily="49" charset="0"/>
                <a:cs typeface="Courier New" panose="02070309020205020404" pitchFamily="49" charset="0"/>
              </a:rPr>
              <a:t>usr</a:t>
            </a:r>
            <a:r>
              <a:rPr lang="en-US" sz="1000" dirty="0">
                <a:latin typeface="Courier New" panose="02070309020205020404" pitchFamily="49" charset="0"/>
                <a:cs typeface="Courier New" panose="02070309020205020404" pitchFamily="49" charset="0"/>
              </a:rPr>
              <a:t>/local/</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/data/BACKUP/BACKUP-6/BACKUP-6-0.2.Data'</a:t>
            </a:r>
          </a:p>
          <a:p>
            <a:r>
              <a:rPr lang="en-US" sz="1000" dirty="0">
                <a:latin typeface="Courier New" panose="02070309020205020404" pitchFamily="49" charset="0"/>
                <a:cs typeface="Courier New" panose="02070309020205020404" pitchFamily="49" charset="0"/>
              </a:rPr>
              <a:t>File size 101480 </a:t>
            </a:r>
            <a:r>
              <a:rPr lang="en-US" sz="1000" dirty="0" smtClean="0">
                <a:latin typeface="Courier New" panose="02070309020205020404" pitchFamily="49" charset="0"/>
                <a:cs typeface="Courier New" panose="02070309020205020404" pitchFamily="49" charset="0"/>
              </a:rPr>
              <a:t>bytes</a:t>
            </a:r>
            <a:endParaRPr lang="en-US"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502924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リストア　</a:t>
            </a:r>
            <a:r>
              <a:rPr lang="ja-JP" altLang="en-US" dirty="0" smtClean="0"/>
              <a:t>（</a:t>
            </a:r>
            <a:r>
              <a:rPr lang="en-US" altLang="ja-JP" dirty="0" smtClean="0"/>
              <a:t>3/4</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lstStyle/>
          <a:p>
            <a:pPr marL="0" indent="0">
              <a:buNone/>
            </a:pPr>
            <a:endParaRPr kumimoji="1" lang="ja-JP" altLang="en-US" dirty="0"/>
          </a:p>
        </p:txBody>
      </p:sp>
      <p:sp>
        <p:nvSpPr>
          <p:cNvPr id="4" name="TextBox 2"/>
          <p:cNvSpPr txBox="1"/>
          <p:nvPr/>
        </p:nvSpPr>
        <p:spPr>
          <a:xfrm>
            <a:off x="746295" y="1339845"/>
            <a:ext cx="7651411" cy="3785652"/>
          </a:xfrm>
          <a:prstGeom prst="rect">
            <a:avLst/>
          </a:prstGeom>
          <a:solidFill>
            <a:schemeClr val="bg1">
              <a:lumMod val="85000"/>
            </a:schemeClr>
          </a:solidFill>
          <a:ln>
            <a:solidFill>
              <a:sysClr val="windowText" lastClr="000000"/>
            </a:solidFill>
          </a:ln>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sz="1000" dirty="0">
                <a:latin typeface="Courier New" panose="02070309020205020404" pitchFamily="49" charset="0"/>
                <a:cs typeface="Courier New" panose="02070309020205020404" pitchFamily="49" charset="0"/>
              </a:rPr>
              <a:t>2017-05-19 16:51:38 [</a:t>
            </a:r>
            <a:r>
              <a:rPr lang="en-US" sz="1000" dirty="0" err="1">
                <a:latin typeface="Courier New" panose="02070309020205020404" pitchFamily="49" charset="0"/>
                <a:cs typeface="Courier New" panose="02070309020205020404" pitchFamily="49" charset="0"/>
              </a:rPr>
              <a:t>restore_data</a:t>
            </a:r>
            <a:r>
              <a:rPr lang="en-US" sz="1000" dirty="0">
                <a:latin typeface="Courier New" panose="02070309020205020404" pitchFamily="49" charset="0"/>
                <a:cs typeface="Courier New" panose="02070309020205020404" pitchFamily="49" charset="0"/>
              </a:rPr>
              <a:t>] Restore fragments</a:t>
            </a:r>
          </a:p>
          <a:p>
            <a:r>
              <a:rPr lang="en-US" sz="1000" dirty="0">
                <a:latin typeface="Courier New" panose="02070309020205020404" pitchFamily="49" charset="0"/>
                <a:cs typeface="Courier New" panose="02070309020205020404" pitchFamily="49" charset="0"/>
              </a:rPr>
              <a:t>_____________________________________________________</a:t>
            </a:r>
          </a:p>
          <a:p>
            <a:r>
              <a:rPr lang="en-US" sz="1000" dirty="0">
                <a:latin typeface="Courier New" panose="02070309020205020404" pitchFamily="49" charset="0"/>
                <a:cs typeface="Courier New" panose="02070309020205020404" pitchFamily="49" charset="0"/>
              </a:rPr>
              <a:t>Processing data in table: </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def</a:t>
            </a:r>
            <a:r>
              <a:rPr lang="en-US" sz="1000" dirty="0">
                <a:latin typeface="Courier New" panose="02070309020205020404" pitchFamily="49" charset="0"/>
                <a:cs typeface="Courier New" panose="02070309020205020404" pitchFamily="49" charset="0"/>
              </a:rPr>
              <a:t>/NDB$BLOB_7_3(8) fragment 0</a:t>
            </a:r>
          </a:p>
          <a:p>
            <a:r>
              <a:rPr lang="en-US" sz="1000" dirty="0">
                <a:latin typeface="Courier New" panose="02070309020205020404" pitchFamily="49" charset="0"/>
                <a:cs typeface="Courier New" panose="02070309020205020404" pitchFamily="49" charset="0"/>
              </a:rPr>
              <a:t>_____________________________________________________</a:t>
            </a:r>
          </a:p>
          <a:p>
            <a:r>
              <a:rPr lang="en-US" sz="1000" dirty="0">
                <a:latin typeface="Courier New" panose="02070309020205020404" pitchFamily="49" charset="0"/>
                <a:cs typeface="Courier New" panose="02070309020205020404" pitchFamily="49" charset="0"/>
              </a:rPr>
              <a:t>Processing data in table: </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def</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ndb_index_stat_sample</a:t>
            </a:r>
            <a:r>
              <a:rPr lang="en-US" sz="1000" dirty="0">
                <a:latin typeface="Courier New" panose="02070309020205020404" pitchFamily="49" charset="0"/>
                <a:cs typeface="Courier New" panose="02070309020205020404" pitchFamily="49" charset="0"/>
              </a:rPr>
              <a:t>(5) fragment 0</a:t>
            </a:r>
          </a:p>
          <a:p>
            <a:r>
              <a:rPr lang="en-US" sz="1000" dirty="0">
                <a:latin typeface="Courier New" panose="02070309020205020404" pitchFamily="49" charset="0"/>
                <a:cs typeface="Courier New" panose="02070309020205020404" pitchFamily="49" charset="0"/>
              </a:rPr>
              <a:t>_____________________________________________________</a:t>
            </a:r>
          </a:p>
          <a:p>
            <a:r>
              <a:rPr lang="en-US" sz="1000" dirty="0">
                <a:latin typeface="Courier New" panose="02070309020205020404" pitchFamily="49" charset="0"/>
                <a:cs typeface="Courier New" panose="02070309020205020404" pitchFamily="49" charset="0"/>
              </a:rPr>
              <a:t>Processing data in table: sys/</a:t>
            </a:r>
            <a:r>
              <a:rPr lang="en-US" sz="1000" dirty="0" err="1">
                <a:latin typeface="Courier New" panose="02070309020205020404" pitchFamily="49" charset="0"/>
                <a:cs typeface="Courier New" panose="02070309020205020404" pitchFamily="49" charset="0"/>
              </a:rPr>
              <a:t>def</a:t>
            </a:r>
            <a:r>
              <a:rPr lang="en-US" sz="1000" dirty="0">
                <a:latin typeface="Courier New" panose="02070309020205020404" pitchFamily="49" charset="0"/>
                <a:cs typeface="Courier New" panose="02070309020205020404" pitchFamily="49" charset="0"/>
              </a:rPr>
              <a:t>/NDB$EVENTS_0(3) fragment 0</a:t>
            </a:r>
          </a:p>
          <a:p>
            <a:r>
              <a:rPr lang="en-US" sz="1000" dirty="0">
                <a:latin typeface="Courier New" panose="02070309020205020404" pitchFamily="49" charset="0"/>
                <a:cs typeface="Courier New" panose="02070309020205020404" pitchFamily="49" charset="0"/>
              </a:rPr>
              <a:t>_____________________________________________________</a:t>
            </a:r>
          </a:p>
          <a:p>
            <a:r>
              <a:rPr lang="en-US" sz="1000" dirty="0">
                <a:latin typeface="Courier New" panose="02070309020205020404" pitchFamily="49" charset="0"/>
                <a:cs typeface="Courier New" panose="02070309020205020404" pitchFamily="49" charset="0"/>
              </a:rPr>
              <a:t>Processing data in table: </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def</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ndb_apply_status</a:t>
            </a:r>
            <a:r>
              <a:rPr lang="en-US" sz="1000" dirty="0">
                <a:latin typeface="Courier New" panose="02070309020205020404" pitchFamily="49" charset="0"/>
                <a:cs typeface="Courier New" panose="02070309020205020404" pitchFamily="49" charset="0"/>
              </a:rPr>
              <a:t>(9) fragment 0</a:t>
            </a:r>
          </a:p>
          <a:p>
            <a:r>
              <a:rPr lang="en-US" sz="1000" dirty="0">
                <a:latin typeface="Courier New" panose="02070309020205020404" pitchFamily="49" charset="0"/>
                <a:cs typeface="Courier New" panose="02070309020205020404" pitchFamily="49" charset="0"/>
              </a:rPr>
              <a:t>_____________________________________________________</a:t>
            </a:r>
          </a:p>
          <a:p>
            <a:r>
              <a:rPr lang="en-US" sz="1000" dirty="0">
                <a:latin typeface="Courier New" panose="02070309020205020404" pitchFamily="49" charset="0"/>
                <a:cs typeface="Courier New" panose="02070309020205020404" pitchFamily="49" charset="0"/>
              </a:rPr>
              <a:t>Processing data in table: </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def</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ndb_index_stat_head</a:t>
            </a:r>
            <a:r>
              <a:rPr lang="en-US" sz="1000" dirty="0">
                <a:latin typeface="Courier New" panose="02070309020205020404" pitchFamily="49" charset="0"/>
                <a:cs typeface="Courier New" panose="02070309020205020404" pitchFamily="49" charset="0"/>
              </a:rPr>
              <a:t>(4) fragment 0</a:t>
            </a:r>
          </a:p>
          <a:p>
            <a:r>
              <a:rPr lang="en-US" sz="1000" dirty="0">
                <a:latin typeface="Courier New" panose="02070309020205020404" pitchFamily="49" charset="0"/>
                <a:cs typeface="Courier New" panose="02070309020205020404" pitchFamily="49" charset="0"/>
              </a:rPr>
              <a:t>_____________________________________________________</a:t>
            </a:r>
          </a:p>
          <a:p>
            <a:r>
              <a:rPr lang="en-US" sz="1000" dirty="0">
                <a:latin typeface="Courier New" panose="02070309020205020404" pitchFamily="49" charset="0"/>
                <a:cs typeface="Courier New" panose="02070309020205020404" pitchFamily="49" charset="0"/>
              </a:rPr>
              <a:t>Processing data in table: sys/</a:t>
            </a:r>
            <a:r>
              <a:rPr lang="en-US" sz="1000" dirty="0" err="1">
                <a:latin typeface="Courier New" panose="02070309020205020404" pitchFamily="49" charset="0"/>
                <a:cs typeface="Courier New" panose="02070309020205020404" pitchFamily="49" charset="0"/>
              </a:rPr>
              <a:t>def</a:t>
            </a:r>
            <a:r>
              <a:rPr lang="en-US" sz="1000" dirty="0">
                <a:latin typeface="Courier New" panose="02070309020205020404" pitchFamily="49" charset="0"/>
                <a:cs typeface="Courier New" panose="02070309020205020404" pitchFamily="49" charset="0"/>
              </a:rPr>
              <a:t>/SYSTAB_0(2) fragment 0</a:t>
            </a:r>
          </a:p>
          <a:p>
            <a:r>
              <a:rPr lang="en-US" sz="1000" dirty="0">
                <a:latin typeface="Courier New" panose="02070309020205020404" pitchFamily="49" charset="0"/>
                <a:cs typeface="Courier New" panose="02070309020205020404" pitchFamily="49" charset="0"/>
              </a:rPr>
              <a:t>_____________________________________________________</a:t>
            </a:r>
          </a:p>
          <a:p>
            <a:r>
              <a:rPr lang="en-US" sz="1000" dirty="0">
                <a:latin typeface="Courier New" panose="02070309020205020404" pitchFamily="49" charset="0"/>
                <a:cs typeface="Courier New" panose="02070309020205020404" pitchFamily="49" charset="0"/>
              </a:rPr>
              <a:t>Processing data in table: </a:t>
            </a:r>
            <a:r>
              <a:rPr lang="en-US" sz="1000" dirty="0" err="1">
                <a:latin typeface="Courier New" panose="02070309020205020404" pitchFamily="49" charset="0"/>
                <a:cs typeface="Courier New" panose="02070309020205020404" pitchFamily="49" charset="0"/>
              </a:rPr>
              <a:t>test_db</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def</a:t>
            </a:r>
            <a:r>
              <a:rPr lang="en-US" sz="1000" dirty="0">
                <a:latin typeface="Courier New" panose="02070309020205020404" pitchFamily="49" charset="0"/>
                <a:cs typeface="Courier New" panose="02070309020205020404" pitchFamily="49" charset="0"/>
              </a:rPr>
              <a:t>/City(10) fragment 0</a:t>
            </a:r>
          </a:p>
          <a:p>
            <a:r>
              <a:rPr lang="en-US" sz="1000" dirty="0">
                <a:latin typeface="Courier New" panose="02070309020205020404" pitchFamily="49" charset="0"/>
                <a:cs typeface="Courier New" panose="02070309020205020404" pitchFamily="49" charset="0"/>
              </a:rPr>
              <a:t>_____________________________________________________</a:t>
            </a:r>
          </a:p>
          <a:p>
            <a:r>
              <a:rPr lang="en-US" sz="1000" dirty="0">
                <a:latin typeface="Courier New" panose="02070309020205020404" pitchFamily="49" charset="0"/>
                <a:cs typeface="Courier New" panose="02070309020205020404" pitchFamily="49" charset="0"/>
              </a:rPr>
              <a:t>Processing data in table: </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def</a:t>
            </a:r>
            <a:r>
              <a:rPr lang="en-US" sz="1000" dirty="0">
                <a:latin typeface="Courier New" panose="02070309020205020404" pitchFamily="49" charset="0"/>
                <a:cs typeface="Courier New" panose="02070309020205020404" pitchFamily="49" charset="0"/>
              </a:rPr>
              <a:t>/</a:t>
            </a:r>
            <a:r>
              <a:rPr lang="en-US" sz="1000" dirty="0" err="1">
                <a:latin typeface="Courier New" panose="02070309020205020404" pitchFamily="49" charset="0"/>
                <a:cs typeface="Courier New" panose="02070309020205020404" pitchFamily="49" charset="0"/>
              </a:rPr>
              <a:t>ndb_schema</a:t>
            </a:r>
            <a:r>
              <a:rPr lang="en-US" sz="1000" dirty="0">
                <a:latin typeface="Courier New" panose="02070309020205020404" pitchFamily="49" charset="0"/>
                <a:cs typeface="Courier New" panose="02070309020205020404" pitchFamily="49" charset="0"/>
              </a:rPr>
              <a:t>(7) fragment 0</a:t>
            </a:r>
          </a:p>
          <a:p>
            <a:r>
              <a:rPr lang="en-US" sz="1000" dirty="0">
                <a:latin typeface="Courier New" panose="02070309020205020404" pitchFamily="49" charset="0"/>
                <a:cs typeface="Courier New" panose="02070309020205020404" pitchFamily="49" charset="0"/>
              </a:rPr>
              <a:t>2017-05-19 16:51:38 [</a:t>
            </a:r>
            <a:r>
              <a:rPr lang="en-US" sz="1000" dirty="0" err="1">
                <a:latin typeface="Courier New" panose="02070309020205020404" pitchFamily="49" charset="0"/>
                <a:cs typeface="Courier New" panose="02070309020205020404" pitchFamily="49" charset="0"/>
              </a:rPr>
              <a:t>restore_log</a:t>
            </a:r>
            <a:r>
              <a:rPr lang="en-US" sz="1000" dirty="0">
                <a:latin typeface="Courier New" panose="02070309020205020404" pitchFamily="49" charset="0"/>
                <a:cs typeface="Courier New" panose="02070309020205020404" pitchFamily="49" charset="0"/>
              </a:rPr>
              <a:t>] Read log file header</a:t>
            </a:r>
          </a:p>
          <a:p>
            <a:r>
              <a:rPr lang="en-US" sz="1000" dirty="0">
                <a:latin typeface="Courier New" panose="02070309020205020404" pitchFamily="49" charset="0"/>
                <a:cs typeface="Courier New" panose="02070309020205020404" pitchFamily="49" charset="0"/>
              </a:rPr>
              <a:t>Opening file '/</a:t>
            </a:r>
            <a:r>
              <a:rPr lang="en-US" sz="1000" dirty="0" err="1">
                <a:latin typeface="Courier New" panose="02070309020205020404" pitchFamily="49" charset="0"/>
                <a:cs typeface="Courier New" panose="02070309020205020404" pitchFamily="49" charset="0"/>
              </a:rPr>
              <a:t>usr</a:t>
            </a:r>
            <a:r>
              <a:rPr lang="en-US" sz="1000" dirty="0">
                <a:latin typeface="Courier New" panose="02070309020205020404" pitchFamily="49" charset="0"/>
                <a:cs typeface="Courier New" panose="02070309020205020404" pitchFamily="49" charset="0"/>
              </a:rPr>
              <a:t>/local/</a:t>
            </a:r>
            <a:r>
              <a:rPr lang="en-US" sz="1000" dirty="0" err="1">
                <a:latin typeface="Courier New" panose="02070309020205020404" pitchFamily="49" charset="0"/>
                <a:cs typeface="Courier New" panose="02070309020205020404" pitchFamily="49" charset="0"/>
              </a:rPr>
              <a:t>mysql</a:t>
            </a:r>
            <a:r>
              <a:rPr lang="en-US" sz="1000" dirty="0">
                <a:latin typeface="Courier New" panose="02070309020205020404" pitchFamily="49" charset="0"/>
                <a:cs typeface="Courier New" panose="02070309020205020404" pitchFamily="49" charset="0"/>
              </a:rPr>
              <a:t>/data/BACKUP/BACKUP-6/BACKUP-6.2.log'</a:t>
            </a:r>
          </a:p>
          <a:p>
            <a:r>
              <a:rPr lang="en-US" sz="1000" dirty="0">
                <a:latin typeface="Courier New" panose="02070309020205020404" pitchFamily="49" charset="0"/>
                <a:cs typeface="Courier New" panose="02070309020205020404" pitchFamily="49" charset="0"/>
              </a:rPr>
              <a:t>File size 52 bytes</a:t>
            </a:r>
          </a:p>
          <a:p>
            <a:r>
              <a:rPr lang="en-US" sz="1000" dirty="0">
                <a:latin typeface="Courier New" panose="02070309020205020404" pitchFamily="49" charset="0"/>
                <a:cs typeface="Courier New" panose="02070309020205020404" pitchFamily="49" charset="0"/>
              </a:rPr>
              <a:t>2017-05-19 16:51:39 [</a:t>
            </a:r>
            <a:r>
              <a:rPr lang="en-US" sz="1000" dirty="0" err="1">
                <a:latin typeface="Courier New" panose="02070309020205020404" pitchFamily="49" charset="0"/>
                <a:cs typeface="Courier New" panose="02070309020205020404" pitchFamily="49" charset="0"/>
              </a:rPr>
              <a:t>restore_log</a:t>
            </a:r>
            <a:r>
              <a:rPr lang="en-US" sz="1000" dirty="0">
                <a:latin typeface="Courier New" panose="02070309020205020404" pitchFamily="49" charset="0"/>
                <a:cs typeface="Courier New" panose="02070309020205020404" pitchFamily="49" charset="0"/>
              </a:rPr>
              <a:t>] Restore log entries</a:t>
            </a:r>
          </a:p>
          <a:p>
            <a:r>
              <a:rPr lang="en-US" sz="1000" dirty="0">
                <a:latin typeface="Courier New" panose="02070309020205020404" pitchFamily="49" charset="0"/>
                <a:cs typeface="Courier New" panose="02070309020205020404" pitchFamily="49" charset="0"/>
              </a:rPr>
              <a:t>Restored 940 tuples and 0 log entries</a:t>
            </a:r>
          </a:p>
          <a:p>
            <a:endParaRPr lang="en-US" sz="1000" dirty="0">
              <a:latin typeface="Courier New" panose="02070309020205020404" pitchFamily="49" charset="0"/>
              <a:cs typeface="Courier New" panose="02070309020205020404" pitchFamily="49" charset="0"/>
            </a:endParaRPr>
          </a:p>
          <a:p>
            <a:r>
              <a:rPr lang="en-US" sz="1000" dirty="0" err="1">
                <a:latin typeface="Courier New" panose="02070309020205020404" pitchFamily="49" charset="0"/>
                <a:cs typeface="Courier New" panose="02070309020205020404" pitchFamily="49" charset="0"/>
              </a:rPr>
              <a:t>NDBT_ProgramExit</a:t>
            </a:r>
            <a:r>
              <a:rPr lang="en-US" sz="1000" dirty="0">
                <a:latin typeface="Courier New" panose="02070309020205020404" pitchFamily="49" charset="0"/>
                <a:cs typeface="Courier New" panose="02070309020205020404" pitchFamily="49" charset="0"/>
              </a:rPr>
              <a:t>: 0 - OK</a:t>
            </a:r>
          </a:p>
        </p:txBody>
      </p:sp>
    </p:spTree>
    <p:extLst>
      <p:ext uri="{BB962C8B-B14F-4D97-AF65-F5344CB8AC3E}">
        <p14:creationId xmlns:p14="http://schemas.microsoft.com/office/powerpoint/2010/main" val="4502924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リストア　</a:t>
            </a:r>
            <a:r>
              <a:rPr lang="ja-JP" altLang="en-US" dirty="0" smtClean="0"/>
              <a:t>（</a:t>
            </a:r>
            <a:r>
              <a:rPr lang="en-US" altLang="ja-JP" dirty="0" smtClean="0"/>
              <a:t>4/4</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ja-JP" altLang="en-US" sz="1600" dirty="0"/>
              <a:t>考慮すべき事項</a:t>
            </a:r>
            <a:endParaRPr kumimoji="1" lang="en-US" altLang="ja-JP" sz="1600" dirty="0" smtClean="0">
              <a:latin typeface="+mj-lt"/>
            </a:endParaRPr>
          </a:p>
          <a:p>
            <a:pPr lvl="1"/>
            <a:r>
              <a:rPr lang="en-US" altLang="ja-JP" sz="1200" dirty="0" err="1"/>
              <a:t>ndb_restore</a:t>
            </a:r>
            <a:r>
              <a:rPr lang="ja-JP" altLang="en-US" sz="1200" dirty="0"/>
              <a:t>を使用する前に、複数のデータノードをパラレルにリストアしない限り、クラスタをシングルユーザモードで実行することをお勧めします</a:t>
            </a:r>
            <a:r>
              <a:rPr lang="ja-JP" altLang="en-US" sz="1200" dirty="0" smtClean="0"/>
              <a:t>。</a:t>
            </a:r>
            <a:endParaRPr lang="en-US" sz="1200" dirty="0" smtClean="0">
              <a:latin typeface="+mj-lt"/>
              <a:cs typeface="Courier New" panose="02070309020205020404" pitchFamily="49" charset="0"/>
            </a:endParaRPr>
          </a:p>
          <a:p>
            <a:pPr lvl="1" fontAlgn="auto"/>
            <a:r>
              <a:rPr lang="en-US" altLang="ja-JP" sz="1200" dirty="0"/>
              <a:t>MySQL</a:t>
            </a:r>
            <a:r>
              <a:rPr lang="ja-JP" altLang="en-US" sz="1200" dirty="0"/>
              <a:t>サーバや他のアプリケーションでこのような理由で使用されていない</a:t>
            </a:r>
            <a:r>
              <a:rPr lang="en-US" altLang="ja-JP" sz="1200" dirty="0"/>
              <a:t>config.ini</a:t>
            </a:r>
            <a:r>
              <a:rPr lang="ja-JP" altLang="en-US" sz="1200" dirty="0"/>
              <a:t>に空の</a:t>
            </a:r>
            <a:r>
              <a:rPr lang="en-US" altLang="ja-JP" sz="1200" dirty="0"/>
              <a:t>[</a:t>
            </a:r>
            <a:r>
              <a:rPr lang="en-US" altLang="ja-JP" sz="1200" dirty="0" err="1"/>
              <a:t>api</a:t>
            </a:r>
            <a:r>
              <a:rPr lang="en-US" altLang="ja-JP" sz="1200" dirty="0"/>
              <a:t>]</a:t>
            </a:r>
            <a:r>
              <a:rPr lang="ja-JP" altLang="en-US" sz="1200" dirty="0"/>
              <a:t>セクションまたは</a:t>
            </a:r>
            <a:r>
              <a:rPr lang="en-US" altLang="ja-JP" sz="1200" dirty="0"/>
              <a:t>[</a:t>
            </a:r>
            <a:r>
              <a:rPr lang="en-US" altLang="ja-JP" sz="1200" dirty="0" err="1"/>
              <a:t>mysqld</a:t>
            </a:r>
            <a:r>
              <a:rPr lang="en-US" altLang="ja-JP" sz="1200" dirty="0"/>
              <a:t>]</a:t>
            </a:r>
            <a:r>
              <a:rPr lang="ja-JP" altLang="en-US" sz="1200" dirty="0"/>
              <a:t>セクションを少なくとも</a:t>
            </a:r>
            <a:r>
              <a:rPr lang="en-US" altLang="ja-JP" sz="1200" dirty="0"/>
              <a:t>1</a:t>
            </a:r>
            <a:r>
              <a:rPr lang="ja-JP" altLang="en-US" sz="1200" dirty="0"/>
              <a:t>つは残しておくことをお勧めしま</a:t>
            </a:r>
            <a:r>
              <a:rPr lang="ja-JP" altLang="en-US" sz="1200" dirty="0" smtClean="0"/>
              <a:t>す。</a:t>
            </a:r>
            <a:endParaRPr lang="en-US" sz="1200" dirty="0" smtClean="0">
              <a:latin typeface="+mj-lt"/>
              <a:cs typeface="Courier New" panose="02070309020205020404" pitchFamily="49" charset="0"/>
            </a:endParaRPr>
          </a:p>
          <a:p>
            <a:pPr lvl="1" fontAlgn="auto"/>
            <a:r>
              <a:rPr lang="en-US" altLang="ja-JP" sz="1200" dirty="0" err="1"/>
              <a:t>connection_string</a:t>
            </a:r>
            <a:r>
              <a:rPr lang="ja-JP" altLang="en-US" sz="1200" dirty="0"/>
              <a:t>が指定されていない場合、デフォルトの</a:t>
            </a:r>
            <a:r>
              <a:rPr lang="en-US" altLang="ja-JP" sz="1200" dirty="0"/>
              <a:t>localhost</a:t>
            </a:r>
            <a:r>
              <a:rPr lang="ja-JP" altLang="en-US" sz="1200" dirty="0"/>
              <a:t>：</a:t>
            </a:r>
            <a:r>
              <a:rPr lang="en-US" altLang="ja-JP" sz="1200" dirty="0"/>
              <a:t>1186</a:t>
            </a:r>
            <a:r>
              <a:rPr lang="ja-JP" altLang="en-US" sz="1200" dirty="0"/>
              <a:t>が使用されます。</a:t>
            </a:r>
            <a:endParaRPr lang="en-US" sz="1200" dirty="0" smtClean="0">
              <a:latin typeface="+mj-lt"/>
              <a:cs typeface="Courier New" panose="02070309020205020404" pitchFamily="49" charset="0"/>
            </a:endParaRPr>
          </a:p>
          <a:p>
            <a:pPr lvl="1"/>
            <a:r>
              <a:rPr lang="ja-JP" altLang="en-US" sz="1200" dirty="0"/>
              <a:t>初期設定から復元する場合は、パラメータに</a:t>
            </a:r>
            <a:r>
              <a:rPr lang="en-US" altLang="ja-JP" sz="1200" dirty="0"/>
              <a:t>-m</a:t>
            </a:r>
            <a:r>
              <a:rPr lang="ja-JP" altLang="en-US" sz="1200" dirty="0"/>
              <a:t>を追加してメタデータを復元します</a:t>
            </a:r>
            <a:r>
              <a:rPr lang="ja-JP" altLang="en-US" sz="1200" dirty="0" smtClean="0"/>
              <a:t>。</a:t>
            </a:r>
            <a:endParaRPr lang="en-US" sz="1200" dirty="0" smtClean="0">
              <a:latin typeface="+mj-lt"/>
              <a:cs typeface="Courier New" panose="02070309020205020404" pitchFamily="49" charset="0"/>
            </a:endParaRPr>
          </a:p>
          <a:p>
            <a:pPr lvl="1"/>
            <a:r>
              <a:rPr lang="ja-JP" altLang="en-US" sz="1200" dirty="0"/>
              <a:t>クラスタバックアップをリストアするときは、同じバックアップ</a:t>
            </a:r>
            <a:r>
              <a:rPr lang="en-US" altLang="ja-JP" sz="1200" dirty="0"/>
              <a:t>ID</a:t>
            </a:r>
            <a:r>
              <a:rPr lang="ja-JP" altLang="en-US" sz="1200" dirty="0"/>
              <a:t>を持つバックアップからすべてのデータノードを復元する必要があります。 異なるバックアップのファイルを使用すると、クラスタが矛盾した状態に復元され、完全に失敗する可能性があります。</a:t>
            </a:r>
            <a:endParaRPr kumimoji="1" lang="ja-JP" altLang="en-US" sz="1400" dirty="0">
              <a:latin typeface="+mj-lt"/>
            </a:endParaRPr>
          </a:p>
        </p:txBody>
      </p:sp>
    </p:spTree>
    <p:extLst>
      <p:ext uri="{BB962C8B-B14F-4D97-AF65-F5344CB8AC3E}">
        <p14:creationId xmlns:p14="http://schemas.microsoft.com/office/powerpoint/2010/main" val="13636412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2418307"/>
      </p:ext>
    </p:extLst>
  </p:cSld>
  <p:clrMapOvr>
    <a:masterClrMapping/>
  </p:clrMapOvr>
  <p:timing>
    <p:tnLst>
      <p:par>
        <p:cTn id="1" dur="indefinite" restart="never" nodeType="tmRoot"/>
      </p:par>
    </p:tnLst>
  </p:timing>
</p:sld>
</file>

<file path=ppt/theme/theme1.xml><?xml version="1.0" encoding="utf-8"?>
<a:theme xmlns:a="http://schemas.openxmlformats.org/drawingml/2006/main" name="NEC_standard_4_3_en">
  <a:themeElements>
    <a:clrScheme name="orchestratedcolor_2015">
      <a:dk1>
        <a:srgbClr val="000000"/>
      </a:dk1>
      <a:lt1>
        <a:srgbClr val="FFFFFF"/>
      </a:lt1>
      <a:dk2>
        <a:srgbClr val="000000"/>
      </a:dk2>
      <a:lt2>
        <a:srgbClr val="FFFFFF"/>
      </a:lt2>
      <a:accent1>
        <a:srgbClr val="76491B"/>
      </a:accent1>
      <a:accent2>
        <a:srgbClr val="76161B"/>
      </a:accent2>
      <a:accent3>
        <a:srgbClr val="203315"/>
      </a:accent3>
      <a:accent4>
        <a:srgbClr val="1C4A50"/>
      </a:accent4>
      <a:accent5>
        <a:srgbClr val="31253B"/>
      </a:accent5>
      <a:accent6>
        <a:srgbClr val="002B62"/>
      </a:accent6>
      <a:hlink>
        <a:srgbClr val="4575FD"/>
      </a:hlink>
      <a:folHlink>
        <a:srgbClr val="9E5ECE"/>
      </a:folHlink>
    </a:clrScheme>
    <a:fontScheme name="Orchestrated_font">
      <a:majorFont>
        <a:latin typeface="Verdana"/>
        <a:ea typeface="メイリオ"/>
        <a:cs typeface=""/>
        <a:font script="Jpan" typeface="メイリオ"/>
        <a:font script="Hans" typeface="微軟雅黒"/>
        <a:font script="Hant" typeface="微軟雅黒"/>
      </a:majorFont>
      <a:minorFont>
        <a:latin typeface="Verdana"/>
        <a:ea typeface="メイリオ"/>
        <a:cs typeface=""/>
        <a:font script="Jpan" typeface="メイリオ"/>
        <a:font script="Hans" typeface="微軟雅黒"/>
        <a:font script="Hant" typeface="微軟雅黒"/>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ln>
        <a:effectLs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b="1" dirty="0">
            <a:latin typeface="+mj-ea"/>
            <a:ea typeface="+mj-ea"/>
          </a:defRPr>
        </a:defPPr>
      </a:lstStyle>
    </a:spDef>
    <a:lnDef>
      <a:spPr bwMode="auto">
        <a:solidFill>
          <a:schemeClr val="bg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a:spPr>
      <a:bodyPr/>
      <a:lstStyle/>
    </a:lnDef>
  </a:objectDefaults>
  <a:extraClrSchemeLst>
    <a:extraClrScheme>
      <a:clrScheme name="1_stream_st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ream_st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tream_st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tream_st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tream_st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tream_st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tream_st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tream_st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tream_st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tream_st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tream_st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tream_st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stream_stn 13">
        <a:dk1>
          <a:srgbClr val="000000"/>
        </a:dk1>
        <a:lt1>
          <a:srgbClr val="FFFFFF"/>
        </a:lt1>
        <a:dk2>
          <a:srgbClr val="000000"/>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
      <a:clrScheme name="1_stream_stn 14">
        <a:dk1>
          <a:srgbClr val="000000"/>
        </a:dk1>
        <a:lt1>
          <a:srgbClr val="FFFFFF"/>
        </a:lt1>
        <a:dk2>
          <a:srgbClr val="000066"/>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rchestratedcolor_2015">
      <a:dk1>
        <a:srgbClr val="000000"/>
      </a:dk1>
      <a:lt1>
        <a:srgbClr val="FFFFFF"/>
      </a:lt1>
      <a:dk2>
        <a:srgbClr val="000000"/>
      </a:dk2>
      <a:lt2>
        <a:srgbClr val="FFFFFF"/>
      </a:lt2>
      <a:accent1>
        <a:srgbClr val="76491B"/>
      </a:accent1>
      <a:accent2>
        <a:srgbClr val="76161B"/>
      </a:accent2>
      <a:accent3>
        <a:srgbClr val="203315"/>
      </a:accent3>
      <a:accent4>
        <a:srgbClr val="1C4A50"/>
      </a:accent4>
      <a:accent5>
        <a:srgbClr val="31253B"/>
      </a:accent5>
      <a:accent6>
        <a:srgbClr val="002B62"/>
      </a:accent6>
      <a:hlink>
        <a:srgbClr val="4575FD"/>
      </a:hlink>
      <a:folHlink>
        <a:srgbClr val="9E5ECE"/>
      </a:folHlink>
    </a:clrScheme>
    <a:fontScheme name="orchestratedfont_en_2015">
      <a:majorFont>
        <a:latin typeface="Verdana"/>
        <a:ea typeface="メイリオ"/>
        <a:cs typeface=""/>
        <a:font script="Jpan" typeface="メイリオ"/>
        <a:font script="Hans" typeface="微軟雅黒"/>
        <a:font script="Hant" typeface="微軟雅黒"/>
      </a:majorFont>
      <a:minorFont>
        <a:latin typeface="Verdana"/>
        <a:ea typeface="メイリオ"/>
        <a:cs typeface=""/>
        <a:font script="Jpan" typeface="メイリオ"/>
        <a:font script="Hans" typeface="微軟雅黒"/>
        <a:font script="Hant" typeface="微軟雅黒"/>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 ??"/>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 ??"/>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NEC_standard_4_3_en</Template>
  <TotalTime>0</TotalTime>
  <Words>5700</Words>
  <Application>Microsoft Office PowerPoint</Application>
  <PresentationFormat>On-screen Show (4:3)</PresentationFormat>
  <Paragraphs>409</Paragraphs>
  <Slides>23</Slides>
  <Notes>2</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NEC_standard_4_3_en</vt:lpstr>
      <vt:lpstr>MySQLクラスタ</vt:lpstr>
      <vt:lpstr>PowerPoint Presentation</vt:lpstr>
      <vt:lpstr>PowerPoint Presentation</vt:lpstr>
      <vt:lpstr>目次</vt:lpstr>
      <vt:lpstr>MySQLクラスタ:基本操作コマンド　（1/8)</vt:lpstr>
      <vt:lpstr>MySQLクラスタ:基本操作コマンド　（2/8)</vt:lpstr>
      <vt:lpstr>MySQLクラスタ:基本操作コマンド　（3/8)</vt:lpstr>
      <vt:lpstr>MySQLクラスタ:基本操作コマンド　（4/8)</vt:lpstr>
      <vt:lpstr>MySQLクラスタ:基本操作コマンド　（5/8)</vt:lpstr>
      <vt:lpstr>MySQLクラスタ:基本操作コマンド　（6/8)</vt:lpstr>
      <vt:lpstr>MySQLクラスタ:基本操作コマンド　（7/8)</vt:lpstr>
      <vt:lpstr>MySQLクラスタ:基本操作コマンド　（8/8)</vt:lpstr>
      <vt:lpstr>MySQLクラスタ:バックアップ　（1/6)</vt:lpstr>
      <vt:lpstr>MySQLクラスタ:バックアップ　（2/6)</vt:lpstr>
      <vt:lpstr>MySQLクラスタ:バックアップ　（3/6)</vt:lpstr>
      <vt:lpstr>MySQLクラスタ:バックアップ　（4/6)</vt:lpstr>
      <vt:lpstr>MySQLクラスタ:バックアップ　（5/6)</vt:lpstr>
      <vt:lpstr>MySQLクラスタ:バックアップ　（6/6)</vt:lpstr>
      <vt:lpstr>MySQLクラスタ:リストア　（1/4)</vt:lpstr>
      <vt:lpstr>MySQLクラスタ:リストア　（2/4)</vt:lpstr>
      <vt:lpstr>MySQLクラスタ:リストア　（3/4)</vt:lpstr>
      <vt:lpstr>MySQLクラスタ:リストア　（4/4)</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2015-07-21T05:37:26Z</dcterms:created>
  <dcterms:modified xsi:type="dcterms:W3CDTF">2017-06-27T10:16:40Z</dcterms:modified>
</cp:coreProperties>
</file>